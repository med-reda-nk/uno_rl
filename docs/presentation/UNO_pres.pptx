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</p:sldIdLst>
  <p:sldSz cx="12192000" cy="6858000"/>
  <p:notesSz cx="6858000" cy="12192000"/>
  <p:embeddedFontLst>
    <p:embeddedFont>
      <p:font typeface="Quattrocento Sans" panose="020B0502050000020003" pitchFamily="34" charset="0"/>
      <p:regular r:id="rId36"/>
      <p:bold r:id="rId37"/>
      <p:italic r:id="rId38"/>
      <p:boldItalic r:id="rId39"/>
    </p:embeddedFont>
    <p:embeddedFont>
      <p:font typeface="Quattrocento Sans" panose="020B0502050000020003" pitchFamily="34" charset="-122"/>
      <p:regular r:id="rId40"/>
    </p:embeddedFont>
    <p:embeddedFont>
      <p:font typeface="Quattrocento Sans" panose="020B0502050000020003" pitchFamily="34" charset="-120"/>
      <p:regular r:id="rId41"/>
    </p:embeddedFont>
    <p:embeddedFont>
      <p:font typeface="Liter" panose="02000503030000020004" pitchFamily="34" charset="0"/>
      <p:regular r:id="rId42"/>
    </p:embeddedFont>
    <p:embeddedFont>
      <p:font typeface="Liter" panose="02000503030000020004" pitchFamily="34" charset="-122"/>
      <p:regular r:id="rId43"/>
    </p:embeddedFont>
    <p:embeddedFont>
      <p:font typeface="Liter" panose="02000503030000020004" pitchFamily="34" charset="-120"/>
      <p:regular r:id="rId44"/>
    </p:embeddedFont>
    <p:embeddedFont>
      <p:font typeface="MiSans" pitchFamily="34" charset="-122"/>
      <p:regular r:id="rId45"/>
    </p:embeddedFont>
    <p:embeddedFont>
      <p:font typeface="MiSans" pitchFamily="34" charset="-120"/>
      <p:regular r:id="rId46"/>
    </p:embeddedFont>
    <p:embeddedFont>
      <p:font typeface="Calibri" panose="020F0502020204030204" charset="0"/>
      <p:regular r:id="rId47"/>
      <p:bold r:id="rId48"/>
      <p:italic r:id="rId49"/>
      <p:boldItalic r:id="rId50"/>
    </p:embeddedFont>
    <p:embeddedFont>
      <p:font typeface="Microsoft YaHei" panose="020B0503020204020204" charset="-122"/>
      <p:regular r:id="rId51"/>
    </p:embeddedFont>
    <p:embeddedFont>
      <p:font typeface="Microsoft YaHei" panose="020B0503020204020204" pitchFamily="34" charset="-120"/>
      <p:regular r:id="rId5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9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font" Target="fonts/font17.fntdata"/><Relationship Id="rId51" Type="http://schemas.openxmlformats.org/officeDocument/2006/relationships/font" Target="fonts/font16.fntdata"/><Relationship Id="rId50" Type="http://schemas.openxmlformats.org/officeDocument/2006/relationships/font" Target="fonts/font15.fntdata"/><Relationship Id="rId5" Type="http://schemas.openxmlformats.org/officeDocument/2006/relationships/slide" Target="slides/slide2.xml"/><Relationship Id="rId49" Type="http://schemas.openxmlformats.org/officeDocument/2006/relationships/font" Target="fonts/font14.fntdata"/><Relationship Id="rId48" Type="http://schemas.openxmlformats.org/officeDocument/2006/relationships/font" Target="fonts/font13.fntdata"/><Relationship Id="rId47" Type="http://schemas.openxmlformats.org/officeDocument/2006/relationships/font" Target="fonts/font12.fntdata"/><Relationship Id="rId46" Type="http://schemas.openxmlformats.org/officeDocument/2006/relationships/font" Target="fonts/font11.fntdata"/><Relationship Id="rId45" Type="http://schemas.openxmlformats.org/officeDocument/2006/relationships/font" Target="fonts/font10.fntdata"/><Relationship Id="rId44" Type="http://schemas.openxmlformats.org/officeDocument/2006/relationships/font" Target="fonts/font9.fntdata"/><Relationship Id="rId43" Type="http://schemas.openxmlformats.org/officeDocument/2006/relationships/font" Target="fonts/font8.fntdata"/><Relationship Id="rId42" Type="http://schemas.openxmlformats.org/officeDocument/2006/relationships/font" Target="fonts/font7.fntdata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2" Type="http://schemas.openxmlformats.org/officeDocument/2006/relationships/notesSlide" Target="../notesSlides/notesSlide2.xml"/><Relationship Id="rId41" Type="http://schemas.openxmlformats.org/officeDocument/2006/relationships/slideLayout" Target="../slideLayouts/slideLayout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4" Type="http://schemas.openxmlformats.org/officeDocument/2006/relationships/notesSlide" Target="../notesSlides/notesSlide5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82.xml"/><Relationship Id="rId41" Type="http://schemas.openxmlformats.org/officeDocument/2006/relationships/tags" Target="../tags/tag81.xml"/><Relationship Id="rId40" Type="http://schemas.openxmlformats.org/officeDocument/2006/relationships/tags" Target="../tags/tag80.xml"/><Relationship Id="rId4" Type="http://schemas.openxmlformats.org/officeDocument/2006/relationships/tags" Target="../tags/tag44.xml"/><Relationship Id="rId39" Type="http://schemas.openxmlformats.org/officeDocument/2006/relationships/tags" Target="../tags/tag79.xml"/><Relationship Id="rId38" Type="http://schemas.openxmlformats.org/officeDocument/2006/relationships/tags" Target="../tags/tag78.xml"/><Relationship Id="rId37" Type="http://schemas.openxmlformats.org/officeDocument/2006/relationships/tags" Target="../tags/tag77.xml"/><Relationship Id="rId36" Type="http://schemas.openxmlformats.org/officeDocument/2006/relationships/tags" Target="../tags/tag76.xml"/><Relationship Id="rId35" Type="http://schemas.openxmlformats.org/officeDocument/2006/relationships/tags" Target="../tags/tag75.xml"/><Relationship Id="rId34" Type="http://schemas.openxmlformats.org/officeDocument/2006/relationships/tags" Target="../tags/tag74.xml"/><Relationship Id="rId33" Type="http://schemas.openxmlformats.org/officeDocument/2006/relationships/tags" Target="../tags/tag73.xml"/><Relationship Id="rId32" Type="http://schemas.openxmlformats.org/officeDocument/2006/relationships/tags" Target="../tags/tag72.xml"/><Relationship Id="rId31" Type="http://schemas.openxmlformats.org/officeDocument/2006/relationships/tags" Target="../tags/tag71.xml"/><Relationship Id="rId30" Type="http://schemas.openxmlformats.org/officeDocument/2006/relationships/tags" Target="../tags/tag70.xml"/><Relationship Id="rId3" Type="http://schemas.openxmlformats.org/officeDocument/2006/relationships/tags" Target="../tags/tag43.xml"/><Relationship Id="rId29" Type="http://schemas.openxmlformats.org/officeDocument/2006/relationships/tags" Target="../tags/tag69.xml"/><Relationship Id="rId28" Type="http://schemas.openxmlformats.org/officeDocument/2006/relationships/tags" Target="../tags/tag68.xml"/><Relationship Id="rId27" Type="http://schemas.openxmlformats.org/officeDocument/2006/relationships/tags" Target="../tags/tag67.xml"/><Relationship Id="rId26" Type="http://schemas.openxmlformats.org/officeDocument/2006/relationships/tags" Target="../tags/tag66.xml"/><Relationship Id="rId25" Type="http://schemas.openxmlformats.org/officeDocument/2006/relationships/tags" Target="../tags/tag65.xml"/><Relationship Id="rId24" Type="http://schemas.openxmlformats.org/officeDocument/2006/relationships/tags" Target="../tags/tag64.xml"/><Relationship Id="rId23" Type="http://schemas.openxmlformats.org/officeDocument/2006/relationships/tags" Target="../tags/tag63.xml"/><Relationship Id="rId22" Type="http://schemas.openxmlformats.org/officeDocument/2006/relationships/tags" Target="../tags/tag62.xml"/><Relationship Id="rId21" Type="http://schemas.openxmlformats.org/officeDocument/2006/relationships/tags" Target="../tags/tag61.xml"/><Relationship Id="rId20" Type="http://schemas.openxmlformats.org/officeDocument/2006/relationships/tags" Target="../tags/tag60.xml"/><Relationship Id="rId2" Type="http://schemas.openxmlformats.org/officeDocument/2006/relationships/tags" Target="../tags/tag42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easy-peasy.ai/5cddcc40d80980f3a13985d65fc380390a8e6dbc.webp"/>
          <p:cNvPicPr>
            <a:picLocks noChangeAspect="1"/>
          </p:cNvPicPr>
          <p:nvPr/>
        </p:nvPicPr>
        <p:blipFill>
          <a:blip r:embed="rId1">
            <a:alphaModFix amt="4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D8F8A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7" name="Shape 4"/>
          <p:cNvSpPr/>
          <p:nvPr/>
        </p:nvSpPr>
        <p:spPr>
          <a:xfrm>
            <a:off x="381000" y="45243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" name="Text 5"/>
          <p:cNvSpPr/>
          <p:nvPr/>
        </p:nvSpPr>
        <p:spPr>
          <a:xfrm>
            <a:off x="381000" y="4791075"/>
            <a:ext cx="92678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" altLang="en-US" sz="22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Reinforcement Learning Project</a:t>
            </a:r>
            <a:endParaRPr lang="" altLang="en-US" sz="2250" dirty="0">
              <a:solidFill>
                <a:srgbClr val="E2E8F0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81000" y="5867400"/>
            <a:ext cx="4438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Étudiants :</a:t>
            </a:r>
            <a:r>
              <a:rPr lang="en-US" sz="15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Nkira Mohamed Reda &amp; El</a:t>
            </a:r>
            <a:r>
              <a:rPr lang="" altLang="en-US" sz="15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-</a:t>
            </a:r>
            <a:r>
              <a:rPr lang="en-US" sz="15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hakioui Asmae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10300"/>
            <a:ext cx="4429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IATD-SI - </a:t>
            </a:r>
            <a:r>
              <a:rPr lang="" altLang="en-US" sz="13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2025/</a:t>
            </a:r>
            <a:r>
              <a:rPr lang="en-US" sz="13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2026</a:t>
            </a:r>
            <a:endParaRPr lang="en-US" sz="1600" dirty="0"/>
          </a:p>
        </p:txBody>
      </p:sp>
      <p:pic>
        <p:nvPicPr>
          <p:cNvPr id="1026" name="Picture 2" descr="UNO Logo Classique' Autocollant | Spreadshirt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8" b="89778" l="4000" r="96444">
                        <a14:foregroundMark x1="9778" y1="46222" x2="6667" y2="61778"/>
                        <a14:foregroundMark x1="6667" y1="61778" x2="13778" y2="76889"/>
                        <a14:foregroundMark x1="4444" y1="50222" x2="4444" y2="56000"/>
                        <a14:foregroundMark x1="85778" y1="20889" x2="95556" y2="32444"/>
                        <a14:foregroundMark x1="95556" y1="32444" x2="96444" y2="48444"/>
                        <a14:foregroundMark x1="96444" y1="48444" x2="88444" y2="59111"/>
                        <a14:foregroundMark x1="92889" y1="18667" x2="84000" y2="22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665" y="1690370"/>
            <a:ext cx="4334510" cy="433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3"/>
          <p:cNvSpPr/>
          <p:nvPr/>
        </p:nvSpPr>
        <p:spPr>
          <a:xfrm>
            <a:off x="381000" y="1552575"/>
            <a:ext cx="8791575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UNO Card Game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with Reinforcement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Learning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7157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Table des Matières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0668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85763" y="149066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581025" y="168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22709" y="1800225"/>
            <a:ext cx="361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266825" y="1685925"/>
            <a:ext cx="2619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Introduction et Motivation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266825" y="1990725"/>
            <a:ext cx="2600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Contexte du projet et défis spécifiques</a:t>
            </a:r>
            <a:endParaRPr lang="en-US" sz="16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385763" y="261461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581025" y="2809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702022" y="2924175"/>
            <a:ext cx="409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1266825" y="2809875"/>
            <a:ext cx="2495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Fondements Théoriques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1266825" y="3114675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Bases du RL et observabilité partielle</a:t>
            </a:r>
            <a:endParaRPr lang="en-US" sz="16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385763" y="373856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581025" y="3933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00980" y="4048125"/>
            <a:ext cx="409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266825" y="3933825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Algorithmes Implémentés</a:t>
            </a:r>
            <a:endParaRPr lang="en-US" sz="16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266825" y="4238625"/>
            <a:ext cx="2352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" altLang="en-US" sz="120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six </a:t>
            </a: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algorithmes RL utilisés</a:t>
            </a:r>
            <a:endParaRPr lang="en-US" sz="16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385763" y="486251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581025" y="5057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700980" y="5172075"/>
            <a:ext cx="409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1266825" y="5057775"/>
            <a:ext cx="214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Méthodologie</a:t>
            </a:r>
            <a:endParaRPr lang="en-US" sz="16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1266825" y="5362575"/>
            <a:ext cx="2124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 et implémentation</a:t>
            </a:r>
            <a:endParaRPr lang="en-US" sz="160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6253163" y="149066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6448425" y="168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6569869" y="1800225"/>
            <a:ext cx="400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7134225" y="1685925"/>
            <a:ext cx="2381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Résultats et Performance</a:t>
            </a:r>
            <a:endParaRPr lang="en-US" sz="1600" dirty="0"/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7134225" y="199072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Comparaison et analyse statistique</a:t>
            </a:r>
            <a:endParaRPr lang="en-US" sz="1600" dirty="0"/>
          </a:p>
        </p:txBody>
      </p:sp>
      <p:sp>
        <p:nvSpPr>
          <p:cNvPr id="29" name="Shape 27"/>
          <p:cNvSpPr/>
          <p:nvPr>
            <p:custDataLst>
              <p:tags r:id="rId26"/>
            </p:custDataLst>
          </p:nvPr>
        </p:nvSpPr>
        <p:spPr>
          <a:xfrm>
            <a:off x="6253163" y="261461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0" name="Shape 28"/>
          <p:cNvSpPr/>
          <p:nvPr>
            <p:custDataLst>
              <p:tags r:id="rId27"/>
            </p:custDataLst>
          </p:nvPr>
        </p:nvSpPr>
        <p:spPr>
          <a:xfrm>
            <a:off x="6448425" y="2809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31" name="Text 29"/>
          <p:cNvSpPr/>
          <p:nvPr>
            <p:custDataLst>
              <p:tags r:id="rId28"/>
            </p:custDataLst>
          </p:nvPr>
        </p:nvSpPr>
        <p:spPr>
          <a:xfrm>
            <a:off x="6567488" y="2924175"/>
            <a:ext cx="409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>
            <p:custDataLst>
              <p:tags r:id="rId29"/>
            </p:custDataLst>
          </p:nvPr>
        </p:nvSpPr>
        <p:spPr>
          <a:xfrm>
            <a:off x="7134225" y="2809875"/>
            <a:ext cx="2238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Interfaces Graphiques</a:t>
            </a:r>
            <a:endParaRPr lang="en-US" sz="1600" dirty="0"/>
          </a:p>
        </p:txBody>
      </p:sp>
      <p:sp>
        <p:nvSpPr>
          <p:cNvPr id="33" name="Text 31"/>
          <p:cNvSpPr/>
          <p:nvPr>
            <p:custDataLst>
              <p:tags r:id="rId30"/>
            </p:custDataLst>
          </p:nvPr>
        </p:nvSpPr>
        <p:spPr>
          <a:xfrm>
            <a:off x="7134225" y="3114675"/>
            <a:ext cx="2219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 interfaces avec glassmorphism</a:t>
            </a:r>
            <a:endParaRPr lang="en-US" sz="1600" dirty="0"/>
          </a:p>
        </p:txBody>
      </p:sp>
      <p:sp>
        <p:nvSpPr>
          <p:cNvPr id="34" name="Shape 32"/>
          <p:cNvSpPr/>
          <p:nvPr>
            <p:custDataLst>
              <p:tags r:id="rId31"/>
            </p:custDataLst>
          </p:nvPr>
        </p:nvSpPr>
        <p:spPr>
          <a:xfrm>
            <a:off x="6253163" y="373856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5" name="Shape 33"/>
          <p:cNvSpPr/>
          <p:nvPr>
            <p:custDataLst>
              <p:tags r:id="rId32"/>
            </p:custDataLst>
          </p:nvPr>
        </p:nvSpPr>
        <p:spPr>
          <a:xfrm>
            <a:off x="6448425" y="3933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36" name="Text 34"/>
          <p:cNvSpPr/>
          <p:nvPr>
            <p:custDataLst>
              <p:tags r:id="rId33"/>
            </p:custDataLst>
          </p:nvPr>
        </p:nvSpPr>
        <p:spPr>
          <a:xfrm>
            <a:off x="6577310" y="4048125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>
            <p:custDataLst>
              <p:tags r:id="rId34"/>
            </p:custDataLst>
          </p:nvPr>
        </p:nvSpPr>
        <p:spPr>
          <a:xfrm>
            <a:off x="7134225" y="3933825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Fonctionnalités Avancées</a:t>
            </a:r>
            <a:endParaRPr lang="en-US" sz="1600" dirty="0"/>
          </a:p>
        </p:txBody>
      </p:sp>
      <p:sp>
        <p:nvSpPr>
          <p:cNvPr id="38" name="Text 36"/>
          <p:cNvSpPr/>
          <p:nvPr>
            <p:custDataLst>
              <p:tags r:id="rId35"/>
            </p:custDataLst>
          </p:nvPr>
        </p:nvSpPr>
        <p:spPr>
          <a:xfrm>
            <a:off x="7134225" y="4238625"/>
            <a:ext cx="2352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Auto-play, multijoueur, évaluation</a:t>
            </a:r>
            <a:endParaRPr lang="en-US" sz="1600" dirty="0"/>
          </a:p>
        </p:txBody>
      </p:sp>
      <p:sp>
        <p:nvSpPr>
          <p:cNvPr id="39" name="Shape 37"/>
          <p:cNvSpPr/>
          <p:nvPr>
            <p:custDataLst>
              <p:tags r:id="rId36"/>
            </p:custDataLst>
          </p:nvPr>
        </p:nvSpPr>
        <p:spPr>
          <a:xfrm>
            <a:off x="6253163" y="4862513"/>
            <a:ext cx="5553075" cy="923925"/>
          </a:xfrm>
          <a:custGeom>
            <a:avLst/>
            <a:gdLst/>
            <a:ahLst/>
            <a:cxnLst/>
            <a:rect l="l" t="t" r="r" b="b"/>
            <a:pathLst>
              <a:path w="5553075" h="923925">
                <a:moveTo>
                  <a:pt x="114299" y="0"/>
                </a:moveTo>
                <a:lnTo>
                  <a:pt x="5438776" y="0"/>
                </a:lnTo>
                <a:cubicBezTo>
                  <a:pt x="5501902" y="0"/>
                  <a:pt x="5553075" y="51173"/>
                  <a:pt x="5553075" y="114299"/>
                </a:cubicBezTo>
                <a:lnTo>
                  <a:pt x="5553075" y="809626"/>
                </a:lnTo>
                <a:cubicBezTo>
                  <a:pt x="5553075" y="872752"/>
                  <a:pt x="5501902" y="923925"/>
                  <a:pt x="54387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0" name="Shape 38"/>
          <p:cNvSpPr/>
          <p:nvPr>
            <p:custDataLst>
              <p:tags r:id="rId37"/>
            </p:custDataLst>
          </p:nvPr>
        </p:nvSpPr>
        <p:spPr>
          <a:xfrm>
            <a:off x="6448425" y="5057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41" name="Text 39"/>
          <p:cNvSpPr/>
          <p:nvPr>
            <p:custDataLst>
              <p:tags r:id="rId38"/>
            </p:custDataLst>
          </p:nvPr>
        </p:nvSpPr>
        <p:spPr>
          <a:xfrm>
            <a:off x="6565553" y="5172075"/>
            <a:ext cx="409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>
            <p:custDataLst>
              <p:tags r:id="rId39"/>
            </p:custDataLst>
          </p:nvPr>
        </p:nvSpPr>
        <p:spPr>
          <a:xfrm>
            <a:off x="7134225" y="5057775"/>
            <a:ext cx="2505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 et Perspectives</a:t>
            </a:r>
            <a:endParaRPr lang="en-US" sz="1600" dirty="0"/>
          </a:p>
        </p:txBody>
      </p:sp>
      <p:sp>
        <p:nvSpPr>
          <p:cNvPr id="43" name="Text 41"/>
          <p:cNvSpPr/>
          <p:nvPr>
            <p:custDataLst>
              <p:tags r:id="rId40"/>
            </p:custDataLst>
          </p:nvPr>
        </p:nvSpPr>
        <p:spPr>
          <a:xfrm>
            <a:off x="7134225" y="5362575"/>
            <a:ext cx="2486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Synthèse</a:t>
            </a: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ukminim1.flixcart.com/203a887eb635437103d2e86c473817e8f8c724eb.jpeg"/>
          <p:cNvPicPr>
            <a:picLocks noChangeAspect="1"/>
          </p:cNvPicPr>
          <p:nvPr/>
        </p:nvPicPr>
        <p:blipFill>
          <a:blip r:embed="rId1">
            <a:alphaModFix amt="30000"/>
          </a:blip>
          <a:srcRect t="31156" b="3115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D8F8A">
                  <a:alpha val="1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271588"/>
            <a:ext cx="2314575" cy="542925"/>
          </a:xfrm>
          <a:custGeom>
            <a:avLst/>
            <a:gdLst/>
            <a:ahLst/>
            <a:cxnLst/>
            <a:rect l="l" t="t" r="r" b="b"/>
            <a:pathLst>
              <a:path w="2314575" h="542925">
                <a:moveTo>
                  <a:pt x="271463" y="0"/>
                </a:moveTo>
                <a:lnTo>
                  <a:pt x="2043113" y="0"/>
                </a:lnTo>
                <a:cubicBezTo>
                  <a:pt x="2192937" y="0"/>
                  <a:pt x="2314575" y="121638"/>
                  <a:pt x="2314575" y="271463"/>
                </a:cubicBezTo>
                <a:lnTo>
                  <a:pt x="2314575" y="271463"/>
                </a:lnTo>
                <a:cubicBezTo>
                  <a:pt x="2314575" y="421287"/>
                  <a:pt x="2192937" y="542925"/>
                  <a:pt x="2043113" y="542925"/>
                </a:cubicBezTo>
                <a:lnTo>
                  <a:pt x="271463" y="542925"/>
                </a:lnTo>
                <a:cubicBezTo>
                  <a:pt x="121638" y="542925"/>
                  <a:pt x="0" y="421287"/>
                  <a:pt x="0" y="271463"/>
                </a:cubicBezTo>
                <a:lnTo>
                  <a:pt x="0" y="271463"/>
                </a:lnTo>
                <a:cubicBezTo>
                  <a:pt x="0" y="121638"/>
                  <a:pt x="121638" y="0"/>
                  <a:pt x="2714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5325" y="1371600"/>
            <a:ext cx="1810411" cy="333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CHAPITRE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2407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Introduction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et Motivation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63867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" name="Text 5"/>
          <p:cNvSpPr/>
          <p:nvPr/>
        </p:nvSpPr>
        <p:spPr>
          <a:xfrm>
            <a:off x="381000" y="4905375"/>
            <a:ext cx="74580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Contexte du projet et défis spécifiques du jeu UNO pour l'apprentissage par renforcement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71500"/>
            <a:ext cx="371475" cy="381000"/>
          </a:xfrm>
          <a:custGeom>
            <a:avLst/>
            <a:gdLst/>
            <a:ahLst/>
            <a:cxnLst/>
            <a:rect l="l" t="t" r="r" b="b"/>
            <a:pathLst>
              <a:path w="371475" h="381000">
                <a:moveTo>
                  <a:pt x="76201" y="0"/>
                </a:moveTo>
                <a:lnTo>
                  <a:pt x="295274" y="0"/>
                </a:lnTo>
                <a:cubicBezTo>
                  <a:pt x="337331" y="0"/>
                  <a:pt x="371475" y="34144"/>
                  <a:pt x="371475" y="76201"/>
                </a:cubicBezTo>
                <a:lnTo>
                  <a:pt x="371475" y="304799"/>
                </a:lnTo>
                <a:cubicBezTo>
                  <a:pt x="371475" y="346884"/>
                  <a:pt x="337359" y="381000"/>
                  <a:pt x="295274" y="381000"/>
                </a:cubicBezTo>
                <a:lnTo>
                  <a:pt x="76201" y="381000"/>
                </a:lnTo>
                <a:cubicBezTo>
                  <a:pt x="34116" y="381000"/>
                  <a:pt x="0" y="346884"/>
                  <a:pt x="0" y="3047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497384" y="666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Text 2"/>
          <p:cNvSpPr/>
          <p:nvPr/>
        </p:nvSpPr>
        <p:spPr>
          <a:xfrm>
            <a:off x="870942" y="381000"/>
            <a:ext cx="11115675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Introduction : Pourquoi UNO pour l'Apprentissage par Renforcement 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6" name="Shape 4"/>
          <p:cNvSpPr/>
          <p:nvPr/>
        </p:nvSpPr>
        <p:spPr>
          <a:xfrm>
            <a:off x="385763" y="1490663"/>
            <a:ext cx="6772275" cy="1304925"/>
          </a:xfrm>
          <a:custGeom>
            <a:avLst/>
            <a:gdLst/>
            <a:ahLst/>
            <a:cxnLst/>
            <a:rect l="l" t="t" r="r" b="b"/>
            <a:pathLst>
              <a:path w="6772275" h="1304925">
                <a:moveTo>
                  <a:pt x="114298" y="0"/>
                </a:moveTo>
                <a:lnTo>
                  <a:pt x="6657977" y="0"/>
                </a:lnTo>
                <a:cubicBezTo>
                  <a:pt x="6721102" y="0"/>
                  <a:pt x="6772275" y="51173"/>
                  <a:pt x="6772275" y="114298"/>
                </a:cubicBezTo>
                <a:lnTo>
                  <a:pt x="6772275" y="1190627"/>
                </a:lnTo>
                <a:cubicBezTo>
                  <a:pt x="6772275" y="1253752"/>
                  <a:pt x="6721102" y="1304925"/>
                  <a:pt x="665797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5313" y="17240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8" name="Text 6"/>
          <p:cNvSpPr/>
          <p:nvPr/>
        </p:nvSpPr>
        <p:spPr>
          <a:xfrm>
            <a:off x="866775" y="1685925"/>
            <a:ext cx="621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Observabilité Partielle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105025"/>
            <a:ext cx="6457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Les joueurs ne peuvent pas voir les cartes des adversaires, créant un défi majeur d'inférence et de stratégie sous incertitude informationnelle.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957513"/>
            <a:ext cx="6772275" cy="1304925"/>
          </a:xfrm>
          <a:custGeom>
            <a:avLst/>
            <a:gdLst/>
            <a:ahLst/>
            <a:cxnLst/>
            <a:rect l="l" t="t" r="r" b="b"/>
            <a:pathLst>
              <a:path w="6772275" h="1304925">
                <a:moveTo>
                  <a:pt x="114298" y="0"/>
                </a:moveTo>
                <a:lnTo>
                  <a:pt x="6657977" y="0"/>
                </a:lnTo>
                <a:cubicBezTo>
                  <a:pt x="6721102" y="0"/>
                  <a:pt x="6772275" y="51173"/>
                  <a:pt x="6772275" y="114298"/>
                </a:cubicBezTo>
                <a:lnTo>
                  <a:pt x="6772275" y="1190627"/>
                </a:lnTo>
                <a:cubicBezTo>
                  <a:pt x="6772275" y="1253752"/>
                  <a:pt x="6721102" y="1304925"/>
                  <a:pt x="665797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" y="3190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3133" y="1027"/>
                </a:moveTo>
                <a:cubicBezTo>
                  <a:pt x="45988" y="-3572"/>
                  <a:pt x="28352" y="6608"/>
                  <a:pt x="23798" y="23753"/>
                </a:cubicBezTo>
                <a:lnTo>
                  <a:pt x="1116" y="108362"/>
                </a:lnTo>
                <a:cubicBezTo>
                  <a:pt x="-3483" y="125507"/>
                  <a:pt x="6697" y="143143"/>
                  <a:pt x="23842" y="147742"/>
                </a:cubicBezTo>
                <a:lnTo>
                  <a:pt x="108451" y="170423"/>
                </a:lnTo>
                <a:cubicBezTo>
                  <a:pt x="125596" y="175022"/>
                  <a:pt x="143232" y="164842"/>
                  <a:pt x="147831" y="147697"/>
                </a:cubicBezTo>
                <a:lnTo>
                  <a:pt x="170512" y="63088"/>
                </a:lnTo>
                <a:cubicBezTo>
                  <a:pt x="175111" y="45943"/>
                  <a:pt x="164931" y="28307"/>
                  <a:pt x="147786" y="23708"/>
                </a:cubicBezTo>
                <a:lnTo>
                  <a:pt x="63133" y="1027"/>
                </a:lnTo>
                <a:close/>
                <a:moveTo>
                  <a:pt x="73402" y="92869"/>
                </a:moveTo>
                <a:cubicBezTo>
                  <a:pt x="70687" y="88441"/>
                  <a:pt x="70588" y="82888"/>
                  <a:pt x="73144" y="78367"/>
                </a:cubicBezTo>
                <a:cubicBezTo>
                  <a:pt x="75701" y="73845"/>
                  <a:pt x="80510" y="71068"/>
                  <a:pt x="85704" y="71112"/>
                </a:cubicBezTo>
                <a:cubicBezTo>
                  <a:pt x="90898" y="71157"/>
                  <a:pt x="95659" y="74017"/>
                  <a:pt x="98137" y="78581"/>
                </a:cubicBezTo>
                <a:cubicBezTo>
                  <a:pt x="100853" y="83009"/>
                  <a:pt x="100951" y="88562"/>
                  <a:pt x="98395" y="93083"/>
                </a:cubicBezTo>
                <a:cubicBezTo>
                  <a:pt x="95838" y="97605"/>
                  <a:pt x="91029" y="100382"/>
                  <a:pt x="85835" y="100338"/>
                </a:cubicBezTo>
                <a:cubicBezTo>
                  <a:pt x="80641" y="100293"/>
                  <a:pt x="75881" y="97433"/>
                  <a:pt x="73402" y="92869"/>
                </a:cubicBezTo>
                <a:close/>
                <a:moveTo>
                  <a:pt x="35362" y="98361"/>
                </a:moveTo>
                <a:cubicBezTo>
                  <a:pt x="39789" y="95645"/>
                  <a:pt x="45342" y="95546"/>
                  <a:pt x="49863" y="98103"/>
                </a:cubicBezTo>
                <a:cubicBezTo>
                  <a:pt x="54385" y="100660"/>
                  <a:pt x="57163" y="105469"/>
                  <a:pt x="57118" y="110663"/>
                </a:cubicBezTo>
                <a:cubicBezTo>
                  <a:pt x="57074" y="115856"/>
                  <a:pt x="54214" y="120617"/>
                  <a:pt x="49649" y="123096"/>
                </a:cubicBezTo>
                <a:cubicBezTo>
                  <a:pt x="45221" y="125811"/>
                  <a:pt x="39669" y="125910"/>
                  <a:pt x="35147" y="123353"/>
                </a:cubicBezTo>
                <a:cubicBezTo>
                  <a:pt x="30626" y="120797"/>
                  <a:pt x="27848" y="115988"/>
                  <a:pt x="27893" y="110794"/>
                </a:cubicBezTo>
                <a:cubicBezTo>
                  <a:pt x="27937" y="105600"/>
                  <a:pt x="30797" y="100839"/>
                  <a:pt x="35362" y="98361"/>
                </a:cubicBezTo>
                <a:close/>
                <a:moveTo>
                  <a:pt x="117961" y="141402"/>
                </a:moveTo>
                <a:cubicBezTo>
                  <a:pt x="113533" y="144117"/>
                  <a:pt x="107981" y="144216"/>
                  <a:pt x="103459" y="141659"/>
                </a:cubicBezTo>
                <a:cubicBezTo>
                  <a:pt x="98938" y="139103"/>
                  <a:pt x="96160" y="134294"/>
                  <a:pt x="96205" y="129100"/>
                </a:cubicBezTo>
                <a:cubicBezTo>
                  <a:pt x="96249" y="123906"/>
                  <a:pt x="99109" y="119145"/>
                  <a:pt x="103674" y="116666"/>
                </a:cubicBezTo>
                <a:cubicBezTo>
                  <a:pt x="108101" y="113951"/>
                  <a:pt x="113654" y="113852"/>
                  <a:pt x="118176" y="116409"/>
                </a:cubicBezTo>
                <a:cubicBezTo>
                  <a:pt x="122697" y="118965"/>
                  <a:pt x="125475" y="123774"/>
                  <a:pt x="125430" y="128968"/>
                </a:cubicBezTo>
                <a:cubicBezTo>
                  <a:pt x="125386" y="134162"/>
                  <a:pt x="122526" y="138923"/>
                  <a:pt x="117961" y="141402"/>
                </a:cubicBezTo>
                <a:close/>
                <a:moveTo>
                  <a:pt x="121980" y="48354"/>
                </a:moveTo>
                <a:cubicBezTo>
                  <a:pt x="126407" y="45639"/>
                  <a:pt x="131960" y="45540"/>
                  <a:pt x="136481" y="48097"/>
                </a:cubicBezTo>
                <a:cubicBezTo>
                  <a:pt x="141003" y="50653"/>
                  <a:pt x="143781" y="55462"/>
                  <a:pt x="143736" y="60656"/>
                </a:cubicBezTo>
                <a:cubicBezTo>
                  <a:pt x="143691" y="65850"/>
                  <a:pt x="140832" y="70611"/>
                  <a:pt x="136267" y="73089"/>
                </a:cubicBezTo>
                <a:cubicBezTo>
                  <a:pt x="131839" y="75805"/>
                  <a:pt x="126287" y="75904"/>
                  <a:pt x="121765" y="73347"/>
                </a:cubicBezTo>
                <a:cubicBezTo>
                  <a:pt x="117244" y="70790"/>
                  <a:pt x="114466" y="65981"/>
                  <a:pt x="114511" y="60787"/>
                </a:cubicBezTo>
                <a:cubicBezTo>
                  <a:pt x="114555" y="55594"/>
                  <a:pt x="117415" y="50833"/>
                  <a:pt x="121980" y="48354"/>
                </a:cubicBezTo>
                <a:close/>
                <a:moveTo>
                  <a:pt x="67955" y="54784"/>
                </a:moveTo>
                <a:cubicBezTo>
                  <a:pt x="63527" y="57499"/>
                  <a:pt x="57974" y="57598"/>
                  <a:pt x="53453" y="55041"/>
                </a:cubicBezTo>
                <a:cubicBezTo>
                  <a:pt x="48932" y="52485"/>
                  <a:pt x="46154" y="47676"/>
                  <a:pt x="46198" y="42482"/>
                </a:cubicBezTo>
                <a:cubicBezTo>
                  <a:pt x="46243" y="37288"/>
                  <a:pt x="49103" y="32527"/>
                  <a:pt x="53667" y="30048"/>
                </a:cubicBezTo>
                <a:cubicBezTo>
                  <a:pt x="58095" y="27333"/>
                  <a:pt x="63648" y="27234"/>
                  <a:pt x="68169" y="29791"/>
                </a:cubicBezTo>
                <a:cubicBezTo>
                  <a:pt x="72691" y="32347"/>
                  <a:pt x="75468" y="37156"/>
                  <a:pt x="75424" y="42350"/>
                </a:cubicBezTo>
                <a:cubicBezTo>
                  <a:pt x="75379" y="47544"/>
                  <a:pt x="72520" y="52305"/>
                  <a:pt x="67955" y="54784"/>
                </a:cubicBezTo>
                <a:close/>
                <a:moveTo>
                  <a:pt x="186630" y="85725"/>
                </a:moveTo>
                <a:lnTo>
                  <a:pt x="168503" y="153233"/>
                </a:lnTo>
                <a:cubicBezTo>
                  <a:pt x="160824" y="181808"/>
                  <a:pt x="131445" y="198775"/>
                  <a:pt x="102870" y="191140"/>
                </a:cubicBezTo>
                <a:lnTo>
                  <a:pt x="85770" y="186541"/>
                </a:lnTo>
                <a:lnTo>
                  <a:pt x="85770" y="200025"/>
                </a:lnTo>
                <a:cubicBezTo>
                  <a:pt x="85770" y="215786"/>
                  <a:pt x="98584" y="228600"/>
                  <a:pt x="114345" y="228600"/>
                </a:cubicBezTo>
                <a:lnTo>
                  <a:pt x="200070" y="228600"/>
                </a:lnTo>
                <a:cubicBezTo>
                  <a:pt x="215831" y="228600"/>
                  <a:pt x="228645" y="215786"/>
                  <a:pt x="228645" y="200025"/>
                </a:cubicBezTo>
                <a:lnTo>
                  <a:pt x="228645" y="114300"/>
                </a:lnTo>
                <a:cubicBezTo>
                  <a:pt x="228645" y="98539"/>
                  <a:pt x="215831" y="85725"/>
                  <a:pt x="200070" y="85725"/>
                </a:cubicBezTo>
                <a:lnTo>
                  <a:pt x="186630" y="85725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12" name="Text 10"/>
          <p:cNvSpPr/>
          <p:nvPr/>
        </p:nvSpPr>
        <p:spPr>
          <a:xfrm>
            <a:off x="866775" y="3152775"/>
            <a:ext cx="621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Environnement Stochastique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3571875"/>
            <a:ext cx="6457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Les tirages de cartes introduisent un</a:t>
            </a:r>
            <a:r>
              <a:rPr lang="" alt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randomness significati</a:t>
            </a:r>
            <a:r>
              <a:rPr lang="" alt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nécessitant des politiques robustes capables de gérer l'imprévisible.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4424363"/>
            <a:ext cx="6772275" cy="1304925"/>
          </a:xfrm>
          <a:custGeom>
            <a:avLst/>
            <a:gdLst/>
            <a:ahLst/>
            <a:cxnLst/>
            <a:rect l="l" t="t" r="r" b="b"/>
            <a:pathLst>
              <a:path w="6772275" h="1304925">
                <a:moveTo>
                  <a:pt x="114298" y="0"/>
                </a:moveTo>
                <a:lnTo>
                  <a:pt x="6657977" y="0"/>
                </a:lnTo>
                <a:cubicBezTo>
                  <a:pt x="6721102" y="0"/>
                  <a:pt x="6772275" y="51173"/>
                  <a:pt x="6772275" y="114298"/>
                </a:cubicBezTo>
                <a:lnTo>
                  <a:pt x="6772275" y="1190627"/>
                </a:lnTo>
                <a:cubicBezTo>
                  <a:pt x="6772275" y="1253752"/>
                  <a:pt x="6721102" y="1304925"/>
                  <a:pt x="665797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600" y="4657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5009" y="25003"/>
                </a:moveTo>
                <a:lnTo>
                  <a:pt x="75009" y="42863"/>
                </a:lnTo>
                <a:lnTo>
                  <a:pt x="40139" y="42863"/>
                </a:lnTo>
                <a:cubicBezTo>
                  <a:pt x="33754" y="42863"/>
                  <a:pt x="28575" y="48042"/>
                  <a:pt x="28575" y="54426"/>
                </a:cubicBezTo>
                <a:cubicBezTo>
                  <a:pt x="28575" y="56212"/>
                  <a:pt x="28977" y="57998"/>
                  <a:pt x="29781" y="59606"/>
                </a:cubicBezTo>
                <a:lnTo>
                  <a:pt x="44693" y="89431"/>
                </a:lnTo>
                <a:cubicBezTo>
                  <a:pt x="39603" y="90234"/>
                  <a:pt x="35674" y="94655"/>
                  <a:pt x="35674" y="100013"/>
                </a:cubicBezTo>
                <a:cubicBezTo>
                  <a:pt x="35674" y="105951"/>
                  <a:pt x="40451" y="110728"/>
                  <a:pt x="46390" y="110728"/>
                </a:cubicBezTo>
                <a:lnTo>
                  <a:pt x="48890" y="110728"/>
                </a:lnTo>
                <a:lnTo>
                  <a:pt x="42818" y="171450"/>
                </a:lnTo>
                <a:lnTo>
                  <a:pt x="17725" y="202838"/>
                </a:lnTo>
                <a:cubicBezTo>
                  <a:pt x="15493" y="205651"/>
                  <a:pt x="14243" y="209133"/>
                  <a:pt x="14243" y="212750"/>
                </a:cubicBezTo>
                <a:cubicBezTo>
                  <a:pt x="14243" y="221501"/>
                  <a:pt x="21342" y="228600"/>
                  <a:pt x="30093" y="228600"/>
                </a:cubicBezTo>
                <a:lnTo>
                  <a:pt x="141223" y="228600"/>
                </a:lnTo>
                <a:cubicBezTo>
                  <a:pt x="149974" y="228600"/>
                  <a:pt x="157073" y="221501"/>
                  <a:pt x="157073" y="212750"/>
                </a:cubicBezTo>
                <a:cubicBezTo>
                  <a:pt x="157073" y="209133"/>
                  <a:pt x="155868" y="205651"/>
                  <a:pt x="153591" y="202838"/>
                </a:cubicBezTo>
                <a:lnTo>
                  <a:pt x="128588" y="171450"/>
                </a:lnTo>
                <a:lnTo>
                  <a:pt x="122515" y="110728"/>
                </a:lnTo>
                <a:lnTo>
                  <a:pt x="125016" y="110728"/>
                </a:lnTo>
                <a:cubicBezTo>
                  <a:pt x="130954" y="110728"/>
                  <a:pt x="135731" y="105951"/>
                  <a:pt x="135731" y="100013"/>
                </a:cubicBezTo>
                <a:cubicBezTo>
                  <a:pt x="135731" y="94699"/>
                  <a:pt x="131847" y="90234"/>
                  <a:pt x="126712" y="89431"/>
                </a:cubicBezTo>
                <a:lnTo>
                  <a:pt x="141625" y="59606"/>
                </a:lnTo>
                <a:cubicBezTo>
                  <a:pt x="142429" y="57998"/>
                  <a:pt x="142830" y="56212"/>
                  <a:pt x="142830" y="54426"/>
                </a:cubicBezTo>
                <a:cubicBezTo>
                  <a:pt x="142830" y="48042"/>
                  <a:pt x="137651" y="42863"/>
                  <a:pt x="131266" y="42863"/>
                </a:cubicBezTo>
                <a:lnTo>
                  <a:pt x="96396" y="42863"/>
                </a:lnTo>
                <a:lnTo>
                  <a:pt x="96396" y="25003"/>
                </a:lnTo>
                <a:lnTo>
                  <a:pt x="103540" y="25003"/>
                </a:lnTo>
                <a:cubicBezTo>
                  <a:pt x="109478" y="25003"/>
                  <a:pt x="114255" y="20226"/>
                  <a:pt x="114255" y="14288"/>
                </a:cubicBezTo>
                <a:cubicBezTo>
                  <a:pt x="114255" y="8349"/>
                  <a:pt x="109523" y="3572"/>
                  <a:pt x="103584" y="3572"/>
                </a:cubicBezTo>
                <a:lnTo>
                  <a:pt x="96441" y="3572"/>
                </a:lnTo>
                <a:lnTo>
                  <a:pt x="96441" y="-3572"/>
                </a:lnTo>
                <a:cubicBezTo>
                  <a:pt x="96441" y="-9510"/>
                  <a:pt x="91663" y="-14287"/>
                  <a:pt x="85725" y="-14287"/>
                </a:cubicBezTo>
                <a:cubicBezTo>
                  <a:pt x="79787" y="-14287"/>
                  <a:pt x="75009" y="-9510"/>
                  <a:pt x="75009" y="-3572"/>
                </a:cubicBezTo>
                <a:lnTo>
                  <a:pt x="75009" y="3572"/>
                </a:lnTo>
                <a:lnTo>
                  <a:pt x="67866" y="3572"/>
                </a:lnTo>
                <a:cubicBezTo>
                  <a:pt x="61927" y="3572"/>
                  <a:pt x="57150" y="8349"/>
                  <a:pt x="57150" y="14288"/>
                </a:cubicBezTo>
                <a:cubicBezTo>
                  <a:pt x="57150" y="20226"/>
                  <a:pt x="61927" y="25003"/>
                  <a:pt x="67866" y="25003"/>
                </a:cubicBezTo>
                <a:lnTo>
                  <a:pt x="75009" y="25003"/>
                </a:lnTo>
                <a:close/>
                <a:moveTo>
                  <a:pt x="145465" y="124837"/>
                </a:moveTo>
                <a:lnTo>
                  <a:pt x="149260" y="163011"/>
                </a:lnTo>
                <a:lnTo>
                  <a:pt x="170423" y="189443"/>
                </a:lnTo>
                <a:lnTo>
                  <a:pt x="172298" y="191988"/>
                </a:lnTo>
                <a:cubicBezTo>
                  <a:pt x="176406" y="198105"/>
                  <a:pt x="178594" y="205338"/>
                  <a:pt x="178594" y="212750"/>
                </a:cubicBezTo>
                <a:cubicBezTo>
                  <a:pt x="178594" y="218420"/>
                  <a:pt x="177344" y="223823"/>
                  <a:pt x="175067" y="228600"/>
                </a:cubicBezTo>
                <a:lnTo>
                  <a:pt x="212169" y="228600"/>
                </a:lnTo>
                <a:cubicBezTo>
                  <a:pt x="221233" y="228600"/>
                  <a:pt x="228600" y="221233"/>
                  <a:pt x="228600" y="212169"/>
                </a:cubicBezTo>
                <a:cubicBezTo>
                  <a:pt x="228600" y="208910"/>
                  <a:pt x="227618" y="205740"/>
                  <a:pt x="225832" y="203061"/>
                </a:cubicBezTo>
                <a:lnTo>
                  <a:pt x="214313" y="185782"/>
                </a:lnTo>
                <a:lnTo>
                  <a:pt x="214313" y="157207"/>
                </a:lnTo>
                <a:lnTo>
                  <a:pt x="220251" y="151269"/>
                </a:lnTo>
                <a:cubicBezTo>
                  <a:pt x="225609" y="145911"/>
                  <a:pt x="228600" y="138633"/>
                  <a:pt x="228600" y="131043"/>
                </a:cubicBezTo>
                <a:lnTo>
                  <a:pt x="228600" y="85725"/>
                </a:lnTo>
                <a:cubicBezTo>
                  <a:pt x="228600" y="77822"/>
                  <a:pt x="222215" y="71438"/>
                  <a:pt x="214313" y="71438"/>
                </a:cubicBezTo>
                <a:cubicBezTo>
                  <a:pt x="206410" y="71438"/>
                  <a:pt x="200025" y="77822"/>
                  <a:pt x="200025" y="85725"/>
                </a:cubicBezTo>
                <a:lnTo>
                  <a:pt x="200025" y="92869"/>
                </a:lnTo>
                <a:lnTo>
                  <a:pt x="185738" y="92869"/>
                </a:lnTo>
                <a:lnTo>
                  <a:pt x="185738" y="85725"/>
                </a:lnTo>
                <a:cubicBezTo>
                  <a:pt x="185738" y="77822"/>
                  <a:pt x="179353" y="71438"/>
                  <a:pt x="171450" y="71438"/>
                </a:cubicBezTo>
                <a:cubicBezTo>
                  <a:pt x="163547" y="71438"/>
                  <a:pt x="157163" y="77822"/>
                  <a:pt x="157163" y="85725"/>
                </a:cubicBezTo>
                <a:lnTo>
                  <a:pt x="157163" y="100013"/>
                </a:lnTo>
                <a:cubicBezTo>
                  <a:pt x="157163" y="110014"/>
                  <a:pt x="152608" y="118943"/>
                  <a:pt x="145465" y="124837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6" name="Text 14"/>
          <p:cNvSpPr/>
          <p:nvPr/>
        </p:nvSpPr>
        <p:spPr>
          <a:xfrm>
            <a:off x="866775" y="4619625"/>
            <a:ext cx="621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Profondeur Stratégique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1025" y="5038725"/>
            <a:ext cx="6457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Cartes d'action (Skip, Reverse, +2, +4) et changements de couleur requièrent une planification sophistiquée et une anticipation à long terme.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58063" y="1490663"/>
            <a:ext cx="4448175" cy="4981575"/>
          </a:xfrm>
          <a:custGeom>
            <a:avLst/>
            <a:gdLst/>
            <a:ahLst/>
            <a:cxnLst/>
            <a:rect l="l" t="t" r="r" b="b"/>
            <a:pathLst>
              <a:path w="4448175" h="4981575">
                <a:moveTo>
                  <a:pt x="114318" y="0"/>
                </a:moveTo>
                <a:lnTo>
                  <a:pt x="4333857" y="0"/>
                </a:lnTo>
                <a:cubicBezTo>
                  <a:pt x="4396993" y="0"/>
                  <a:pt x="4448175" y="51182"/>
                  <a:pt x="4448175" y="114318"/>
                </a:cubicBezTo>
                <a:lnTo>
                  <a:pt x="4448175" y="4867257"/>
                </a:lnTo>
                <a:cubicBezTo>
                  <a:pt x="4448175" y="4930393"/>
                  <a:pt x="4396993" y="4981575"/>
                  <a:pt x="4333857" y="4981575"/>
                </a:cubicBezTo>
                <a:lnTo>
                  <a:pt x="114318" y="4981575"/>
                </a:lnTo>
                <a:cubicBezTo>
                  <a:pt x="51182" y="4981575"/>
                  <a:pt x="0" y="4930393"/>
                  <a:pt x="0" y="4867257"/>
                </a:cubicBezTo>
                <a:lnTo>
                  <a:pt x="0" y="114318"/>
                </a:lnTo>
                <a:cubicBezTo>
                  <a:pt x="0" y="51182"/>
                  <a:pt x="51182" y="0"/>
                  <a:pt x="11431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1900" y="1724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0" name="Text 18"/>
          <p:cNvSpPr/>
          <p:nvPr/>
        </p:nvSpPr>
        <p:spPr>
          <a:xfrm>
            <a:off x="7839075" y="1685925"/>
            <a:ext cx="3886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Objectifs du Projet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53325" y="2181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7682657" y="2238375"/>
            <a:ext cx="114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72425" y="2143125"/>
            <a:ext cx="3714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Implémenter un moteur de jeu UNO complet avec toutes les règles officielles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53325" y="2752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7669857" y="2809875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72425" y="2714625"/>
            <a:ext cx="3714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Entraîner des agents IA avec 5 algorithmes RL différents (Q-Learning, DQN, A2C, PPO, RecurrentPPO)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53325" y="3324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7668071" y="3381375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72425" y="3286125"/>
            <a:ext cx="3714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Atteindre des performances supérieures (&gt;50% taux de victoire vs baseline 25%)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53325" y="3895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7669857" y="3952875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72425" y="3857625"/>
            <a:ext cx="3714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Créer des interfaces graphiques modernes avec design glassmorphism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53325" y="4467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7667923" y="4524375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72425" y="4429125"/>
            <a:ext cx="3714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Support multijoueur (2-4 joueurs) et développer un framework d'auto-play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58088" y="5348288"/>
            <a:ext cx="4048125" cy="923925"/>
          </a:xfrm>
          <a:custGeom>
            <a:avLst/>
            <a:gdLst/>
            <a:ahLst/>
            <a:cxnLst/>
            <a:rect l="l" t="t" r="r" b="b"/>
            <a:pathLst>
              <a:path w="4048125" h="923925">
                <a:moveTo>
                  <a:pt x="76196" y="0"/>
                </a:moveTo>
                <a:lnTo>
                  <a:pt x="3971929" y="0"/>
                </a:lnTo>
                <a:cubicBezTo>
                  <a:pt x="4014011" y="0"/>
                  <a:pt x="4048125" y="34114"/>
                  <a:pt x="4048125" y="76196"/>
                </a:cubicBezTo>
                <a:lnTo>
                  <a:pt x="4048125" y="847729"/>
                </a:lnTo>
                <a:cubicBezTo>
                  <a:pt x="4048125" y="889811"/>
                  <a:pt x="4014011" y="923925"/>
                  <a:pt x="397192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7150" y="5467350"/>
            <a:ext cx="3886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Contexte Multi-Agent : Gameplay compétitif contre des adversaires intelligents avec adaptation dynamique des stratégies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940" y="363940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454925" y="454925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51286" y="0"/>
                </a:moveTo>
                <a:lnTo>
                  <a:pt x="130898" y="0"/>
                </a:lnTo>
                <a:cubicBezTo>
                  <a:pt x="140316" y="0"/>
                  <a:pt x="147993" y="7748"/>
                  <a:pt x="147638" y="17131"/>
                </a:cubicBezTo>
                <a:cubicBezTo>
                  <a:pt x="147566" y="19014"/>
                  <a:pt x="147495" y="20898"/>
                  <a:pt x="147389" y="22746"/>
                </a:cubicBezTo>
                <a:lnTo>
                  <a:pt x="165017" y="22746"/>
                </a:lnTo>
                <a:cubicBezTo>
                  <a:pt x="174293" y="22746"/>
                  <a:pt x="182468" y="30423"/>
                  <a:pt x="181757" y="40446"/>
                </a:cubicBezTo>
                <a:cubicBezTo>
                  <a:pt x="179091" y="77302"/>
                  <a:pt x="160255" y="97560"/>
                  <a:pt x="139818" y="108151"/>
                </a:cubicBezTo>
                <a:cubicBezTo>
                  <a:pt x="134203" y="111066"/>
                  <a:pt x="128481" y="113234"/>
                  <a:pt x="123043" y="114833"/>
                </a:cubicBezTo>
                <a:cubicBezTo>
                  <a:pt x="115864" y="124998"/>
                  <a:pt x="108400" y="130365"/>
                  <a:pt x="102465" y="133243"/>
                </a:cubicBezTo>
                <a:lnTo>
                  <a:pt x="102465" y="159224"/>
                </a:lnTo>
                <a:lnTo>
                  <a:pt x="125211" y="159224"/>
                </a:lnTo>
                <a:cubicBezTo>
                  <a:pt x="131502" y="159224"/>
                  <a:pt x="136584" y="164306"/>
                  <a:pt x="136584" y="170597"/>
                </a:cubicBezTo>
                <a:cubicBezTo>
                  <a:pt x="136584" y="176888"/>
                  <a:pt x="131502" y="181970"/>
                  <a:pt x="125211" y="181970"/>
                </a:cubicBezTo>
                <a:lnTo>
                  <a:pt x="56972" y="181970"/>
                </a:lnTo>
                <a:cubicBezTo>
                  <a:pt x="50682" y="181970"/>
                  <a:pt x="45599" y="176888"/>
                  <a:pt x="45599" y="170597"/>
                </a:cubicBezTo>
                <a:cubicBezTo>
                  <a:pt x="45599" y="164306"/>
                  <a:pt x="50682" y="159224"/>
                  <a:pt x="56972" y="159224"/>
                </a:cubicBezTo>
                <a:lnTo>
                  <a:pt x="79719" y="159224"/>
                </a:lnTo>
                <a:lnTo>
                  <a:pt x="79719" y="133243"/>
                </a:lnTo>
                <a:cubicBezTo>
                  <a:pt x="74032" y="130507"/>
                  <a:pt x="66959" y="125424"/>
                  <a:pt x="60064" y="116077"/>
                </a:cubicBezTo>
                <a:cubicBezTo>
                  <a:pt x="53525" y="114371"/>
                  <a:pt x="46417" y="111777"/>
                  <a:pt x="39486" y="107867"/>
                </a:cubicBezTo>
                <a:cubicBezTo>
                  <a:pt x="20258" y="97098"/>
                  <a:pt x="2914" y="76804"/>
                  <a:pt x="426" y="40375"/>
                </a:cubicBezTo>
                <a:cubicBezTo>
                  <a:pt x="-249" y="30388"/>
                  <a:pt x="7890" y="22711"/>
                  <a:pt x="17166" y="22711"/>
                </a:cubicBezTo>
                <a:lnTo>
                  <a:pt x="34795" y="22711"/>
                </a:lnTo>
                <a:cubicBezTo>
                  <a:pt x="34688" y="20863"/>
                  <a:pt x="34617" y="19014"/>
                  <a:pt x="34546" y="17095"/>
                </a:cubicBezTo>
                <a:cubicBezTo>
                  <a:pt x="34190" y="7677"/>
                  <a:pt x="41867" y="-36"/>
                  <a:pt x="51286" y="-36"/>
                </a:cubicBezTo>
                <a:close/>
                <a:moveTo>
                  <a:pt x="36074" y="39806"/>
                </a:moveTo>
                <a:lnTo>
                  <a:pt x="17451" y="39806"/>
                </a:lnTo>
                <a:cubicBezTo>
                  <a:pt x="19654" y="69909"/>
                  <a:pt x="33480" y="84979"/>
                  <a:pt x="47732" y="92975"/>
                </a:cubicBezTo>
                <a:cubicBezTo>
                  <a:pt x="42614" y="79719"/>
                  <a:pt x="38384" y="62410"/>
                  <a:pt x="36074" y="39806"/>
                </a:cubicBezTo>
                <a:close/>
                <a:moveTo>
                  <a:pt x="135056" y="91269"/>
                </a:moveTo>
                <a:cubicBezTo>
                  <a:pt x="149450" y="82811"/>
                  <a:pt x="162458" y="67777"/>
                  <a:pt x="164662" y="39806"/>
                </a:cubicBezTo>
                <a:lnTo>
                  <a:pt x="146074" y="39806"/>
                </a:lnTo>
                <a:cubicBezTo>
                  <a:pt x="143870" y="61450"/>
                  <a:pt x="139890" y="78261"/>
                  <a:pt x="135056" y="91269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4" name="Text 2"/>
          <p:cNvSpPr/>
          <p:nvPr/>
        </p:nvSpPr>
        <p:spPr>
          <a:xfrm>
            <a:off x="837063" y="363940"/>
            <a:ext cx="5459104" cy="363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Contributions Principales du Projet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940" y="800669"/>
            <a:ext cx="873457" cy="36394"/>
          </a:xfrm>
          <a:custGeom>
            <a:avLst/>
            <a:gdLst/>
            <a:ahLst/>
            <a:cxnLst/>
            <a:rect l="l" t="t" r="r" b="b"/>
            <a:pathLst>
              <a:path w="873457" h="36394">
                <a:moveTo>
                  <a:pt x="0" y="0"/>
                </a:moveTo>
                <a:lnTo>
                  <a:pt x="873457" y="0"/>
                </a:lnTo>
                <a:lnTo>
                  <a:pt x="873457" y="36394"/>
                </a:lnTo>
                <a:lnTo>
                  <a:pt x="0" y="36394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368490" y="1059976"/>
            <a:ext cx="5650173" cy="1537648"/>
          </a:xfrm>
          <a:custGeom>
            <a:avLst/>
            <a:gdLst/>
            <a:ahLst/>
            <a:cxnLst/>
            <a:rect l="l" t="t" r="r" b="b"/>
            <a:pathLst>
              <a:path w="5650173" h="1537648">
                <a:moveTo>
                  <a:pt x="109188" y="0"/>
                </a:moveTo>
                <a:lnTo>
                  <a:pt x="5540985" y="0"/>
                </a:lnTo>
                <a:cubicBezTo>
                  <a:pt x="5601288" y="0"/>
                  <a:pt x="5650173" y="48885"/>
                  <a:pt x="5650173" y="109188"/>
                </a:cubicBezTo>
                <a:lnTo>
                  <a:pt x="5650173" y="1428459"/>
                </a:lnTo>
                <a:cubicBezTo>
                  <a:pt x="5650173" y="1488762"/>
                  <a:pt x="5601288" y="1537648"/>
                  <a:pt x="5540985" y="1537648"/>
                </a:cubicBezTo>
                <a:lnTo>
                  <a:pt x="109188" y="1537648"/>
                </a:lnTo>
                <a:cubicBezTo>
                  <a:pt x="48885" y="1537648"/>
                  <a:pt x="0" y="1488762"/>
                  <a:pt x="0" y="1428459"/>
                </a:cubicBezTo>
                <a:lnTo>
                  <a:pt x="0" y="109188"/>
                </a:lnTo>
                <a:cubicBezTo>
                  <a:pt x="0" y="48926"/>
                  <a:pt x="48926" y="0"/>
                  <a:pt x="1091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518615" y="1210101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623248" y="1337481"/>
            <a:ext cx="227463" cy="181970"/>
          </a:xfrm>
          <a:custGeom>
            <a:avLst/>
            <a:gdLst/>
            <a:ahLst/>
            <a:cxnLst/>
            <a:rect l="l" t="t" r="r" b="b"/>
            <a:pathLst>
              <a:path w="227463" h="181970">
                <a:moveTo>
                  <a:pt x="147815" y="74814"/>
                </a:moveTo>
                <a:cubicBezTo>
                  <a:pt x="152151" y="73641"/>
                  <a:pt x="156700" y="75702"/>
                  <a:pt x="158655" y="79719"/>
                </a:cubicBezTo>
                <a:lnTo>
                  <a:pt x="165266" y="93082"/>
                </a:lnTo>
                <a:cubicBezTo>
                  <a:pt x="168927" y="93580"/>
                  <a:pt x="172516" y="94575"/>
                  <a:pt x="175893" y="95961"/>
                </a:cubicBezTo>
                <a:lnTo>
                  <a:pt x="188332" y="87680"/>
                </a:lnTo>
                <a:cubicBezTo>
                  <a:pt x="192064" y="85192"/>
                  <a:pt x="197004" y="85689"/>
                  <a:pt x="200167" y="88853"/>
                </a:cubicBezTo>
                <a:lnTo>
                  <a:pt x="206991" y="95676"/>
                </a:lnTo>
                <a:cubicBezTo>
                  <a:pt x="210154" y="98840"/>
                  <a:pt x="210652" y="103815"/>
                  <a:pt x="208164" y="107512"/>
                </a:cubicBezTo>
                <a:lnTo>
                  <a:pt x="199883" y="119915"/>
                </a:lnTo>
                <a:cubicBezTo>
                  <a:pt x="200558" y="121586"/>
                  <a:pt x="201162" y="123327"/>
                  <a:pt x="201660" y="125140"/>
                </a:cubicBezTo>
                <a:cubicBezTo>
                  <a:pt x="202157" y="126953"/>
                  <a:pt x="202477" y="128730"/>
                  <a:pt x="202726" y="130542"/>
                </a:cubicBezTo>
                <a:lnTo>
                  <a:pt x="216125" y="137153"/>
                </a:lnTo>
                <a:cubicBezTo>
                  <a:pt x="220141" y="139143"/>
                  <a:pt x="222203" y="143692"/>
                  <a:pt x="221030" y="147993"/>
                </a:cubicBezTo>
                <a:lnTo>
                  <a:pt x="218542" y="157305"/>
                </a:lnTo>
                <a:cubicBezTo>
                  <a:pt x="217369" y="161605"/>
                  <a:pt x="213353" y="164519"/>
                  <a:pt x="208875" y="164235"/>
                </a:cubicBezTo>
                <a:lnTo>
                  <a:pt x="193947" y="163276"/>
                </a:lnTo>
                <a:cubicBezTo>
                  <a:pt x="191708" y="166154"/>
                  <a:pt x="189114" y="168820"/>
                  <a:pt x="186164" y="171095"/>
                </a:cubicBezTo>
                <a:lnTo>
                  <a:pt x="187124" y="185986"/>
                </a:lnTo>
                <a:cubicBezTo>
                  <a:pt x="187408" y="190464"/>
                  <a:pt x="184494" y="194516"/>
                  <a:pt x="180193" y="195653"/>
                </a:cubicBezTo>
                <a:lnTo>
                  <a:pt x="170881" y="198141"/>
                </a:lnTo>
                <a:cubicBezTo>
                  <a:pt x="166545" y="199314"/>
                  <a:pt x="162032" y="197253"/>
                  <a:pt x="160041" y="193237"/>
                </a:cubicBezTo>
                <a:lnTo>
                  <a:pt x="153431" y="179873"/>
                </a:lnTo>
                <a:cubicBezTo>
                  <a:pt x="149770" y="179376"/>
                  <a:pt x="146180" y="178381"/>
                  <a:pt x="142804" y="176994"/>
                </a:cubicBezTo>
                <a:lnTo>
                  <a:pt x="130365" y="185275"/>
                </a:lnTo>
                <a:cubicBezTo>
                  <a:pt x="126633" y="187763"/>
                  <a:pt x="121693" y="187266"/>
                  <a:pt x="118529" y="184103"/>
                </a:cubicBezTo>
                <a:lnTo>
                  <a:pt x="111706" y="177279"/>
                </a:lnTo>
                <a:cubicBezTo>
                  <a:pt x="108542" y="174116"/>
                  <a:pt x="108045" y="169175"/>
                  <a:pt x="110533" y="165444"/>
                </a:cubicBezTo>
                <a:lnTo>
                  <a:pt x="118814" y="153004"/>
                </a:lnTo>
                <a:cubicBezTo>
                  <a:pt x="118138" y="151334"/>
                  <a:pt x="117534" y="149592"/>
                  <a:pt x="117037" y="147780"/>
                </a:cubicBezTo>
                <a:cubicBezTo>
                  <a:pt x="116539" y="145967"/>
                  <a:pt x="116219" y="144154"/>
                  <a:pt x="115970" y="142377"/>
                </a:cubicBezTo>
                <a:lnTo>
                  <a:pt x="102571" y="135767"/>
                </a:lnTo>
                <a:cubicBezTo>
                  <a:pt x="98555" y="133776"/>
                  <a:pt x="96529" y="129227"/>
                  <a:pt x="97667" y="124927"/>
                </a:cubicBezTo>
                <a:lnTo>
                  <a:pt x="100155" y="115615"/>
                </a:lnTo>
                <a:cubicBezTo>
                  <a:pt x="101328" y="111315"/>
                  <a:pt x="105344" y="108400"/>
                  <a:pt x="109822" y="108685"/>
                </a:cubicBezTo>
                <a:lnTo>
                  <a:pt x="124714" y="109644"/>
                </a:lnTo>
                <a:cubicBezTo>
                  <a:pt x="126953" y="106765"/>
                  <a:pt x="129547" y="104100"/>
                  <a:pt x="132497" y="101825"/>
                </a:cubicBezTo>
                <a:lnTo>
                  <a:pt x="131537" y="86969"/>
                </a:lnTo>
                <a:cubicBezTo>
                  <a:pt x="131253" y="82491"/>
                  <a:pt x="134167" y="78439"/>
                  <a:pt x="138468" y="77302"/>
                </a:cubicBezTo>
                <a:lnTo>
                  <a:pt x="147780" y="74814"/>
                </a:lnTo>
                <a:close/>
                <a:moveTo>
                  <a:pt x="159366" y="120840"/>
                </a:moveTo>
                <a:cubicBezTo>
                  <a:pt x="150735" y="120849"/>
                  <a:pt x="143736" y="127865"/>
                  <a:pt x="143746" y="136495"/>
                </a:cubicBezTo>
                <a:cubicBezTo>
                  <a:pt x="143756" y="145126"/>
                  <a:pt x="150771" y="152125"/>
                  <a:pt x="159402" y="152116"/>
                </a:cubicBezTo>
                <a:cubicBezTo>
                  <a:pt x="168032" y="152106"/>
                  <a:pt x="175032" y="145091"/>
                  <a:pt x="175022" y="136460"/>
                </a:cubicBezTo>
                <a:cubicBezTo>
                  <a:pt x="175012" y="127829"/>
                  <a:pt x="167997" y="120830"/>
                  <a:pt x="159366" y="120840"/>
                </a:cubicBezTo>
                <a:close/>
                <a:moveTo>
                  <a:pt x="79932" y="-16171"/>
                </a:moveTo>
                <a:lnTo>
                  <a:pt x="89244" y="-13683"/>
                </a:lnTo>
                <a:cubicBezTo>
                  <a:pt x="93544" y="-12510"/>
                  <a:pt x="96458" y="-8459"/>
                  <a:pt x="96174" y="-4016"/>
                </a:cubicBezTo>
                <a:lnTo>
                  <a:pt x="95214" y="10840"/>
                </a:lnTo>
                <a:cubicBezTo>
                  <a:pt x="98164" y="13115"/>
                  <a:pt x="100759" y="15745"/>
                  <a:pt x="102998" y="18659"/>
                </a:cubicBezTo>
                <a:lnTo>
                  <a:pt x="117925" y="17699"/>
                </a:lnTo>
                <a:cubicBezTo>
                  <a:pt x="122368" y="17415"/>
                  <a:pt x="126419" y="20329"/>
                  <a:pt x="127592" y="24630"/>
                </a:cubicBezTo>
                <a:lnTo>
                  <a:pt x="130080" y="33942"/>
                </a:lnTo>
                <a:cubicBezTo>
                  <a:pt x="131218" y="38242"/>
                  <a:pt x="129192" y="42791"/>
                  <a:pt x="125176" y="44782"/>
                </a:cubicBezTo>
                <a:lnTo>
                  <a:pt x="111777" y="51392"/>
                </a:lnTo>
                <a:cubicBezTo>
                  <a:pt x="111528" y="53205"/>
                  <a:pt x="111172" y="55018"/>
                  <a:pt x="110710" y="56795"/>
                </a:cubicBezTo>
                <a:cubicBezTo>
                  <a:pt x="110248" y="58572"/>
                  <a:pt x="109609" y="60349"/>
                  <a:pt x="108933" y="62019"/>
                </a:cubicBezTo>
                <a:lnTo>
                  <a:pt x="117214" y="74458"/>
                </a:lnTo>
                <a:cubicBezTo>
                  <a:pt x="119702" y="78190"/>
                  <a:pt x="119205" y="83131"/>
                  <a:pt x="116042" y="86294"/>
                </a:cubicBezTo>
                <a:lnTo>
                  <a:pt x="109218" y="93118"/>
                </a:lnTo>
                <a:cubicBezTo>
                  <a:pt x="106054" y="96281"/>
                  <a:pt x="101114" y="96778"/>
                  <a:pt x="97382" y="94290"/>
                </a:cubicBezTo>
                <a:lnTo>
                  <a:pt x="84943" y="86009"/>
                </a:lnTo>
                <a:cubicBezTo>
                  <a:pt x="81567" y="87395"/>
                  <a:pt x="77977" y="88391"/>
                  <a:pt x="74316" y="88888"/>
                </a:cubicBezTo>
                <a:lnTo>
                  <a:pt x="67706" y="102252"/>
                </a:lnTo>
                <a:cubicBezTo>
                  <a:pt x="65715" y="106268"/>
                  <a:pt x="61166" y="108294"/>
                  <a:pt x="56866" y="107156"/>
                </a:cubicBezTo>
                <a:lnTo>
                  <a:pt x="47554" y="104668"/>
                </a:lnTo>
                <a:cubicBezTo>
                  <a:pt x="43218" y="103496"/>
                  <a:pt x="40339" y="99444"/>
                  <a:pt x="40623" y="95001"/>
                </a:cubicBezTo>
                <a:lnTo>
                  <a:pt x="41583" y="80110"/>
                </a:lnTo>
                <a:cubicBezTo>
                  <a:pt x="38633" y="77835"/>
                  <a:pt x="36039" y="75205"/>
                  <a:pt x="33800" y="72290"/>
                </a:cubicBezTo>
                <a:lnTo>
                  <a:pt x="18872" y="73250"/>
                </a:lnTo>
                <a:cubicBezTo>
                  <a:pt x="14430" y="73534"/>
                  <a:pt x="10378" y="70620"/>
                  <a:pt x="9205" y="66320"/>
                </a:cubicBezTo>
                <a:lnTo>
                  <a:pt x="6717" y="57008"/>
                </a:lnTo>
                <a:cubicBezTo>
                  <a:pt x="5580" y="52707"/>
                  <a:pt x="7606" y="48158"/>
                  <a:pt x="11622" y="46168"/>
                </a:cubicBezTo>
                <a:lnTo>
                  <a:pt x="25021" y="39557"/>
                </a:lnTo>
                <a:cubicBezTo>
                  <a:pt x="25270" y="37745"/>
                  <a:pt x="25625" y="35968"/>
                  <a:pt x="26087" y="34155"/>
                </a:cubicBezTo>
                <a:cubicBezTo>
                  <a:pt x="26585" y="32342"/>
                  <a:pt x="27153" y="30601"/>
                  <a:pt x="27864" y="28930"/>
                </a:cubicBezTo>
                <a:lnTo>
                  <a:pt x="19583" y="16527"/>
                </a:lnTo>
                <a:cubicBezTo>
                  <a:pt x="17095" y="12795"/>
                  <a:pt x="17593" y="7855"/>
                  <a:pt x="20756" y="4691"/>
                </a:cubicBezTo>
                <a:lnTo>
                  <a:pt x="27580" y="-2132"/>
                </a:lnTo>
                <a:cubicBezTo>
                  <a:pt x="30743" y="-5296"/>
                  <a:pt x="35683" y="-5793"/>
                  <a:pt x="39415" y="-3305"/>
                </a:cubicBezTo>
                <a:lnTo>
                  <a:pt x="51854" y="4976"/>
                </a:lnTo>
                <a:cubicBezTo>
                  <a:pt x="55231" y="3590"/>
                  <a:pt x="58820" y="2594"/>
                  <a:pt x="62481" y="2097"/>
                </a:cubicBezTo>
                <a:lnTo>
                  <a:pt x="69092" y="-11267"/>
                </a:lnTo>
                <a:cubicBezTo>
                  <a:pt x="71082" y="-15283"/>
                  <a:pt x="75596" y="-17308"/>
                  <a:pt x="79932" y="-16171"/>
                </a:cubicBezTo>
                <a:close/>
                <a:moveTo>
                  <a:pt x="68381" y="29854"/>
                </a:moveTo>
                <a:cubicBezTo>
                  <a:pt x="59750" y="29854"/>
                  <a:pt x="52743" y="36862"/>
                  <a:pt x="52743" y="45493"/>
                </a:cubicBezTo>
                <a:cubicBezTo>
                  <a:pt x="52743" y="54123"/>
                  <a:pt x="59750" y="61131"/>
                  <a:pt x="68381" y="61131"/>
                </a:cubicBezTo>
                <a:cubicBezTo>
                  <a:pt x="77012" y="61131"/>
                  <a:pt x="84019" y="54123"/>
                  <a:pt x="84019" y="45493"/>
                </a:cubicBezTo>
                <a:cubicBezTo>
                  <a:pt x="84019" y="36862"/>
                  <a:pt x="77012" y="29854"/>
                  <a:pt x="68381" y="29854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64525" y="1301087"/>
            <a:ext cx="2074460" cy="2547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5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Moteur de Jeu Complet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518615" y="1719618"/>
            <a:ext cx="5422710" cy="473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UNO game engine avec environnement Gymnasium compatible, implémentant toutes les règles officielles avec espace d'observation 17/25 dimensions.</a:t>
            </a:r>
            <a:endParaRPr lang="en-US" sz="1600" dirty="0"/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536812" y="2292824"/>
            <a:ext cx="127379" cy="127379"/>
          </a:xfrm>
          <a:custGeom>
            <a:avLst/>
            <a:gdLst/>
            <a:ahLst/>
            <a:cxnLst/>
            <a:rect l="l" t="t" r="r" b="b"/>
            <a:pathLst>
              <a:path w="127379" h="127379">
                <a:moveTo>
                  <a:pt x="63690" y="127379"/>
                </a:moveTo>
                <a:cubicBezTo>
                  <a:pt x="98841" y="127379"/>
                  <a:pt x="127379" y="98841"/>
                  <a:pt x="127379" y="63690"/>
                </a:cubicBezTo>
                <a:cubicBezTo>
                  <a:pt x="127379" y="28538"/>
                  <a:pt x="98841" y="0"/>
                  <a:pt x="63690" y="0"/>
                </a:cubicBezTo>
                <a:cubicBezTo>
                  <a:pt x="28538" y="0"/>
                  <a:pt x="0" y="28538"/>
                  <a:pt x="0" y="63690"/>
                </a:cubicBezTo>
                <a:cubicBezTo>
                  <a:pt x="0" y="98841"/>
                  <a:pt x="28538" y="127379"/>
                  <a:pt x="63690" y="127379"/>
                </a:cubicBezTo>
                <a:close/>
                <a:moveTo>
                  <a:pt x="84687" y="52917"/>
                </a:moveTo>
                <a:lnTo>
                  <a:pt x="64784" y="84762"/>
                </a:lnTo>
                <a:cubicBezTo>
                  <a:pt x="63739" y="86429"/>
                  <a:pt x="61948" y="87474"/>
                  <a:pt x="59983" y="87573"/>
                </a:cubicBezTo>
                <a:cubicBezTo>
                  <a:pt x="58017" y="87673"/>
                  <a:pt x="56126" y="86777"/>
                  <a:pt x="54957" y="85185"/>
                </a:cubicBezTo>
                <a:lnTo>
                  <a:pt x="43015" y="69262"/>
                </a:lnTo>
                <a:cubicBezTo>
                  <a:pt x="41025" y="66625"/>
                  <a:pt x="41572" y="62893"/>
                  <a:pt x="44210" y="60903"/>
                </a:cubicBezTo>
                <a:cubicBezTo>
                  <a:pt x="46847" y="58913"/>
                  <a:pt x="50578" y="59460"/>
                  <a:pt x="52569" y="62097"/>
                </a:cubicBezTo>
                <a:lnTo>
                  <a:pt x="59286" y="71054"/>
                </a:lnTo>
                <a:lnTo>
                  <a:pt x="74562" y="46598"/>
                </a:lnTo>
                <a:cubicBezTo>
                  <a:pt x="76303" y="43811"/>
                  <a:pt x="79985" y="42941"/>
                  <a:pt x="82796" y="44707"/>
                </a:cubicBezTo>
                <a:cubicBezTo>
                  <a:pt x="85608" y="46473"/>
                  <a:pt x="86454" y="50131"/>
                  <a:pt x="84687" y="52942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750627" y="2265528"/>
            <a:ext cx="1446663" cy="181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Compatible OpenAI Gym</a:t>
            </a:r>
            <a:endParaRPr lang="en-US" sz="1600" dirty="0"/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368490" y="2715904"/>
            <a:ext cx="5650173" cy="1537648"/>
          </a:xfrm>
          <a:custGeom>
            <a:avLst/>
            <a:gdLst/>
            <a:ahLst/>
            <a:cxnLst/>
            <a:rect l="l" t="t" r="r" b="b"/>
            <a:pathLst>
              <a:path w="5650173" h="1537648">
                <a:moveTo>
                  <a:pt x="109188" y="0"/>
                </a:moveTo>
                <a:lnTo>
                  <a:pt x="5540985" y="0"/>
                </a:lnTo>
                <a:cubicBezTo>
                  <a:pt x="5601288" y="0"/>
                  <a:pt x="5650173" y="48885"/>
                  <a:pt x="5650173" y="109188"/>
                </a:cubicBezTo>
                <a:lnTo>
                  <a:pt x="5650173" y="1428459"/>
                </a:lnTo>
                <a:cubicBezTo>
                  <a:pt x="5650173" y="1488762"/>
                  <a:pt x="5601288" y="1537648"/>
                  <a:pt x="5540985" y="1537648"/>
                </a:cubicBezTo>
                <a:lnTo>
                  <a:pt x="109188" y="1537648"/>
                </a:lnTo>
                <a:cubicBezTo>
                  <a:pt x="48885" y="1537648"/>
                  <a:pt x="0" y="1488762"/>
                  <a:pt x="0" y="1428459"/>
                </a:cubicBezTo>
                <a:lnTo>
                  <a:pt x="0" y="109188"/>
                </a:lnTo>
                <a:cubicBezTo>
                  <a:pt x="0" y="48926"/>
                  <a:pt x="48926" y="0"/>
                  <a:pt x="1091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518615" y="2866030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623248" y="2993409"/>
            <a:ext cx="227463" cy="181970"/>
          </a:xfrm>
          <a:custGeom>
            <a:avLst/>
            <a:gdLst/>
            <a:ahLst/>
            <a:cxnLst/>
            <a:rect l="l" t="t" r="r" b="b"/>
            <a:pathLst>
              <a:path w="227463" h="181970">
                <a:moveTo>
                  <a:pt x="125104" y="0"/>
                </a:moveTo>
                <a:cubicBezTo>
                  <a:pt x="125104" y="-6291"/>
                  <a:pt x="120022" y="-11373"/>
                  <a:pt x="113731" y="-11373"/>
                </a:cubicBezTo>
                <a:cubicBezTo>
                  <a:pt x="107441" y="-11373"/>
                  <a:pt x="102358" y="-6291"/>
                  <a:pt x="102358" y="0"/>
                </a:cubicBezTo>
                <a:lnTo>
                  <a:pt x="102358" y="22746"/>
                </a:lnTo>
                <a:lnTo>
                  <a:pt x="68239" y="22746"/>
                </a:lnTo>
                <a:cubicBezTo>
                  <a:pt x="49402" y="22746"/>
                  <a:pt x="34119" y="38029"/>
                  <a:pt x="34119" y="56866"/>
                </a:cubicBezTo>
                <a:lnTo>
                  <a:pt x="34119" y="136478"/>
                </a:lnTo>
                <a:cubicBezTo>
                  <a:pt x="34119" y="155314"/>
                  <a:pt x="49402" y="170597"/>
                  <a:pt x="68239" y="170597"/>
                </a:cubicBezTo>
                <a:lnTo>
                  <a:pt x="159224" y="170597"/>
                </a:lnTo>
                <a:cubicBezTo>
                  <a:pt x="178061" y="170597"/>
                  <a:pt x="193343" y="155314"/>
                  <a:pt x="193343" y="136478"/>
                </a:cubicBezTo>
                <a:lnTo>
                  <a:pt x="193343" y="56866"/>
                </a:lnTo>
                <a:cubicBezTo>
                  <a:pt x="193343" y="38029"/>
                  <a:pt x="178061" y="22746"/>
                  <a:pt x="159224" y="22746"/>
                </a:cubicBezTo>
                <a:lnTo>
                  <a:pt x="125104" y="22746"/>
                </a:lnTo>
                <a:lnTo>
                  <a:pt x="125104" y="0"/>
                </a:lnTo>
                <a:close/>
                <a:moveTo>
                  <a:pt x="56866" y="130791"/>
                </a:moveTo>
                <a:cubicBezTo>
                  <a:pt x="56866" y="126064"/>
                  <a:pt x="60669" y="122261"/>
                  <a:pt x="65396" y="122261"/>
                </a:cubicBezTo>
                <a:lnTo>
                  <a:pt x="76769" y="122261"/>
                </a:lnTo>
                <a:cubicBezTo>
                  <a:pt x="81496" y="122261"/>
                  <a:pt x="85299" y="126064"/>
                  <a:pt x="85299" y="130791"/>
                </a:cubicBezTo>
                <a:cubicBezTo>
                  <a:pt x="85299" y="135518"/>
                  <a:pt x="81496" y="139321"/>
                  <a:pt x="76769" y="139321"/>
                </a:cubicBezTo>
                <a:lnTo>
                  <a:pt x="65396" y="139321"/>
                </a:lnTo>
                <a:cubicBezTo>
                  <a:pt x="60669" y="139321"/>
                  <a:pt x="56866" y="135518"/>
                  <a:pt x="56866" y="130791"/>
                </a:cubicBezTo>
                <a:close/>
                <a:moveTo>
                  <a:pt x="99515" y="130791"/>
                </a:moveTo>
                <a:cubicBezTo>
                  <a:pt x="99515" y="126064"/>
                  <a:pt x="103318" y="122261"/>
                  <a:pt x="108045" y="122261"/>
                </a:cubicBezTo>
                <a:lnTo>
                  <a:pt x="119418" y="122261"/>
                </a:lnTo>
                <a:cubicBezTo>
                  <a:pt x="124145" y="122261"/>
                  <a:pt x="127948" y="126064"/>
                  <a:pt x="127948" y="130791"/>
                </a:cubicBezTo>
                <a:cubicBezTo>
                  <a:pt x="127948" y="135518"/>
                  <a:pt x="124145" y="139321"/>
                  <a:pt x="119418" y="139321"/>
                </a:cubicBezTo>
                <a:lnTo>
                  <a:pt x="108045" y="139321"/>
                </a:lnTo>
                <a:cubicBezTo>
                  <a:pt x="103318" y="139321"/>
                  <a:pt x="99515" y="135518"/>
                  <a:pt x="99515" y="130791"/>
                </a:cubicBezTo>
                <a:close/>
                <a:moveTo>
                  <a:pt x="142164" y="130791"/>
                </a:moveTo>
                <a:cubicBezTo>
                  <a:pt x="142164" y="126064"/>
                  <a:pt x="145967" y="122261"/>
                  <a:pt x="150694" y="122261"/>
                </a:cubicBezTo>
                <a:lnTo>
                  <a:pt x="162067" y="122261"/>
                </a:lnTo>
                <a:cubicBezTo>
                  <a:pt x="166794" y="122261"/>
                  <a:pt x="170597" y="126064"/>
                  <a:pt x="170597" y="130791"/>
                </a:cubicBezTo>
                <a:cubicBezTo>
                  <a:pt x="170597" y="135518"/>
                  <a:pt x="166794" y="139321"/>
                  <a:pt x="162067" y="139321"/>
                </a:cubicBezTo>
                <a:lnTo>
                  <a:pt x="150694" y="139321"/>
                </a:lnTo>
                <a:cubicBezTo>
                  <a:pt x="145967" y="139321"/>
                  <a:pt x="142164" y="135518"/>
                  <a:pt x="142164" y="130791"/>
                </a:cubicBezTo>
                <a:close/>
                <a:moveTo>
                  <a:pt x="79612" y="62552"/>
                </a:moveTo>
                <a:cubicBezTo>
                  <a:pt x="89027" y="62552"/>
                  <a:pt x="96672" y="70196"/>
                  <a:pt x="96672" y="79612"/>
                </a:cubicBezTo>
                <a:cubicBezTo>
                  <a:pt x="96672" y="89027"/>
                  <a:pt x="89027" y="96672"/>
                  <a:pt x="79612" y="96672"/>
                </a:cubicBezTo>
                <a:cubicBezTo>
                  <a:pt x="70196" y="96672"/>
                  <a:pt x="62552" y="89027"/>
                  <a:pt x="62552" y="79612"/>
                </a:cubicBezTo>
                <a:cubicBezTo>
                  <a:pt x="62552" y="70196"/>
                  <a:pt x="70196" y="62552"/>
                  <a:pt x="79612" y="62552"/>
                </a:cubicBezTo>
                <a:close/>
                <a:moveTo>
                  <a:pt x="130791" y="79612"/>
                </a:moveTo>
                <a:cubicBezTo>
                  <a:pt x="130791" y="70196"/>
                  <a:pt x="138435" y="62552"/>
                  <a:pt x="147851" y="62552"/>
                </a:cubicBezTo>
                <a:cubicBezTo>
                  <a:pt x="157266" y="62552"/>
                  <a:pt x="164910" y="70196"/>
                  <a:pt x="164910" y="79612"/>
                </a:cubicBezTo>
                <a:cubicBezTo>
                  <a:pt x="164910" y="89027"/>
                  <a:pt x="157266" y="96672"/>
                  <a:pt x="147851" y="96672"/>
                </a:cubicBezTo>
                <a:cubicBezTo>
                  <a:pt x="138435" y="96672"/>
                  <a:pt x="130791" y="89027"/>
                  <a:pt x="130791" y="79612"/>
                </a:cubicBezTo>
                <a:close/>
                <a:moveTo>
                  <a:pt x="22746" y="79612"/>
                </a:moveTo>
                <a:cubicBezTo>
                  <a:pt x="22746" y="73321"/>
                  <a:pt x="17664" y="68239"/>
                  <a:pt x="11373" y="68239"/>
                </a:cubicBezTo>
                <a:cubicBezTo>
                  <a:pt x="5082" y="68239"/>
                  <a:pt x="0" y="73321"/>
                  <a:pt x="0" y="79612"/>
                </a:cubicBezTo>
                <a:lnTo>
                  <a:pt x="0" y="113731"/>
                </a:lnTo>
                <a:cubicBezTo>
                  <a:pt x="0" y="120022"/>
                  <a:pt x="5082" y="125104"/>
                  <a:pt x="11373" y="125104"/>
                </a:cubicBezTo>
                <a:cubicBezTo>
                  <a:pt x="17664" y="125104"/>
                  <a:pt x="22746" y="120022"/>
                  <a:pt x="22746" y="113731"/>
                </a:cubicBezTo>
                <a:lnTo>
                  <a:pt x="22746" y="79612"/>
                </a:lnTo>
                <a:close/>
                <a:moveTo>
                  <a:pt x="216090" y="68239"/>
                </a:moveTo>
                <a:cubicBezTo>
                  <a:pt x="209799" y="68239"/>
                  <a:pt x="204716" y="73321"/>
                  <a:pt x="204716" y="79612"/>
                </a:cubicBezTo>
                <a:lnTo>
                  <a:pt x="204716" y="113731"/>
                </a:lnTo>
                <a:cubicBezTo>
                  <a:pt x="204716" y="120022"/>
                  <a:pt x="209799" y="125104"/>
                  <a:pt x="216090" y="125104"/>
                </a:cubicBezTo>
                <a:cubicBezTo>
                  <a:pt x="222380" y="125104"/>
                  <a:pt x="227463" y="120022"/>
                  <a:pt x="227463" y="113731"/>
                </a:cubicBezTo>
                <a:lnTo>
                  <a:pt x="227463" y="79612"/>
                </a:lnTo>
                <a:cubicBezTo>
                  <a:pt x="227463" y="73321"/>
                  <a:pt x="222380" y="68239"/>
                  <a:pt x="216090" y="68239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1064525" y="2957015"/>
            <a:ext cx="2010770" cy="2547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5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Agents IA Performants</a:t>
            </a:r>
            <a:endParaRPr lang="en-US" sz="16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518615" y="3375546"/>
            <a:ext cx="5422710" cy="473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" alt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</a:t>
            </a:r>
            <a:r>
              <a:rPr 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algorithmes implémentés, atteignant jusqu'à </a:t>
            </a:r>
            <a:r>
              <a:rPr lang="en-US" sz="114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60% de taux de victoire</a:t>
            </a:r>
            <a:r>
              <a:rPr 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(2.4x baseline aléatoire 25%).</a:t>
            </a:r>
            <a:endParaRPr lang="en-US" sz="16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536812" y="3948752"/>
            <a:ext cx="127379" cy="127379"/>
          </a:xfrm>
          <a:custGeom>
            <a:avLst/>
            <a:gdLst/>
            <a:ahLst/>
            <a:cxnLst/>
            <a:rect l="l" t="t" r="r" b="b"/>
            <a:pathLst>
              <a:path w="127379" h="127379">
                <a:moveTo>
                  <a:pt x="15922" y="15922"/>
                </a:moveTo>
                <a:cubicBezTo>
                  <a:pt x="15922" y="11519"/>
                  <a:pt x="12365" y="7961"/>
                  <a:pt x="7961" y="7961"/>
                </a:cubicBezTo>
                <a:cubicBezTo>
                  <a:pt x="3558" y="7961"/>
                  <a:pt x="0" y="11519"/>
                  <a:pt x="0" y="15922"/>
                </a:cubicBezTo>
                <a:lnTo>
                  <a:pt x="0" y="99515"/>
                </a:lnTo>
                <a:cubicBezTo>
                  <a:pt x="0" y="110511"/>
                  <a:pt x="8907" y="119418"/>
                  <a:pt x="19903" y="119418"/>
                </a:cubicBezTo>
                <a:lnTo>
                  <a:pt x="119418" y="119418"/>
                </a:lnTo>
                <a:cubicBezTo>
                  <a:pt x="123821" y="119418"/>
                  <a:pt x="127379" y="115860"/>
                  <a:pt x="127379" y="111457"/>
                </a:cubicBezTo>
                <a:cubicBezTo>
                  <a:pt x="127379" y="107053"/>
                  <a:pt x="123821" y="103496"/>
                  <a:pt x="119418" y="103496"/>
                </a:cubicBezTo>
                <a:lnTo>
                  <a:pt x="19903" y="103496"/>
                </a:lnTo>
                <a:cubicBezTo>
                  <a:pt x="17714" y="103496"/>
                  <a:pt x="15922" y="101704"/>
                  <a:pt x="15922" y="99515"/>
                </a:cubicBezTo>
                <a:lnTo>
                  <a:pt x="15922" y="15922"/>
                </a:lnTo>
                <a:close/>
                <a:moveTo>
                  <a:pt x="117079" y="37467"/>
                </a:moveTo>
                <a:cubicBezTo>
                  <a:pt x="120189" y="34358"/>
                  <a:pt x="120189" y="29307"/>
                  <a:pt x="117079" y="26197"/>
                </a:cubicBezTo>
                <a:cubicBezTo>
                  <a:pt x="113969" y="23087"/>
                  <a:pt x="108919" y="23087"/>
                  <a:pt x="105809" y="26197"/>
                </a:cubicBezTo>
                <a:lnTo>
                  <a:pt x="79612" y="52419"/>
                </a:lnTo>
                <a:lnTo>
                  <a:pt x="65332" y="38164"/>
                </a:lnTo>
                <a:cubicBezTo>
                  <a:pt x="62222" y="35054"/>
                  <a:pt x="57171" y="35054"/>
                  <a:pt x="54061" y="38164"/>
                </a:cubicBezTo>
                <a:lnTo>
                  <a:pt x="30178" y="62048"/>
                </a:lnTo>
                <a:cubicBezTo>
                  <a:pt x="27068" y="65157"/>
                  <a:pt x="27068" y="70208"/>
                  <a:pt x="30178" y="73318"/>
                </a:cubicBezTo>
                <a:cubicBezTo>
                  <a:pt x="33288" y="76427"/>
                  <a:pt x="38338" y="76427"/>
                  <a:pt x="41448" y="73318"/>
                </a:cubicBezTo>
                <a:lnTo>
                  <a:pt x="59709" y="55057"/>
                </a:lnTo>
                <a:lnTo>
                  <a:pt x="73989" y="69337"/>
                </a:lnTo>
                <a:cubicBezTo>
                  <a:pt x="77099" y="72447"/>
                  <a:pt x="82150" y="72447"/>
                  <a:pt x="85259" y="69337"/>
                </a:cubicBezTo>
                <a:lnTo>
                  <a:pt x="117104" y="37492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750570" y="3921760"/>
            <a:ext cx="2387600" cy="182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Meilleur modèle : </a:t>
            </a:r>
            <a:r>
              <a:rPr lang="" altLang="en-US" sz="1005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Self-play </a:t>
            </a:r>
            <a:r>
              <a:rPr lang="en-US" sz="1005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RecurrentPPO</a:t>
            </a:r>
            <a:endParaRPr lang="en-US" sz="1600" dirty="0"/>
          </a:p>
        </p:txBody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368490" y="4371833"/>
            <a:ext cx="5650173" cy="1537648"/>
          </a:xfrm>
          <a:custGeom>
            <a:avLst/>
            <a:gdLst/>
            <a:ahLst/>
            <a:cxnLst/>
            <a:rect l="l" t="t" r="r" b="b"/>
            <a:pathLst>
              <a:path w="5650173" h="1537648">
                <a:moveTo>
                  <a:pt x="109188" y="0"/>
                </a:moveTo>
                <a:lnTo>
                  <a:pt x="5540985" y="0"/>
                </a:lnTo>
                <a:cubicBezTo>
                  <a:pt x="5601288" y="0"/>
                  <a:pt x="5650173" y="48885"/>
                  <a:pt x="5650173" y="109188"/>
                </a:cubicBezTo>
                <a:lnTo>
                  <a:pt x="5650173" y="1428459"/>
                </a:lnTo>
                <a:cubicBezTo>
                  <a:pt x="5650173" y="1488762"/>
                  <a:pt x="5601288" y="1537648"/>
                  <a:pt x="5540985" y="1537648"/>
                </a:cubicBezTo>
                <a:lnTo>
                  <a:pt x="109188" y="1537648"/>
                </a:lnTo>
                <a:cubicBezTo>
                  <a:pt x="48885" y="1537648"/>
                  <a:pt x="0" y="1488762"/>
                  <a:pt x="0" y="1428459"/>
                </a:cubicBezTo>
                <a:lnTo>
                  <a:pt x="0" y="109188"/>
                </a:lnTo>
                <a:cubicBezTo>
                  <a:pt x="0" y="48926"/>
                  <a:pt x="48926" y="0"/>
                  <a:pt x="1091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518615" y="4521958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45994" y="4649337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22746" y="11373"/>
                </a:moveTo>
                <a:cubicBezTo>
                  <a:pt x="10200" y="11373"/>
                  <a:pt x="0" y="21573"/>
                  <a:pt x="0" y="34119"/>
                </a:cubicBezTo>
                <a:lnTo>
                  <a:pt x="0" y="125104"/>
                </a:lnTo>
                <a:cubicBezTo>
                  <a:pt x="0" y="137650"/>
                  <a:pt x="10200" y="147851"/>
                  <a:pt x="22746" y="147851"/>
                </a:cubicBezTo>
                <a:lnTo>
                  <a:pt x="73925" y="147851"/>
                </a:lnTo>
                <a:lnTo>
                  <a:pt x="68239" y="164910"/>
                </a:lnTo>
                <a:lnTo>
                  <a:pt x="42649" y="164910"/>
                </a:lnTo>
                <a:cubicBezTo>
                  <a:pt x="37922" y="164910"/>
                  <a:pt x="34119" y="168713"/>
                  <a:pt x="34119" y="173440"/>
                </a:cubicBezTo>
                <a:cubicBezTo>
                  <a:pt x="34119" y="178167"/>
                  <a:pt x="37922" y="181970"/>
                  <a:pt x="42649" y="181970"/>
                </a:cubicBezTo>
                <a:lnTo>
                  <a:pt x="139321" y="181970"/>
                </a:lnTo>
                <a:cubicBezTo>
                  <a:pt x="144048" y="181970"/>
                  <a:pt x="147851" y="178167"/>
                  <a:pt x="147851" y="173440"/>
                </a:cubicBezTo>
                <a:cubicBezTo>
                  <a:pt x="147851" y="168713"/>
                  <a:pt x="144048" y="164910"/>
                  <a:pt x="139321" y="164910"/>
                </a:cubicBezTo>
                <a:lnTo>
                  <a:pt x="113731" y="164910"/>
                </a:lnTo>
                <a:lnTo>
                  <a:pt x="108045" y="147851"/>
                </a:lnTo>
                <a:lnTo>
                  <a:pt x="159224" y="147851"/>
                </a:lnTo>
                <a:cubicBezTo>
                  <a:pt x="171770" y="147851"/>
                  <a:pt x="181970" y="137650"/>
                  <a:pt x="181970" y="125104"/>
                </a:cubicBezTo>
                <a:lnTo>
                  <a:pt x="181970" y="34119"/>
                </a:lnTo>
                <a:cubicBezTo>
                  <a:pt x="181970" y="21573"/>
                  <a:pt x="171770" y="11373"/>
                  <a:pt x="159224" y="11373"/>
                </a:cubicBezTo>
                <a:lnTo>
                  <a:pt x="22746" y="11373"/>
                </a:lnTo>
                <a:close/>
                <a:moveTo>
                  <a:pt x="34119" y="34119"/>
                </a:moveTo>
                <a:lnTo>
                  <a:pt x="147851" y="34119"/>
                </a:lnTo>
                <a:cubicBezTo>
                  <a:pt x="154142" y="34119"/>
                  <a:pt x="159224" y="39202"/>
                  <a:pt x="159224" y="45493"/>
                </a:cubicBezTo>
                <a:lnTo>
                  <a:pt x="159224" y="102358"/>
                </a:lnTo>
                <a:cubicBezTo>
                  <a:pt x="159224" y="108649"/>
                  <a:pt x="154142" y="113731"/>
                  <a:pt x="147851" y="113731"/>
                </a:cubicBezTo>
                <a:lnTo>
                  <a:pt x="34119" y="113731"/>
                </a:lnTo>
                <a:cubicBezTo>
                  <a:pt x="27829" y="113731"/>
                  <a:pt x="22746" y="108649"/>
                  <a:pt x="22746" y="102358"/>
                </a:cubicBezTo>
                <a:lnTo>
                  <a:pt x="22746" y="45493"/>
                </a:lnTo>
                <a:cubicBezTo>
                  <a:pt x="22746" y="39202"/>
                  <a:pt x="27829" y="34119"/>
                  <a:pt x="34119" y="34119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1064525" y="4612943"/>
            <a:ext cx="2856931" cy="2547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5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Interfaces Graphiques Modernes</a:t>
            </a:r>
            <a:endParaRPr lang="en-US" sz="16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518615" y="5031475"/>
            <a:ext cx="5422710" cy="473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 interfaces Pygame avec design glassmorphism : Main GUI, Battle Arena, Multiplayer GUI.</a:t>
            </a:r>
            <a:endParaRPr lang="en-US" sz="1600" dirty="0"/>
          </a:p>
        </p:txBody>
      </p:sp>
      <p:sp>
        <p:nvSpPr>
          <p:cNvPr id="25" name="Shape 23"/>
          <p:cNvSpPr/>
          <p:nvPr>
            <p:custDataLst>
              <p:tags r:id="rId20"/>
            </p:custDataLst>
          </p:nvPr>
        </p:nvSpPr>
        <p:spPr>
          <a:xfrm>
            <a:off x="544773" y="5604681"/>
            <a:ext cx="111457" cy="127379"/>
          </a:xfrm>
          <a:custGeom>
            <a:avLst/>
            <a:gdLst/>
            <a:ahLst/>
            <a:cxnLst/>
            <a:rect l="l" t="t" r="r" b="b"/>
            <a:pathLst>
              <a:path w="111457" h="127379">
                <a:moveTo>
                  <a:pt x="22689" y="9180"/>
                </a:moveTo>
                <a:cubicBezTo>
                  <a:pt x="19604" y="7488"/>
                  <a:pt x="15873" y="7563"/>
                  <a:pt x="12837" y="9354"/>
                </a:cubicBezTo>
                <a:cubicBezTo>
                  <a:pt x="9802" y="11146"/>
                  <a:pt x="7961" y="14405"/>
                  <a:pt x="7961" y="17913"/>
                </a:cubicBezTo>
                <a:lnTo>
                  <a:pt x="7961" y="109466"/>
                </a:lnTo>
                <a:cubicBezTo>
                  <a:pt x="7961" y="112974"/>
                  <a:pt x="9827" y="116233"/>
                  <a:pt x="12837" y="118025"/>
                </a:cubicBezTo>
                <a:cubicBezTo>
                  <a:pt x="15848" y="119816"/>
                  <a:pt x="19604" y="119891"/>
                  <a:pt x="22689" y="118199"/>
                </a:cubicBezTo>
                <a:lnTo>
                  <a:pt x="106282" y="72422"/>
                </a:lnTo>
                <a:cubicBezTo>
                  <a:pt x="109466" y="70680"/>
                  <a:pt x="111457" y="67322"/>
                  <a:pt x="111457" y="63690"/>
                </a:cubicBezTo>
                <a:cubicBezTo>
                  <a:pt x="111457" y="60057"/>
                  <a:pt x="109466" y="56699"/>
                  <a:pt x="106282" y="54957"/>
                </a:cubicBezTo>
                <a:lnTo>
                  <a:pt x="22689" y="918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26" name="Text 24"/>
          <p:cNvSpPr/>
          <p:nvPr>
            <p:custDataLst>
              <p:tags r:id="rId21"/>
            </p:custDataLst>
          </p:nvPr>
        </p:nvSpPr>
        <p:spPr>
          <a:xfrm>
            <a:off x="750627" y="5577385"/>
            <a:ext cx="1164609" cy="181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60 FPS, rendu fluide</a:t>
            </a:r>
            <a:endParaRPr lang="en-US" sz="1600" dirty="0"/>
          </a:p>
        </p:txBody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6175328" y="1059976"/>
            <a:ext cx="5650173" cy="1537648"/>
          </a:xfrm>
          <a:custGeom>
            <a:avLst/>
            <a:gdLst/>
            <a:ahLst/>
            <a:cxnLst/>
            <a:rect l="l" t="t" r="r" b="b"/>
            <a:pathLst>
              <a:path w="5650173" h="1537648">
                <a:moveTo>
                  <a:pt x="109188" y="0"/>
                </a:moveTo>
                <a:lnTo>
                  <a:pt x="5540985" y="0"/>
                </a:lnTo>
                <a:cubicBezTo>
                  <a:pt x="5601288" y="0"/>
                  <a:pt x="5650173" y="48885"/>
                  <a:pt x="5650173" y="109188"/>
                </a:cubicBezTo>
                <a:lnTo>
                  <a:pt x="5650173" y="1428459"/>
                </a:lnTo>
                <a:cubicBezTo>
                  <a:pt x="5650173" y="1488762"/>
                  <a:pt x="5601288" y="1537648"/>
                  <a:pt x="5540985" y="1537648"/>
                </a:cubicBezTo>
                <a:lnTo>
                  <a:pt x="109188" y="1537648"/>
                </a:lnTo>
                <a:cubicBezTo>
                  <a:pt x="48885" y="1537648"/>
                  <a:pt x="0" y="1488762"/>
                  <a:pt x="0" y="1428459"/>
                </a:cubicBezTo>
                <a:lnTo>
                  <a:pt x="0" y="109188"/>
                </a:lnTo>
                <a:cubicBezTo>
                  <a:pt x="0" y="48926"/>
                  <a:pt x="48926" y="0"/>
                  <a:pt x="1091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8" name="Shape 26"/>
          <p:cNvSpPr/>
          <p:nvPr>
            <p:custDataLst>
              <p:tags r:id="rId23"/>
            </p:custDataLst>
          </p:nvPr>
        </p:nvSpPr>
        <p:spPr>
          <a:xfrm>
            <a:off x="6325453" y="1210101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29" name="Shape 27"/>
          <p:cNvSpPr/>
          <p:nvPr>
            <p:custDataLst>
              <p:tags r:id="rId24"/>
            </p:custDataLst>
          </p:nvPr>
        </p:nvSpPr>
        <p:spPr>
          <a:xfrm>
            <a:off x="6430086" y="1337481"/>
            <a:ext cx="227463" cy="181970"/>
          </a:xfrm>
          <a:custGeom>
            <a:avLst/>
            <a:gdLst/>
            <a:ahLst/>
            <a:cxnLst/>
            <a:rect l="l" t="t" r="r" b="b"/>
            <a:pathLst>
              <a:path w="227463" h="181970">
                <a:moveTo>
                  <a:pt x="113731" y="5687"/>
                </a:moveTo>
                <a:cubicBezTo>
                  <a:pt x="134132" y="5687"/>
                  <a:pt x="150694" y="22249"/>
                  <a:pt x="150694" y="42649"/>
                </a:cubicBezTo>
                <a:cubicBezTo>
                  <a:pt x="150694" y="63050"/>
                  <a:pt x="134132" y="79612"/>
                  <a:pt x="113731" y="79612"/>
                </a:cubicBezTo>
                <a:cubicBezTo>
                  <a:pt x="93331" y="79612"/>
                  <a:pt x="76769" y="63050"/>
                  <a:pt x="76769" y="42649"/>
                </a:cubicBezTo>
                <a:cubicBezTo>
                  <a:pt x="76769" y="22249"/>
                  <a:pt x="93331" y="5687"/>
                  <a:pt x="113731" y="5687"/>
                </a:cubicBezTo>
                <a:close/>
                <a:moveTo>
                  <a:pt x="34119" y="31276"/>
                </a:moveTo>
                <a:cubicBezTo>
                  <a:pt x="48243" y="31276"/>
                  <a:pt x="59709" y="42742"/>
                  <a:pt x="59709" y="56866"/>
                </a:cubicBezTo>
                <a:cubicBezTo>
                  <a:pt x="59709" y="70989"/>
                  <a:pt x="48243" y="82455"/>
                  <a:pt x="34119" y="82455"/>
                </a:cubicBezTo>
                <a:cubicBezTo>
                  <a:pt x="19996" y="82455"/>
                  <a:pt x="8530" y="70989"/>
                  <a:pt x="8530" y="56866"/>
                </a:cubicBezTo>
                <a:cubicBezTo>
                  <a:pt x="8530" y="42742"/>
                  <a:pt x="19996" y="31276"/>
                  <a:pt x="34119" y="31276"/>
                </a:cubicBezTo>
                <a:close/>
                <a:moveTo>
                  <a:pt x="0" y="147851"/>
                </a:moveTo>
                <a:cubicBezTo>
                  <a:pt x="0" y="122723"/>
                  <a:pt x="20365" y="102358"/>
                  <a:pt x="45493" y="102358"/>
                </a:cubicBezTo>
                <a:cubicBezTo>
                  <a:pt x="50042" y="102358"/>
                  <a:pt x="54449" y="103033"/>
                  <a:pt x="58607" y="104277"/>
                </a:cubicBezTo>
                <a:cubicBezTo>
                  <a:pt x="46914" y="117357"/>
                  <a:pt x="39806" y="134629"/>
                  <a:pt x="39806" y="153537"/>
                </a:cubicBezTo>
                <a:lnTo>
                  <a:pt x="39806" y="159224"/>
                </a:lnTo>
                <a:cubicBezTo>
                  <a:pt x="39806" y="163276"/>
                  <a:pt x="40659" y="167114"/>
                  <a:pt x="42187" y="170597"/>
                </a:cubicBezTo>
                <a:lnTo>
                  <a:pt x="11373" y="170597"/>
                </a:lnTo>
                <a:cubicBezTo>
                  <a:pt x="5082" y="170597"/>
                  <a:pt x="0" y="165515"/>
                  <a:pt x="0" y="159224"/>
                </a:cubicBezTo>
                <a:lnTo>
                  <a:pt x="0" y="147851"/>
                </a:lnTo>
                <a:close/>
                <a:moveTo>
                  <a:pt x="185275" y="170597"/>
                </a:moveTo>
                <a:cubicBezTo>
                  <a:pt x="186804" y="167114"/>
                  <a:pt x="187657" y="163276"/>
                  <a:pt x="187657" y="159224"/>
                </a:cubicBezTo>
                <a:lnTo>
                  <a:pt x="187657" y="153537"/>
                </a:lnTo>
                <a:cubicBezTo>
                  <a:pt x="187657" y="134629"/>
                  <a:pt x="180549" y="117357"/>
                  <a:pt x="168856" y="104277"/>
                </a:cubicBezTo>
                <a:cubicBezTo>
                  <a:pt x="173014" y="103033"/>
                  <a:pt x="177421" y="102358"/>
                  <a:pt x="181970" y="102358"/>
                </a:cubicBezTo>
                <a:cubicBezTo>
                  <a:pt x="207098" y="102358"/>
                  <a:pt x="227463" y="122723"/>
                  <a:pt x="227463" y="147851"/>
                </a:cubicBezTo>
                <a:lnTo>
                  <a:pt x="227463" y="159224"/>
                </a:lnTo>
                <a:cubicBezTo>
                  <a:pt x="227463" y="165515"/>
                  <a:pt x="222380" y="170597"/>
                  <a:pt x="216090" y="170597"/>
                </a:cubicBezTo>
                <a:lnTo>
                  <a:pt x="185275" y="170597"/>
                </a:lnTo>
                <a:close/>
                <a:moveTo>
                  <a:pt x="167754" y="56866"/>
                </a:moveTo>
                <a:cubicBezTo>
                  <a:pt x="167754" y="42742"/>
                  <a:pt x="179220" y="31276"/>
                  <a:pt x="193343" y="31276"/>
                </a:cubicBezTo>
                <a:cubicBezTo>
                  <a:pt x="207467" y="31276"/>
                  <a:pt x="218933" y="42742"/>
                  <a:pt x="218933" y="56866"/>
                </a:cubicBezTo>
                <a:cubicBezTo>
                  <a:pt x="218933" y="70989"/>
                  <a:pt x="207467" y="82455"/>
                  <a:pt x="193343" y="82455"/>
                </a:cubicBezTo>
                <a:cubicBezTo>
                  <a:pt x="179220" y="82455"/>
                  <a:pt x="167754" y="70989"/>
                  <a:pt x="167754" y="56866"/>
                </a:cubicBezTo>
                <a:close/>
                <a:moveTo>
                  <a:pt x="56866" y="153537"/>
                </a:moveTo>
                <a:cubicBezTo>
                  <a:pt x="56866" y="122119"/>
                  <a:pt x="82313" y="96672"/>
                  <a:pt x="113731" y="96672"/>
                </a:cubicBezTo>
                <a:cubicBezTo>
                  <a:pt x="145150" y="96672"/>
                  <a:pt x="170597" y="122119"/>
                  <a:pt x="170597" y="153537"/>
                </a:cubicBezTo>
                <a:lnTo>
                  <a:pt x="170597" y="159224"/>
                </a:lnTo>
                <a:cubicBezTo>
                  <a:pt x="170597" y="165515"/>
                  <a:pt x="165515" y="170597"/>
                  <a:pt x="159224" y="170597"/>
                </a:cubicBezTo>
                <a:lnTo>
                  <a:pt x="68239" y="170597"/>
                </a:lnTo>
                <a:cubicBezTo>
                  <a:pt x="61948" y="170597"/>
                  <a:pt x="56866" y="165515"/>
                  <a:pt x="56866" y="159224"/>
                </a:cubicBezTo>
                <a:lnTo>
                  <a:pt x="56866" y="153537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6871363" y="1301087"/>
            <a:ext cx="1774209" cy="2547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5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Support Multijoueur</a:t>
            </a:r>
            <a:endParaRPr lang="en-US" sz="1600" dirty="0"/>
          </a:p>
        </p:txBody>
      </p:sp>
      <p:sp>
        <p:nvSpPr>
          <p:cNvPr id="31" name="Text 29"/>
          <p:cNvSpPr/>
          <p:nvPr>
            <p:custDataLst>
              <p:tags r:id="rId26"/>
            </p:custDataLst>
          </p:nvPr>
        </p:nvSpPr>
        <p:spPr>
          <a:xfrm>
            <a:off x="6325453" y="1719618"/>
            <a:ext cx="5422710" cy="473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Environnement 2-4 joueurs avec représentation d'état étendue (25D), gestion direction et effets spéciaux adaptés.</a:t>
            </a:r>
            <a:endParaRPr lang="en-US" sz="1600" dirty="0"/>
          </a:p>
        </p:txBody>
      </p:sp>
      <p:sp>
        <p:nvSpPr>
          <p:cNvPr id="32" name="Shape 30"/>
          <p:cNvSpPr/>
          <p:nvPr>
            <p:custDataLst>
              <p:tags r:id="rId27"/>
            </p:custDataLst>
          </p:nvPr>
        </p:nvSpPr>
        <p:spPr>
          <a:xfrm>
            <a:off x="6343650" y="2292824"/>
            <a:ext cx="127379" cy="127379"/>
          </a:xfrm>
          <a:custGeom>
            <a:avLst/>
            <a:gdLst/>
            <a:ahLst/>
            <a:cxnLst/>
            <a:rect l="l" t="t" r="r" b="b"/>
            <a:pathLst>
              <a:path w="127379" h="127379">
                <a:moveTo>
                  <a:pt x="119443" y="47767"/>
                </a:moveTo>
                <a:lnTo>
                  <a:pt x="121408" y="47767"/>
                </a:lnTo>
                <a:cubicBezTo>
                  <a:pt x="124717" y="47767"/>
                  <a:pt x="127379" y="45105"/>
                  <a:pt x="127379" y="41796"/>
                </a:cubicBezTo>
                <a:lnTo>
                  <a:pt x="127379" y="5971"/>
                </a:lnTo>
                <a:cubicBezTo>
                  <a:pt x="127379" y="3558"/>
                  <a:pt x="125936" y="1368"/>
                  <a:pt x="123697" y="448"/>
                </a:cubicBezTo>
                <a:cubicBezTo>
                  <a:pt x="121458" y="-473"/>
                  <a:pt x="118895" y="50"/>
                  <a:pt x="117179" y="1742"/>
                </a:cubicBezTo>
                <a:lnTo>
                  <a:pt x="104317" y="14629"/>
                </a:lnTo>
                <a:cubicBezTo>
                  <a:pt x="93295" y="5498"/>
                  <a:pt x="79114" y="0"/>
                  <a:pt x="63690" y="0"/>
                </a:cubicBezTo>
                <a:cubicBezTo>
                  <a:pt x="31596" y="0"/>
                  <a:pt x="5050" y="23734"/>
                  <a:pt x="647" y="54609"/>
                </a:cubicBezTo>
                <a:cubicBezTo>
                  <a:pt x="25" y="58963"/>
                  <a:pt x="3035" y="62993"/>
                  <a:pt x="7389" y="63615"/>
                </a:cubicBezTo>
                <a:cubicBezTo>
                  <a:pt x="11743" y="64237"/>
                  <a:pt x="15773" y="61202"/>
                  <a:pt x="16395" y="56873"/>
                </a:cubicBezTo>
                <a:cubicBezTo>
                  <a:pt x="19704" y="33711"/>
                  <a:pt x="39632" y="15922"/>
                  <a:pt x="63690" y="15922"/>
                </a:cubicBezTo>
                <a:cubicBezTo>
                  <a:pt x="74736" y="15922"/>
                  <a:pt x="84886" y="19654"/>
                  <a:pt x="92972" y="25949"/>
                </a:cubicBezTo>
                <a:lnTo>
                  <a:pt x="81353" y="37567"/>
                </a:lnTo>
                <a:cubicBezTo>
                  <a:pt x="79637" y="39284"/>
                  <a:pt x="79139" y="41846"/>
                  <a:pt x="80060" y="44085"/>
                </a:cubicBezTo>
                <a:cubicBezTo>
                  <a:pt x="80980" y="46324"/>
                  <a:pt x="83170" y="47767"/>
                  <a:pt x="85583" y="47767"/>
                </a:cubicBezTo>
                <a:lnTo>
                  <a:pt x="119443" y="47767"/>
                </a:lnTo>
                <a:close/>
                <a:moveTo>
                  <a:pt x="126757" y="72770"/>
                </a:moveTo>
                <a:cubicBezTo>
                  <a:pt x="127379" y="68417"/>
                  <a:pt x="124344" y="64386"/>
                  <a:pt x="120015" y="63764"/>
                </a:cubicBezTo>
                <a:cubicBezTo>
                  <a:pt x="115686" y="63142"/>
                  <a:pt x="111631" y="66177"/>
                  <a:pt x="111009" y="70506"/>
                </a:cubicBezTo>
                <a:cubicBezTo>
                  <a:pt x="107700" y="93644"/>
                  <a:pt x="87772" y="111432"/>
                  <a:pt x="63714" y="111432"/>
                </a:cubicBezTo>
                <a:cubicBezTo>
                  <a:pt x="52668" y="111432"/>
                  <a:pt x="42518" y="107700"/>
                  <a:pt x="34432" y="101406"/>
                </a:cubicBezTo>
                <a:lnTo>
                  <a:pt x="46026" y="89812"/>
                </a:lnTo>
                <a:cubicBezTo>
                  <a:pt x="47742" y="88096"/>
                  <a:pt x="48240" y="85533"/>
                  <a:pt x="47319" y="83294"/>
                </a:cubicBezTo>
                <a:cubicBezTo>
                  <a:pt x="46399" y="81055"/>
                  <a:pt x="44210" y="79612"/>
                  <a:pt x="41796" y="79612"/>
                </a:cubicBezTo>
                <a:lnTo>
                  <a:pt x="5971" y="79612"/>
                </a:lnTo>
                <a:cubicBezTo>
                  <a:pt x="2662" y="79612"/>
                  <a:pt x="0" y="82274"/>
                  <a:pt x="0" y="85583"/>
                </a:cubicBezTo>
                <a:lnTo>
                  <a:pt x="0" y="121408"/>
                </a:lnTo>
                <a:cubicBezTo>
                  <a:pt x="0" y="123821"/>
                  <a:pt x="1443" y="126011"/>
                  <a:pt x="3682" y="126931"/>
                </a:cubicBezTo>
                <a:cubicBezTo>
                  <a:pt x="5921" y="127852"/>
                  <a:pt x="8484" y="127329"/>
                  <a:pt x="10200" y="125638"/>
                </a:cubicBezTo>
                <a:lnTo>
                  <a:pt x="23087" y="112750"/>
                </a:lnTo>
                <a:cubicBezTo>
                  <a:pt x="34084" y="121881"/>
                  <a:pt x="48265" y="127379"/>
                  <a:pt x="63690" y="127379"/>
                </a:cubicBezTo>
                <a:cubicBezTo>
                  <a:pt x="95783" y="127379"/>
                  <a:pt x="122329" y="103645"/>
                  <a:pt x="126732" y="7277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33" name="Text 31"/>
          <p:cNvSpPr/>
          <p:nvPr>
            <p:custDataLst>
              <p:tags r:id="rId28"/>
            </p:custDataLst>
          </p:nvPr>
        </p:nvSpPr>
        <p:spPr>
          <a:xfrm>
            <a:off x="6557465" y="2265528"/>
            <a:ext cx="1437564" cy="181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Turn direction CW/CCW</a:t>
            </a:r>
            <a:endParaRPr lang="en-US" sz="1600" dirty="0"/>
          </a:p>
        </p:txBody>
      </p:sp>
      <p:sp>
        <p:nvSpPr>
          <p:cNvPr id="34" name="Shape 32"/>
          <p:cNvSpPr/>
          <p:nvPr>
            <p:custDataLst>
              <p:tags r:id="rId29"/>
            </p:custDataLst>
          </p:nvPr>
        </p:nvSpPr>
        <p:spPr>
          <a:xfrm>
            <a:off x="6175328" y="2715904"/>
            <a:ext cx="5650173" cy="1537648"/>
          </a:xfrm>
          <a:custGeom>
            <a:avLst/>
            <a:gdLst/>
            <a:ahLst/>
            <a:cxnLst/>
            <a:rect l="l" t="t" r="r" b="b"/>
            <a:pathLst>
              <a:path w="5650173" h="1537648">
                <a:moveTo>
                  <a:pt x="109188" y="0"/>
                </a:moveTo>
                <a:lnTo>
                  <a:pt x="5540985" y="0"/>
                </a:lnTo>
                <a:cubicBezTo>
                  <a:pt x="5601288" y="0"/>
                  <a:pt x="5650173" y="48885"/>
                  <a:pt x="5650173" y="109188"/>
                </a:cubicBezTo>
                <a:lnTo>
                  <a:pt x="5650173" y="1428459"/>
                </a:lnTo>
                <a:cubicBezTo>
                  <a:pt x="5650173" y="1488762"/>
                  <a:pt x="5601288" y="1537648"/>
                  <a:pt x="5540985" y="1537648"/>
                </a:cubicBezTo>
                <a:lnTo>
                  <a:pt x="109188" y="1537648"/>
                </a:lnTo>
                <a:cubicBezTo>
                  <a:pt x="48885" y="1537648"/>
                  <a:pt x="0" y="1488762"/>
                  <a:pt x="0" y="1428459"/>
                </a:cubicBezTo>
                <a:lnTo>
                  <a:pt x="0" y="109188"/>
                </a:lnTo>
                <a:cubicBezTo>
                  <a:pt x="0" y="48926"/>
                  <a:pt x="48926" y="0"/>
                  <a:pt x="1091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5" name="Shape 33"/>
          <p:cNvSpPr/>
          <p:nvPr>
            <p:custDataLst>
              <p:tags r:id="rId30"/>
            </p:custDataLst>
          </p:nvPr>
        </p:nvSpPr>
        <p:spPr>
          <a:xfrm>
            <a:off x="6325453" y="2866030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36" name="Shape 34"/>
          <p:cNvSpPr/>
          <p:nvPr>
            <p:custDataLst>
              <p:tags r:id="rId31"/>
            </p:custDataLst>
          </p:nvPr>
        </p:nvSpPr>
        <p:spPr>
          <a:xfrm>
            <a:off x="6452832" y="2993409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23422" y="81211"/>
                </a:moveTo>
                <a:cubicBezTo>
                  <a:pt x="28149" y="48158"/>
                  <a:pt x="56617" y="22746"/>
                  <a:pt x="90985" y="22746"/>
                </a:cubicBezTo>
                <a:cubicBezTo>
                  <a:pt x="109822" y="22746"/>
                  <a:pt x="126882" y="30388"/>
                  <a:pt x="139250" y="42720"/>
                </a:cubicBezTo>
                <a:cubicBezTo>
                  <a:pt x="139321" y="42791"/>
                  <a:pt x="139392" y="42863"/>
                  <a:pt x="139463" y="42934"/>
                </a:cubicBezTo>
                <a:lnTo>
                  <a:pt x="142164" y="45493"/>
                </a:lnTo>
                <a:lnTo>
                  <a:pt x="125140" y="45493"/>
                </a:lnTo>
                <a:cubicBezTo>
                  <a:pt x="118849" y="45493"/>
                  <a:pt x="113767" y="50575"/>
                  <a:pt x="113767" y="56866"/>
                </a:cubicBezTo>
                <a:cubicBezTo>
                  <a:pt x="113767" y="63156"/>
                  <a:pt x="118849" y="68239"/>
                  <a:pt x="125140" y="68239"/>
                </a:cubicBezTo>
                <a:lnTo>
                  <a:pt x="170633" y="68239"/>
                </a:lnTo>
                <a:cubicBezTo>
                  <a:pt x="176923" y="68239"/>
                  <a:pt x="182006" y="63156"/>
                  <a:pt x="182006" y="56866"/>
                </a:cubicBezTo>
                <a:lnTo>
                  <a:pt x="182006" y="11373"/>
                </a:lnTo>
                <a:cubicBezTo>
                  <a:pt x="182006" y="5082"/>
                  <a:pt x="176923" y="0"/>
                  <a:pt x="170633" y="0"/>
                </a:cubicBezTo>
                <a:cubicBezTo>
                  <a:pt x="164342" y="0"/>
                  <a:pt x="159259" y="5082"/>
                  <a:pt x="159259" y="11373"/>
                </a:cubicBezTo>
                <a:lnTo>
                  <a:pt x="159259" y="30352"/>
                </a:lnTo>
                <a:lnTo>
                  <a:pt x="155243" y="26549"/>
                </a:lnTo>
                <a:cubicBezTo>
                  <a:pt x="138788" y="10165"/>
                  <a:pt x="116042" y="0"/>
                  <a:pt x="90985" y="0"/>
                </a:cubicBezTo>
                <a:cubicBezTo>
                  <a:pt x="45137" y="0"/>
                  <a:pt x="7215" y="33906"/>
                  <a:pt x="924" y="78013"/>
                </a:cubicBezTo>
                <a:cubicBezTo>
                  <a:pt x="36" y="84232"/>
                  <a:pt x="4336" y="89990"/>
                  <a:pt x="10556" y="90878"/>
                </a:cubicBezTo>
                <a:cubicBezTo>
                  <a:pt x="16775" y="91767"/>
                  <a:pt x="22533" y="87431"/>
                  <a:pt x="23422" y="81247"/>
                </a:cubicBezTo>
                <a:close/>
                <a:moveTo>
                  <a:pt x="181046" y="103958"/>
                </a:moveTo>
                <a:cubicBezTo>
                  <a:pt x="181935" y="97738"/>
                  <a:pt x="177599" y="91980"/>
                  <a:pt x="171414" y="91092"/>
                </a:cubicBezTo>
                <a:cubicBezTo>
                  <a:pt x="165230" y="90203"/>
                  <a:pt x="159437" y="94539"/>
                  <a:pt x="158549" y="100723"/>
                </a:cubicBezTo>
                <a:cubicBezTo>
                  <a:pt x="153822" y="133776"/>
                  <a:pt x="125353" y="159188"/>
                  <a:pt x="90985" y="159188"/>
                </a:cubicBezTo>
                <a:cubicBezTo>
                  <a:pt x="72148" y="159188"/>
                  <a:pt x="55089" y="151547"/>
                  <a:pt x="42720" y="139214"/>
                </a:cubicBezTo>
                <a:cubicBezTo>
                  <a:pt x="42649" y="139143"/>
                  <a:pt x="42578" y="139072"/>
                  <a:pt x="42507" y="139001"/>
                </a:cubicBezTo>
                <a:lnTo>
                  <a:pt x="39806" y="136442"/>
                </a:lnTo>
                <a:lnTo>
                  <a:pt x="56830" y="136442"/>
                </a:lnTo>
                <a:cubicBezTo>
                  <a:pt x="63121" y="136442"/>
                  <a:pt x="68203" y="131360"/>
                  <a:pt x="68203" y="125069"/>
                </a:cubicBezTo>
                <a:cubicBezTo>
                  <a:pt x="68203" y="118778"/>
                  <a:pt x="63121" y="113696"/>
                  <a:pt x="56830" y="113696"/>
                </a:cubicBezTo>
                <a:lnTo>
                  <a:pt x="11373" y="113731"/>
                </a:lnTo>
                <a:cubicBezTo>
                  <a:pt x="8352" y="113731"/>
                  <a:pt x="5438" y="114940"/>
                  <a:pt x="3305" y="117108"/>
                </a:cubicBezTo>
                <a:cubicBezTo>
                  <a:pt x="1173" y="119276"/>
                  <a:pt x="-36" y="122155"/>
                  <a:pt x="0" y="125211"/>
                </a:cubicBezTo>
                <a:lnTo>
                  <a:pt x="355" y="170348"/>
                </a:lnTo>
                <a:cubicBezTo>
                  <a:pt x="391" y="176639"/>
                  <a:pt x="5544" y="181686"/>
                  <a:pt x="11835" y="181615"/>
                </a:cubicBezTo>
                <a:cubicBezTo>
                  <a:pt x="18126" y="181544"/>
                  <a:pt x="23173" y="176426"/>
                  <a:pt x="23102" y="170135"/>
                </a:cubicBezTo>
                <a:lnTo>
                  <a:pt x="22960" y="151831"/>
                </a:lnTo>
                <a:lnTo>
                  <a:pt x="26762" y="155421"/>
                </a:lnTo>
                <a:cubicBezTo>
                  <a:pt x="43218" y="171805"/>
                  <a:pt x="65929" y="181970"/>
                  <a:pt x="90985" y="181970"/>
                </a:cubicBezTo>
                <a:cubicBezTo>
                  <a:pt x="136833" y="181970"/>
                  <a:pt x="174755" y="148064"/>
                  <a:pt x="181046" y="103958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37" name="Text 35"/>
          <p:cNvSpPr/>
          <p:nvPr>
            <p:custDataLst>
              <p:tags r:id="rId32"/>
            </p:custDataLst>
          </p:nvPr>
        </p:nvSpPr>
        <p:spPr>
          <a:xfrm>
            <a:off x="6871363" y="2957015"/>
            <a:ext cx="1928884" cy="2547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5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Framework Auto-Play</a:t>
            </a:r>
            <a:endParaRPr lang="en-US" sz="1600" dirty="0"/>
          </a:p>
        </p:txBody>
      </p:sp>
      <p:sp>
        <p:nvSpPr>
          <p:cNvPr id="38" name="Text 36"/>
          <p:cNvSpPr/>
          <p:nvPr>
            <p:custDataLst>
              <p:tags r:id="rId33"/>
            </p:custDataLst>
          </p:nvPr>
        </p:nvSpPr>
        <p:spPr>
          <a:xfrm>
            <a:off x="6325453" y="3375546"/>
            <a:ext cx="5422710" cy="473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Système d'entraînement avec curriculum learning contre versions de soi-même, ciblant </a:t>
            </a:r>
            <a:r>
              <a:rPr lang="" alt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</a:t>
            </a:r>
            <a:r>
              <a:rPr 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0%+ de win rate.</a:t>
            </a:r>
            <a:endParaRPr lang="en-US" sz="1600" dirty="0"/>
          </a:p>
        </p:txBody>
      </p:sp>
      <p:sp>
        <p:nvSpPr>
          <p:cNvPr id="39" name="Shape 37"/>
          <p:cNvSpPr/>
          <p:nvPr>
            <p:custDataLst>
              <p:tags r:id="rId34"/>
            </p:custDataLst>
          </p:nvPr>
        </p:nvSpPr>
        <p:spPr>
          <a:xfrm>
            <a:off x="6335689" y="3948752"/>
            <a:ext cx="143301" cy="127379"/>
          </a:xfrm>
          <a:custGeom>
            <a:avLst/>
            <a:gdLst/>
            <a:ahLst/>
            <a:cxnLst/>
            <a:rect l="l" t="t" r="r" b="b"/>
            <a:pathLst>
              <a:path w="143301" h="127379">
                <a:moveTo>
                  <a:pt x="11942" y="48713"/>
                </a:moveTo>
                <a:lnTo>
                  <a:pt x="63988" y="70133"/>
                </a:lnTo>
                <a:cubicBezTo>
                  <a:pt x="66426" y="71128"/>
                  <a:pt x="69014" y="71651"/>
                  <a:pt x="71651" y="71651"/>
                </a:cubicBezTo>
                <a:cubicBezTo>
                  <a:pt x="74288" y="71651"/>
                  <a:pt x="76875" y="71128"/>
                  <a:pt x="79313" y="70133"/>
                </a:cubicBezTo>
                <a:lnTo>
                  <a:pt x="139619" y="45304"/>
                </a:lnTo>
                <a:cubicBezTo>
                  <a:pt x="141859" y="44384"/>
                  <a:pt x="143301" y="42219"/>
                  <a:pt x="143301" y="39806"/>
                </a:cubicBezTo>
                <a:cubicBezTo>
                  <a:pt x="143301" y="37393"/>
                  <a:pt x="141859" y="35228"/>
                  <a:pt x="139619" y="34308"/>
                </a:cubicBezTo>
                <a:lnTo>
                  <a:pt x="79313" y="9479"/>
                </a:lnTo>
                <a:cubicBezTo>
                  <a:pt x="76875" y="8484"/>
                  <a:pt x="74288" y="7961"/>
                  <a:pt x="71651" y="7961"/>
                </a:cubicBezTo>
                <a:cubicBezTo>
                  <a:pt x="69014" y="7961"/>
                  <a:pt x="66426" y="8484"/>
                  <a:pt x="63988" y="9479"/>
                </a:cubicBezTo>
                <a:lnTo>
                  <a:pt x="3682" y="34308"/>
                </a:lnTo>
                <a:cubicBezTo>
                  <a:pt x="1443" y="35228"/>
                  <a:pt x="0" y="37393"/>
                  <a:pt x="0" y="39806"/>
                </a:cubicBezTo>
                <a:lnTo>
                  <a:pt x="0" y="113447"/>
                </a:lnTo>
                <a:cubicBezTo>
                  <a:pt x="0" y="116756"/>
                  <a:pt x="2662" y="119418"/>
                  <a:pt x="5971" y="119418"/>
                </a:cubicBezTo>
                <a:cubicBezTo>
                  <a:pt x="9280" y="119418"/>
                  <a:pt x="11942" y="116756"/>
                  <a:pt x="11942" y="113447"/>
                </a:cubicBezTo>
                <a:lnTo>
                  <a:pt x="11942" y="48713"/>
                </a:lnTo>
                <a:close/>
                <a:moveTo>
                  <a:pt x="23884" y="66551"/>
                </a:moveTo>
                <a:lnTo>
                  <a:pt x="23884" y="95534"/>
                </a:lnTo>
                <a:cubicBezTo>
                  <a:pt x="23884" y="108720"/>
                  <a:pt x="45279" y="119418"/>
                  <a:pt x="71651" y="119418"/>
                </a:cubicBezTo>
                <a:cubicBezTo>
                  <a:pt x="98022" y="119418"/>
                  <a:pt x="119418" y="108720"/>
                  <a:pt x="119418" y="95534"/>
                </a:cubicBezTo>
                <a:lnTo>
                  <a:pt x="119418" y="66526"/>
                </a:lnTo>
                <a:lnTo>
                  <a:pt x="83866" y="81179"/>
                </a:lnTo>
                <a:cubicBezTo>
                  <a:pt x="79985" y="82772"/>
                  <a:pt x="75855" y="83593"/>
                  <a:pt x="71651" y="83593"/>
                </a:cubicBezTo>
                <a:cubicBezTo>
                  <a:pt x="67446" y="83593"/>
                  <a:pt x="63316" y="82772"/>
                  <a:pt x="59435" y="81179"/>
                </a:cubicBezTo>
                <a:lnTo>
                  <a:pt x="23884" y="66526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0" name="Text 38"/>
          <p:cNvSpPr/>
          <p:nvPr>
            <p:custDataLst>
              <p:tags r:id="rId35"/>
            </p:custDataLst>
          </p:nvPr>
        </p:nvSpPr>
        <p:spPr>
          <a:xfrm>
            <a:off x="6557465" y="3921457"/>
            <a:ext cx="1191904" cy="181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Curriculum adaptatif</a:t>
            </a:r>
            <a:endParaRPr lang="en-US" sz="1600" dirty="0"/>
          </a:p>
        </p:txBody>
      </p:sp>
      <p:sp>
        <p:nvSpPr>
          <p:cNvPr id="41" name="Shape 39"/>
          <p:cNvSpPr/>
          <p:nvPr>
            <p:custDataLst>
              <p:tags r:id="rId36"/>
            </p:custDataLst>
          </p:nvPr>
        </p:nvSpPr>
        <p:spPr>
          <a:xfrm>
            <a:off x="6175328" y="4371833"/>
            <a:ext cx="5650173" cy="1537648"/>
          </a:xfrm>
          <a:custGeom>
            <a:avLst/>
            <a:gdLst/>
            <a:ahLst/>
            <a:cxnLst/>
            <a:rect l="l" t="t" r="r" b="b"/>
            <a:pathLst>
              <a:path w="5650173" h="1537648">
                <a:moveTo>
                  <a:pt x="109188" y="0"/>
                </a:moveTo>
                <a:lnTo>
                  <a:pt x="5540985" y="0"/>
                </a:lnTo>
                <a:cubicBezTo>
                  <a:pt x="5601288" y="0"/>
                  <a:pt x="5650173" y="48885"/>
                  <a:pt x="5650173" y="109188"/>
                </a:cubicBezTo>
                <a:lnTo>
                  <a:pt x="5650173" y="1428459"/>
                </a:lnTo>
                <a:cubicBezTo>
                  <a:pt x="5650173" y="1488762"/>
                  <a:pt x="5601288" y="1537648"/>
                  <a:pt x="5540985" y="1537648"/>
                </a:cubicBezTo>
                <a:lnTo>
                  <a:pt x="109188" y="1537648"/>
                </a:lnTo>
                <a:cubicBezTo>
                  <a:pt x="48885" y="1537648"/>
                  <a:pt x="0" y="1488762"/>
                  <a:pt x="0" y="1428459"/>
                </a:cubicBezTo>
                <a:lnTo>
                  <a:pt x="0" y="109188"/>
                </a:lnTo>
                <a:cubicBezTo>
                  <a:pt x="0" y="48926"/>
                  <a:pt x="48926" y="0"/>
                  <a:pt x="1091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2" name="Shape 40"/>
          <p:cNvSpPr/>
          <p:nvPr>
            <p:custDataLst>
              <p:tags r:id="rId37"/>
            </p:custDataLst>
          </p:nvPr>
        </p:nvSpPr>
        <p:spPr>
          <a:xfrm>
            <a:off x="6325453" y="4521958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72790" y="0"/>
                </a:moveTo>
                <a:lnTo>
                  <a:pt x="363939" y="0"/>
                </a:lnTo>
                <a:cubicBezTo>
                  <a:pt x="404112" y="0"/>
                  <a:pt x="436728" y="32616"/>
                  <a:pt x="436728" y="72790"/>
                </a:cubicBezTo>
                <a:lnTo>
                  <a:pt x="436728" y="363939"/>
                </a:lnTo>
                <a:cubicBezTo>
                  <a:pt x="436728" y="404139"/>
                  <a:pt x="404139" y="436728"/>
                  <a:pt x="363939" y="436728"/>
                </a:cubicBezTo>
                <a:lnTo>
                  <a:pt x="72790" y="436728"/>
                </a:lnTo>
                <a:cubicBezTo>
                  <a:pt x="32616" y="436728"/>
                  <a:pt x="0" y="404112"/>
                  <a:pt x="0" y="363939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43" name="Shape 41"/>
          <p:cNvSpPr/>
          <p:nvPr>
            <p:custDataLst>
              <p:tags r:id="rId38"/>
            </p:custDataLst>
          </p:nvPr>
        </p:nvSpPr>
        <p:spPr>
          <a:xfrm>
            <a:off x="6475578" y="4649337"/>
            <a:ext cx="136478" cy="181970"/>
          </a:xfrm>
          <a:custGeom>
            <a:avLst/>
            <a:gdLst/>
            <a:ahLst/>
            <a:cxnLst/>
            <a:rect l="l" t="t" r="r" b="b"/>
            <a:pathLst>
              <a:path w="136478" h="181970">
                <a:moveTo>
                  <a:pt x="0" y="22746"/>
                </a:moveTo>
                <a:cubicBezTo>
                  <a:pt x="0" y="10200"/>
                  <a:pt x="10200" y="0"/>
                  <a:pt x="22746" y="0"/>
                </a:cubicBezTo>
                <a:lnTo>
                  <a:pt x="75880" y="0"/>
                </a:lnTo>
                <a:cubicBezTo>
                  <a:pt x="81922" y="0"/>
                  <a:pt x="87715" y="2381"/>
                  <a:pt x="91980" y="6646"/>
                </a:cubicBezTo>
                <a:lnTo>
                  <a:pt x="129831" y="44533"/>
                </a:lnTo>
                <a:cubicBezTo>
                  <a:pt x="134096" y="48798"/>
                  <a:pt x="136478" y="54591"/>
                  <a:pt x="136478" y="60633"/>
                </a:cubicBezTo>
                <a:lnTo>
                  <a:pt x="136478" y="159224"/>
                </a:lnTo>
                <a:cubicBezTo>
                  <a:pt x="136478" y="171770"/>
                  <a:pt x="126277" y="181970"/>
                  <a:pt x="113731" y="181970"/>
                </a:cubicBezTo>
                <a:lnTo>
                  <a:pt x="22746" y="181970"/>
                </a:lnTo>
                <a:cubicBezTo>
                  <a:pt x="10200" y="181970"/>
                  <a:pt x="0" y="171770"/>
                  <a:pt x="0" y="159224"/>
                </a:cubicBezTo>
                <a:lnTo>
                  <a:pt x="0" y="22746"/>
                </a:lnTo>
                <a:close/>
                <a:moveTo>
                  <a:pt x="73925" y="20792"/>
                </a:moveTo>
                <a:lnTo>
                  <a:pt x="73925" y="54022"/>
                </a:lnTo>
                <a:cubicBezTo>
                  <a:pt x="73925" y="58749"/>
                  <a:pt x="77728" y="62552"/>
                  <a:pt x="82455" y="62552"/>
                </a:cubicBezTo>
                <a:lnTo>
                  <a:pt x="115686" y="62552"/>
                </a:lnTo>
                <a:lnTo>
                  <a:pt x="73925" y="20792"/>
                </a:lnTo>
                <a:close/>
                <a:moveTo>
                  <a:pt x="42649" y="90985"/>
                </a:moveTo>
                <a:cubicBezTo>
                  <a:pt x="37922" y="90985"/>
                  <a:pt x="34119" y="94788"/>
                  <a:pt x="34119" y="99515"/>
                </a:cubicBezTo>
                <a:cubicBezTo>
                  <a:pt x="34119" y="104242"/>
                  <a:pt x="37922" y="108045"/>
                  <a:pt x="42649" y="108045"/>
                </a:cubicBezTo>
                <a:lnTo>
                  <a:pt x="93828" y="108045"/>
                </a:lnTo>
                <a:cubicBezTo>
                  <a:pt x="98555" y="108045"/>
                  <a:pt x="102358" y="104242"/>
                  <a:pt x="102358" y="99515"/>
                </a:cubicBezTo>
                <a:cubicBezTo>
                  <a:pt x="102358" y="94788"/>
                  <a:pt x="98555" y="90985"/>
                  <a:pt x="93828" y="90985"/>
                </a:cubicBezTo>
                <a:lnTo>
                  <a:pt x="42649" y="90985"/>
                </a:lnTo>
                <a:close/>
                <a:moveTo>
                  <a:pt x="42649" y="125104"/>
                </a:moveTo>
                <a:cubicBezTo>
                  <a:pt x="37922" y="125104"/>
                  <a:pt x="34119" y="128907"/>
                  <a:pt x="34119" y="133634"/>
                </a:cubicBezTo>
                <a:cubicBezTo>
                  <a:pt x="34119" y="138361"/>
                  <a:pt x="37922" y="142164"/>
                  <a:pt x="42649" y="142164"/>
                </a:cubicBezTo>
                <a:lnTo>
                  <a:pt x="93828" y="142164"/>
                </a:lnTo>
                <a:cubicBezTo>
                  <a:pt x="98555" y="142164"/>
                  <a:pt x="102358" y="138361"/>
                  <a:pt x="102358" y="133634"/>
                </a:cubicBezTo>
                <a:cubicBezTo>
                  <a:pt x="102358" y="128907"/>
                  <a:pt x="98555" y="125104"/>
                  <a:pt x="93828" y="125104"/>
                </a:cubicBezTo>
                <a:lnTo>
                  <a:pt x="42649" y="125104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4" name="Text 42"/>
          <p:cNvSpPr/>
          <p:nvPr>
            <p:custDataLst>
              <p:tags r:id="rId39"/>
            </p:custDataLst>
          </p:nvPr>
        </p:nvSpPr>
        <p:spPr>
          <a:xfrm>
            <a:off x="6871335" y="4612640"/>
            <a:ext cx="4953635" cy="254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5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Documentation Complète</a:t>
            </a:r>
            <a:r>
              <a:rPr lang="" altLang="en-US" sz="1435" b="1" dirty="0">
                <a:solidFill>
                  <a:schemeClr val="bg1">
                    <a:lumMod val="75000"/>
                  </a:scheme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(readthedocs et pdf)</a:t>
            </a:r>
            <a:endParaRPr lang="" altLang="en-US" sz="1435" b="1" dirty="0">
              <a:solidFill>
                <a:schemeClr val="bg1">
                  <a:lumMod val="75000"/>
                </a:schemeClr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45" name="Text 43"/>
          <p:cNvSpPr/>
          <p:nvPr>
            <p:custDataLst>
              <p:tags r:id="rId40"/>
            </p:custDataLst>
          </p:nvPr>
        </p:nvSpPr>
        <p:spPr>
          <a:xfrm>
            <a:off x="6325453" y="5031475"/>
            <a:ext cx="5422710" cy="4731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Guides d'installation, référence API, documentation des hyperparamètres, et code source bien commenté.</a:t>
            </a:r>
            <a:endParaRPr lang="en-US" sz="1600" dirty="0"/>
          </a:p>
        </p:txBody>
      </p:sp>
      <p:sp>
        <p:nvSpPr>
          <p:cNvPr id="46" name="Shape 44"/>
          <p:cNvSpPr/>
          <p:nvPr>
            <p:custDataLst>
              <p:tags r:id="rId41"/>
            </p:custDataLst>
          </p:nvPr>
        </p:nvSpPr>
        <p:spPr>
          <a:xfrm>
            <a:off x="6351611" y="5604681"/>
            <a:ext cx="111457" cy="127379"/>
          </a:xfrm>
          <a:custGeom>
            <a:avLst/>
            <a:gdLst/>
            <a:ahLst/>
            <a:cxnLst/>
            <a:rect l="l" t="t" r="r" b="b"/>
            <a:pathLst>
              <a:path w="111457" h="127379">
                <a:moveTo>
                  <a:pt x="95534" y="127379"/>
                </a:moveTo>
                <a:lnTo>
                  <a:pt x="23884" y="127379"/>
                </a:lnTo>
                <a:cubicBezTo>
                  <a:pt x="10698" y="127379"/>
                  <a:pt x="0" y="116681"/>
                  <a:pt x="0" y="103496"/>
                </a:cubicBezTo>
                <a:lnTo>
                  <a:pt x="0" y="23884"/>
                </a:lnTo>
                <a:cubicBezTo>
                  <a:pt x="0" y="10698"/>
                  <a:pt x="10698" y="0"/>
                  <a:pt x="23884" y="0"/>
                </a:cubicBezTo>
                <a:lnTo>
                  <a:pt x="99515" y="0"/>
                </a:lnTo>
                <a:cubicBezTo>
                  <a:pt x="106108" y="0"/>
                  <a:pt x="111457" y="5349"/>
                  <a:pt x="111457" y="11942"/>
                </a:cubicBezTo>
                <a:lnTo>
                  <a:pt x="111457" y="83593"/>
                </a:lnTo>
                <a:cubicBezTo>
                  <a:pt x="111457" y="88792"/>
                  <a:pt x="108123" y="93221"/>
                  <a:pt x="103496" y="94863"/>
                </a:cubicBezTo>
                <a:lnTo>
                  <a:pt x="103496" y="111457"/>
                </a:lnTo>
                <a:cubicBezTo>
                  <a:pt x="107899" y="111457"/>
                  <a:pt x="111457" y="115014"/>
                  <a:pt x="111457" y="119418"/>
                </a:cubicBezTo>
                <a:cubicBezTo>
                  <a:pt x="111457" y="123821"/>
                  <a:pt x="107899" y="127379"/>
                  <a:pt x="103496" y="127379"/>
                </a:cubicBezTo>
                <a:lnTo>
                  <a:pt x="95534" y="127379"/>
                </a:lnTo>
                <a:close/>
                <a:moveTo>
                  <a:pt x="23884" y="95534"/>
                </a:moveTo>
                <a:cubicBezTo>
                  <a:pt x="19480" y="95534"/>
                  <a:pt x="15922" y="99092"/>
                  <a:pt x="15922" y="103496"/>
                </a:cubicBezTo>
                <a:cubicBezTo>
                  <a:pt x="15922" y="107899"/>
                  <a:pt x="19480" y="111457"/>
                  <a:pt x="23884" y="111457"/>
                </a:cubicBezTo>
                <a:lnTo>
                  <a:pt x="87573" y="111457"/>
                </a:lnTo>
                <a:lnTo>
                  <a:pt x="87573" y="95534"/>
                </a:lnTo>
                <a:lnTo>
                  <a:pt x="23884" y="95534"/>
                </a:lnTo>
                <a:close/>
                <a:moveTo>
                  <a:pt x="31845" y="37816"/>
                </a:moveTo>
                <a:cubicBezTo>
                  <a:pt x="31845" y="41125"/>
                  <a:pt x="34507" y="43787"/>
                  <a:pt x="37816" y="43787"/>
                </a:cubicBezTo>
                <a:lnTo>
                  <a:pt x="81602" y="43787"/>
                </a:lnTo>
                <a:cubicBezTo>
                  <a:pt x="84911" y="43787"/>
                  <a:pt x="87573" y="41125"/>
                  <a:pt x="87573" y="37816"/>
                </a:cubicBezTo>
                <a:cubicBezTo>
                  <a:pt x="87573" y="34507"/>
                  <a:pt x="84911" y="31845"/>
                  <a:pt x="81602" y="31845"/>
                </a:cubicBezTo>
                <a:lnTo>
                  <a:pt x="37816" y="31845"/>
                </a:lnTo>
                <a:cubicBezTo>
                  <a:pt x="34507" y="31845"/>
                  <a:pt x="31845" y="34507"/>
                  <a:pt x="31845" y="37816"/>
                </a:cubicBezTo>
                <a:close/>
                <a:moveTo>
                  <a:pt x="37816" y="55728"/>
                </a:moveTo>
                <a:cubicBezTo>
                  <a:pt x="34507" y="55728"/>
                  <a:pt x="31845" y="58390"/>
                  <a:pt x="31845" y="61699"/>
                </a:cubicBezTo>
                <a:cubicBezTo>
                  <a:pt x="31845" y="65008"/>
                  <a:pt x="34507" y="67670"/>
                  <a:pt x="37816" y="67670"/>
                </a:cubicBezTo>
                <a:lnTo>
                  <a:pt x="81602" y="67670"/>
                </a:lnTo>
                <a:cubicBezTo>
                  <a:pt x="84911" y="67670"/>
                  <a:pt x="87573" y="65008"/>
                  <a:pt x="87573" y="61699"/>
                </a:cubicBezTo>
                <a:cubicBezTo>
                  <a:pt x="87573" y="58390"/>
                  <a:pt x="84911" y="55728"/>
                  <a:pt x="81602" y="55728"/>
                </a:cubicBezTo>
                <a:lnTo>
                  <a:pt x="37816" y="55728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7" name="Text 45"/>
          <p:cNvSpPr/>
          <p:nvPr>
            <p:custDataLst>
              <p:tags r:id="rId42"/>
            </p:custDataLst>
          </p:nvPr>
        </p:nvSpPr>
        <p:spPr>
          <a:xfrm>
            <a:off x="6557465" y="5577385"/>
            <a:ext cx="1337481" cy="181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Installation &amp; référence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8490" y="6064155"/>
            <a:ext cx="11455021" cy="791570"/>
          </a:xfrm>
          <a:custGeom>
            <a:avLst/>
            <a:gdLst/>
            <a:ahLst/>
            <a:cxnLst/>
            <a:rect l="l" t="t" r="r" b="b"/>
            <a:pathLst>
              <a:path w="11455021" h="791570">
                <a:moveTo>
                  <a:pt x="109181" y="0"/>
                </a:moveTo>
                <a:lnTo>
                  <a:pt x="11345840" y="0"/>
                </a:lnTo>
                <a:cubicBezTo>
                  <a:pt x="11406139" y="0"/>
                  <a:pt x="11455021" y="48882"/>
                  <a:pt x="11455021" y="109181"/>
                </a:cubicBezTo>
                <a:lnTo>
                  <a:pt x="11455021" y="682389"/>
                </a:lnTo>
                <a:cubicBezTo>
                  <a:pt x="11455021" y="742688"/>
                  <a:pt x="11406139" y="791570"/>
                  <a:pt x="11345840" y="791570"/>
                </a:cubicBezTo>
                <a:lnTo>
                  <a:pt x="109181" y="791570"/>
                </a:lnTo>
                <a:cubicBezTo>
                  <a:pt x="48922" y="791570"/>
                  <a:pt x="0" y="742648"/>
                  <a:pt x="0" y="682389"/>
                </a:cubicBezTo>
                <a:lnTo>
                  <a:pt x="0" y="109181"/>
                </a:lnTo>
                <a:cubicBezTo>
                  <a:pt x="0" y="48922"/>
                  <a:pt x="48922" y="0"/>
                  <a:pt x="10918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8615" y="6214281"/>
            <a:ext cx="11227558" cy="491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Aspect Innovant :</a:t>
            </a:r>
            <a:r>
              <a:rPr lang="en-US" sz="114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Ce projet combine recherche académique en RL avec application pratique complète, allant des algorithmes théoriques aux interfaces utilisateur modernes, créant un système IA jouable et évaluable de manière rigoureuse.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2.mathworks.cn/28cb996e5d4559c8b6862cdc38090644fddcd0cc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16480" b="1648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C0A57D">
                  <a:alpha val="1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271588"/>
            <a:ext cx="2352675" cy="542925"/>
          </a:xfrm>
          <a:custGeom>
            <a:avLst/>
            <a:gdLst/>
            <a:ahLst/>
            <a:cxnLst/>
            <a:rect l="l" t="t" r="r" b="b"/>
            <a:pathLst>
              <a:path w="2352675" h="542925">
                <a:moveTo>
                  <a:pt x="271463" y="0"/>
                </a:moveTo>
                <a:lnTo>
                  <a:pt x="2081212" y="0"/>
                </a:lnTo>
                <a:cubicBezTo>
                  <a:pt x="2231037" y="0"/>
                  <a:pt x="2352675" y="121638"/>
                  <a:pt x="2352675" y="271463"/>
                </a:cubicBezTo>
                <a:lnTo>
                  <a:pt x="2352675" y="271463"/>
                </a:lnTo>
                <a:cubicBezTo>
                  <a:pt x="2352675" y="421287"/>
                  <a:pt x="2231037" y="542925"/>
                  <a:pt x="2081212" y="542925"/>
                </a:cubicBezTo>
                <a:lnTo>
                  <a:pt x="271463" y="542925"/>
                </a:lnTo>
                <a:cubicBezTo>
                  <a:pt x="121638" y="542925"/>
                  <a:pt x="0" y="421287"/>
                  <a:pt x="0" y="271463"/>
                </a:cubicBezTo>
                <a:lnTo>
                  <a:pt x="0" y="271463"/>
                </a:lnTo>
                <a:cubicBezTo>
                  <a:pt x="0" y="121638"/>
                  <a:pt x="121638" y="0"/>
                  <a:pt x="2714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5325" y="1371600"/>
            <a:ext cx="1851787" cy="333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CHAPITRE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2407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Fondements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Théoriques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63867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8" name="Text 5"/>
          <p:cNvSpPr/>
          <p:nvPr/>
        </p:nvSpPr>
        <p:spPr>
          <a:xfrm>
            <a:off x="381000" y="4905375"/>
            <a:ext cx="74580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Bases de l'apprentissage par renforcement et observabilité partielle dans UNO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Fondements de l'Apprentissage par Renforcement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1438275"/>
          </a:xfrm>
          <a:custGeom>
            <a:avLst/>
            <a:gdLst/>
            <a:ahLst/>
            <a:cxnLst/>
            <a:rect l="l" t="t" r="r" b="b"/>
            <a:pathLst>
              <a:path w="5610225" h="1438275">
                <a:moveTo>
                  <a:pt x="114300" y="0"/>
                </a:moveTo>
                <a:lnTo>
                  <a:pt x="5495925" y="0"/>
                </a:lnTo>
                <a:cubicBezTo>
                  <a:pt x="5559051" y="0"/>
                  <a:pt x="5610225" y="51174"/>
                  <a:pt x="5610225" y="114300"/>
                </a:cubicBezTo>
                <a:lnTo>
                  <a:pt x="5610225" y="1323975"/>
                </a:lnTo>
                <a:cubicBezTo>
                  <a:pt x="5610225" y="1387101"/>
                  <a:pt x="5559051" y="1438275"/>
                  <a:pt x="5495925" y="1438275"/>
                </a:cubicBezTo>
                <a:lnTo>
                  <a:pt x="114300" y="1438275"/>
                </a:lnTo>
                <a:cubicBezTo>
                  <a:pt x="51174" y="1438275"/>
                  <a:pt x="0" y="1387101"/>
                  <a:pt x="0" y="1323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22872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Paradigme RL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925" y="1609725"/>
            <a:ext cx="53721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L'agent apprend à prendre des décisions en interagissant avec l'environnement, recevant des </a:t>
            </a: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observations sₜ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exécutant des </a:t>
            </a: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actions aₜ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et recevant des </a:t>
            </a: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récompenses rₜ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2633663"/>
            <a:ext cx="5610225" cy="1857375"/>
          </a:xfrm>
          <a:custGeom>
            <a:avLst/>
            <a:gdLst/>
            <a:ahLst/>
            <a:cxnLst/>
            <a:rect l="l" t="t" r="r" b="b"/>
            <a:pathLst>
              <a:path w="5610225" h="1857375">
                <a:moveTo>
                  <a:pt x="114303" y="0"/>
                </a:moveTo>
                <a:lnTo>
                  <a:pt x="5495922" y="0"/>
                </a:lnTo>
                <a:cubicBezTo>
                  <a:pt x="5559008" y="0"/>
                  <a:pt x="5610225" y="51217"/>
                  <a:pt x="5610225" y="114303"/>
                </a:cubicBezTo>
                <a:lnTo>
                  <a:pt x="5610225" y="1743072"/>
                </a:lnTo>
                <a:cubicBezTo>
                  <a:pt x="5610225" y="1806158"/>
                  <a:pt x="5559008" y="1857375"/>
                  <a:pt x="5495922" y="1857375"/>
                </a:cubicBezTo>
                <a:lnTo>
                  <a:pt x="114303" y="1857375"/>
                </a:lnTo>
                <a:cubicBezTo>
                  <a:pt x="51217" y="1857375"/>
                  <a:pt x="0" y="1806158"/>
                  <a:pt x="0" y="17430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925" y="279082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Markov Decision Process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3171825"/>
            <a:ext cx="5372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Formalise le problème RL par le tuple </a:t>
            </a: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(S, A, P, R, γ)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3495675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7380" y="3495675"/>
            <a:ext cx="88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Espace d'états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28975" y="3495675"/>
            <a:ext cx="180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07271" y="3495675"/>
            <a:ext cx="1019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Espace d'actions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3800475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106" y="380047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Probabilité de transition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28975" y="3800475"/>
            <a:ext cx="171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00127" y="3800475"/>
            <a:ext cx="1495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Fonction de récompense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925" y="4105275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3957" y="4105275"/>
            <a:ext cx="136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Facteur de remise [0,1]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4614863"/>
            <a:ext cx="5610225" cy="1533525"/>
          </a:xfrm>
          <a:custGeom>
            <a:avLst/>
            <a:gdLst/>
            <a:ahLst/>
            <a:cxnLst/>
            <a:rect l="l" t="t" r="r" b="b"/>
            <a:pathLst>
              <a:path w="5610225" h="1533525">
                <a:moveTo>
                  <a:pt x="114294" y="0"/>
                </a:moveTo>
                <a:lnTo>
                  <a:pt x="5495931" y="0"/>
                </a:lnTo>
                <a:cubicBezTo>
                  <a:pt x="5559054" y="0"/>
                  <a:pt x="5610225" y="51171"/>
                  <a:pt x="5610225" y="114294"/>
                </a:cubicBezTo>
                <a:lnTo>
                  <a:pt x="5610225" y="1419231"/>
                </a:lnTo>
                <a:cubicBezTo>
                  <a:pt x="5610225" y="1482354"/>
                  <a:pt x="5559054" y="1533525"/>
                  <a:pt x="549593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925" y="477202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Fonctions de Valeur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925" y="51530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Vπ(s) = Eπ[∑ₜ γᵗ rₜ | s₀ = s]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2925" y="53435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Fonction valeur d'état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925" y="56102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Qπ(s,a) = Eπ[∑ₜ γᵗ rₜ | s₀=s, a₀=a]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2925" y="58007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Fonction valeur d'action (Q-function)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6013" y="1071563"/>
            <a:ext cx="5610225" cy="1724025"/>
          </a:xfrm>
          <a:custGeom>
            <a:avLst/>
            <a:gdLst/>
            <a:ahLst/>
            <a:cxnLst/>
            <a:rect l="l" t="t" r="r" b="b"/>
            <a:pathLst>
              <a:path w="5610225" h="1724025">
                <a:moveTo>
                  <a:pt x="114303" y="0"/>
                </a:moveTo>
                <a:lnTo>
                  <a:pt x="5495922" y="0"/>
                </a:lnTo>
                <a:cubicBezTo>
                  <a:pt x="5559008" y="0"/>
                  <a:pt x="5610225" y="51217"/>
                  <a:pt x="5610225" y="114303"/>
                </a:cubicBezTo>
                <a:lnTo>
                  <a:pt x="5610225" y="1609722"/>
                </a:lnTo>
                <a:cubicBezTo>
                  <a:pt x="5610225" y="1672808"/>
                  <a:pt x="5559008" y="1724025"/>
                  <a:pt x="549592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3175" y="122872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Équations de Bellman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3175" y="16097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Les fonctions valeur optimales satisfont les équations de Bellman :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3175" y="18764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429375" y="19526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V*(s) = maxₐ [R(s,a) + γ ∑ₛ' P(s'|s,a) V*(s')]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3175" y="22955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429375" y="23717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Q*(s,a) = R(s,a) + γ ∑ₛ' P(s'|s,a) maxₐ' Q*(s',a')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6013" y="2919413"/>
            <a:ext cx="5610225" cy="1647825"/>
          </a:xfrm>
          <a:custGeom>
            <a:avLst/>
            <a:gdLst/>
            <a:ahLst/>
            <a:cxnLst/>
            <a:rect l="l" t="t" r="r" b="b"/>
            <a:pathLst>
              <a:path w="5610225" h="16478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1533532"/>
                </a:lnTo>
                <a:cubicBezTo>
                  <a:pt x="5610225" y="1596612"/>
                  <a:pt x="5559012" y="1647825"/>
                  <a:pt x="54959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3175" y="30765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Policy Gradient Theorem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3175" y="345757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Pour les méthodes basées sur les politiques 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3175" y="3724275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38103" y="0"/>
                </a:moveTo>
                <a:lnTo>
                  <a:pt x="5257797" y="0"/>
                </a:lnTo>
                <a:cubicBezTo>
                  <a:pt x="5278841" y="0"/>
                  <a:pt x="5295900" y="17059"/>
                  <a:pt x="5295900" y="38103"/>
                </a:cubicBezTo>
                <a:lnTo>
                  <a:pt x="5295900" y="647697"/>
                </a:lnTo>
                <a:cubicBezTo>
                  <a:pt x="5295900" y="668741"/>
                  <a:pt x="5278841" y="685800"/>
                  <a:pt x="52577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6467475" y="38385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∇θ J(θ) = E[∑ₜ ∇θ log πθ(aₜ|sₜ) · Gₜ]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67475" y="41052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où Gₜ = ∑ₖ γᵏ⁻ᵗ rₖ est le return depuis 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6013" y="4691063"/>
            <a:ext cx="5610225" cy="1304925"/>
          </a:xfrm>
          <a:custGeom>
            <a:avLst/>
            <a:gdLst/>
            <a:ahLst/>
            <a:cxnLst/>
            <a:rect l="l" t="t" r="r" b="b"/>
            <a:pathLst>
              <a:path w="5610225" h="1304925">
                <a:moveTo>
                  <a:pt x="114298" y="0"/>
                </a:moveTo>
                <a:lnTo>
                  <a:pt x="5495927" y="0"/>
                </a:lnTo>
                <a:cubicBezTo>
                  <a:pt x="5559052" y="0"/>
                  <a:pt x="5610225" y="51173"/>
                  <a:pt x="5610225" y="114298"/>
                </a:cubicBezTo>
                <a:lnTo>
                  <a:pt x="5610225" y="1190627"/>
                </a:lnTo>
                <a:cubicBezTo>
                  <a:pt x="5610225" y="1253752"/>
                  <a:pt x="5559052" y="1304925"/>
                  <a:pt x="549592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3175" y="4848225"/>
            <a:ext cx="538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Applications au Jeu UNO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53175" y="51911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États 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Main du joueur, carte visible, deck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53175" y="54197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Actions 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Jouer carte, tirer, changer couleur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3175" y="56483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Récompenses 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+1 victoire, -1 défaite, +0.1 jouer carte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Observabilité Partielle dans UNO (POMDP)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2943225"/>
          </a:xfrm>
          <a:custGeom>
            <a:avLst/>
            <a:gdLst/>
            <a:ahLst/>
            <a:cxnLst/>
            <a:rect l="l" t="t" r="r" b="b"/>
            <a:pathLst>
              <a:path w="5610225" h="2943225">
                <a:moveTo>
                  <a:pt x="114285" y="0"/>
                </a:moveTo>
                <a:lnTo>
                  <a:pt x="5495940" y="0"/>
                </a:lnTo>
                <a:cubicBezTo>
                  <a:pt x="5559058" y="0"/>
                  <a:pt x="5610225" y="51167"/>
                  <a:pt x="5610225" y="114285"/>
                </a:cubicBezTo>
                <a:lnTo>
                  <a:pt x="5610225" y="2828940"/>
                </a:lnTo>
                <a:cubicBezTo>
                  <a:pt x="5610225" y="2892058"/>
                  <a:pt x="5559058" y="2943225"/>
                  <a:pt x="5495940" y="2943225"/>
                </a:cubicBezTo>
                <a:lnTo>
                  <a:pt x="114285" y="2943225"/>
                </a:lnTo>
                <a:cubicBezTo>
                  <a:pt x="51167" y="2943225"/>
                  <a:pt x="0" y="2892058"/>
                  <a:pt x="0" y="28289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1304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6" name="Text 4"/>
          <p:cNvSpPr/>
          <p:nvPr/>
        </p:nvSpPr>
        <p:spPr>
          <a:xfrm>
            <a:off x="866775" y="1266825"/>
            <a:ext cx="50482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Qu'est-ce qu'un POMDP 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1685925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UNO est un </a:t>
            </a: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Processus de Décision Markovien Partiellement Observable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car l'agent n'a pas accès à l'état complet du jeu.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333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85800" y="24193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10" name="Text 8"/>
          <p:cNvSpPr/>
          <p:nvPr/>
        </p:nvSpPr>
        <p:spPr>
          <a:xfrm>
            <a:off x="1000125" y="2333625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Cartes adverses invisibles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0125" y="2562225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Impossible de voir la main des adversaires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28670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94134" y="295275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16669" y="41672"/>
                </a:moveTo>
                <a:cubicBezTo>
                  <a:pt x="16669" y="27868"/>
                  <a:pt x="27868" y="16669"/>
                  <a:pt x="41672" y="16669"/>
                </a:cubicBezTo>
                <a:cubicBezTo>
                  <a:pt x="55476" y="16669"/>
                  <a:pt x="66675" y="27868"/>
                  <a:pt x="66675" y="41672"/>
                </a:cubicBezTo>
                <a:cubicBezTo>
                  <a:pt x="66675" y="52793"/>
                  <a:pt x="59408" y="62221"/>
                  <a:pt x="49355" y="65477"/>
                </a:cubicBezTo>
                <a:cubicBezTo>
                  <a:pt x="41958" y="67873"/>
                  <a:pt x="33337" y="74671"/>
                  <a:pt x="33337" y="85427"/>
                </a:cubicBezTo>
                <a:lnTo>
                  <a:pt x="33337" y="91678"/>
                </a:lnTo>
                <a:cubicBezTo>
                  <a:pt x="33337" y="96288"/>
                  <a:pt x="37062" y="100013"/>
                  <a:pt x="41672" y="100013"/>
                </a:cubicBezTo>
                <a:cubicBezTo>
                  <a:pt x="46282" y="100013"/>
                  <a:pt x="50006" y="96288"/>
                  <a:pt x="50006" y="91678"/>
                </a:cubicBezTo>
                <a:lnTo>
                  <a:pt x="50006" y="85427"/>
                </a:lnTo>
                <a:cubicBezTo>
                  <a:pt x="50006" y="84985"/>
                  <a:pt x="50163" y="84360"/>
                  <a:pt x="50918" y="83526"/>
                </a:cubicBezTo>
                <a:cubicBezTo>
                  <a:pt x="51699" y="82667"/>
                  <a:pt x="52975" y="81833"/>
                  <a:pt x="54486" y="81338"/>
                </a:cubicBezTo>
                <a:cubicBezTo>
                  <a:pt x="71233" y="75947"/>
                  <a:pt x="83344" y="60242"/>
                  <a:pt x="83344" y="41672"/>
                </a:cubicBezTo>
                <a:cubicBezTo>
                  <a:pt x="83344" y="18648"/>
                  <a:pt x="64696" y="0"/>
                  <a:pt x="41672" y="0"/>
                </a:cubicBezTo>
                <a:cubicBezTo>
                  <a:pt x="18648" y="0"/>
                  <a:pt x="0" y="18648"/>
                  <a:pt x="0" y="41672"/>
                </a:cubicBezTo>
                <a:cubicBezTo>
                  <a:pt x="0" y="46282"/>
                  <a:pt x="3724" y="50006"/>
                  <a:pt x="8334" y="50006"/>
                </a:cubicBezTo>
                <a:cubicBezTo>
                  <a:pt x="12944" y="50006"/>
                  <a:pt x="16669" y="46282"/>
                  <a:pt x="16669" y="41672"/>
                </a:cubicBezTo>
                <a:close/>
                <a:moveTo>
                  <a:pt x="41672" y="133350"/>
                </a:moveTo>
                <a:cubicBezTo>
                  <a:pt x="47428" y="133350"/>
                  <a:pt x="52090" y="128688"/>
                  <a:pt x="52090" y="122932"/>
                </a:cubicBezTo>
                <a:cubicBezTo>
                  <a:pt x="52090" y="117176"/>
                  <a:pt x="47428" y="112514"/>
                  <a:pt x="41672" y="112514"/>
                </a:cubicBezTo>
                <a:cubicBezTo>
                  <a:pt x="35916" y="112514"/>
                  <a:pt x="31254" y="117176"/>
                  <a:pt x="31254" y="122932"/>
                </a:cubicBezTo>
                <a:cubicBezTo>
                  <a:pt x="31254" y="128688"/>
                  <a:pt x="35916" y="133350"/>
                  <a:pt x="41672" y="13335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4" name="Text 12"/>
          <p:cNvSpPr/>
          <p:nvPr/>
        </p:nvSpPr>
        <p:spPr>
          <a:xfrm>
            <a:off x="1000125" y="2867025"/>
            <a:ext cx="2124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Deck inconnu après mélange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0125" y="3095625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Composition du deck non observée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3400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660797" y="34861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16669"/>
                </a:moveTo>
                <a:cubicBezTo>
                  <a:pt x="102617" y="16669"/>
                  <a:pt x="125016" y="39067"/>
                  <a:pt x="125016" y="66675"/>
                </a:cubicBezTo>
                <a:cubicBezTo>
                  <a:pt x="125016" y="94283"/>
                  <a:pt x="102617" y="116681"/>
                  <a:pt x="75009" y="116681"/>
                </a:cubicBezTo>
                <a:cubicBezTo>
                  <a:pt x="58028" y="116681"/>
                  <a:pt x="43000" y="108217"/>
                  <a:pt x="33963" y="95246"/>
                </a:cubicBezTo>
                <a:cubicBezTo>
                  <a:pt x="31332" y="91470"/>
                  <a:pt x="26123" y="90558"/>
                  <a:pt x="22347" y="93189"/>
                </a:cubicBezTo>
                <a:cubicBezTo>
                  <a:pt x="18570" y="95819"/>
                  <a:pt x="17658" y="101028"/>
                  <a:pt x="20289" y="104805"/>
                </a:cubicBezTo>
                <a:cubicBezTo>
                  <a:pt x="32322" y="122047"/>
                  <a:pt x="52350" y="133350"/>
                  <a:pt x="75009" y="133350"/>
                </a:cubicBezTo>
                <a:cubicBezTo>
                  <a:pt x="111837" y="133350"/>
                  <a:pt x="141684" y="103503"/>
                  <a:pt x="141684" y="66675"/>
                </a:cubicBezTo>
                <a:cubicBezTo>
                  <a:pt x="141684" y="29847"/>
                  <a:pt x="111837" y="0"/>
                  <a:pt x="75009" y="0"/>
                </a:cubicBezTo>
                <a:cubicBezTo>
                  <a:pt x="52689" y="0"/>
                  <a:pt x="32947" y="10965"/>
                  <a:pt x="20836" y="27790"/>
                </a:cubicBezTo>
                <a:lnTo>
                  <a:pt x="20836" y="20836"/>
                </a:lnTo>
                <a:cubicBezTo>
                  <a:pt x="20836" y="16226"/>
                  <a:pt x="17112" y="12502"/>
                  <a:pt x="12502" y="12502"/>
                </a:cubicBezTo>
                <a:cubicBezTo>
                  <a:pt x="7892" y="12502"/>
                  <a:pt x="4167" y="16226"/>
                  <a:pt x="4167" y="20836"/>
                </a:cubicBezTo>
                <a:lnTo>
                  <a:pt x="4167" y="50006"/>
                </a:lnTo>
                <a:cubicBezTo>
                  <a:pt x="4167" y="54616"/>
                  <a:pt x="7892" y="58341"/>
                  <a:pt x="12502" y="58341"/>
                </a:cubicBezTo>
                <a:lnTo>
                  <a:pt x="18909" y="58341"/>
                </a:lnTo>
                <a:cubicBezTo>
                  <a:pt x="19039" y="58341"/>
                  <a:pt x="19169" y="58341"/>
                  <a:pt x="19299" y="58341"/>
                </a:cubicBezTo>
                <a:lnTo>
                  <a:pt x="41698" y="58341"/>
                </a:lnTo>
                <a:cubicBezTo>
                  <a:pt x="46308" y="58341"/>
                  <a:pt x="50032" y="54616"/>
                  <a:pt x="50032" y="50006"/>
                </a:cubicBezTo>
                <a:cubicBezTo>
                  <a:pt x="50032" y="45396"/>
                  <a:pt x="46308" y="41672"/>
                  <a:pt x="41698" y="41672"/>
                </a:cubicBezTo>
                <a:lnTo>
                  <a:pt x="31723" y="41672"/>
                </a:lnTo>
                <a:cubicBezTo>
                  <a:pt x="40344" y="26722"/>
                  <a:pt x="56517" y="16669"/>
                  <a:pt x="75009" y="16669"/>
                </a:cubicBezTo>
                <a:close/>
                <a:moveTo>
                  <a:pt x="81260" y="39588"/>
                </a:moveTo>
                <a:cubicBezTo>
                  <a:pt x="81260" y="36124"/>
                  <a:pt x="78473" y="33337"/>
                  <a:pt x="75009" y="33337"/>
                </a:cubicBezTo>
                <a:cubicBezTo>
                  <a:pt x="71545" y="33337"/>
                  <a:pt x="68759" y="36124"/>
                  <a:pt x="68759" y="39588"/>
                </a:cubicBezTo>
                <a:lnTo>
                  <a:pt x="68759" y="66675"/>
                </a:lnTo>
                <a:cubicBezTo>
                  <a:pt x="68759" y="68342"/>
                  <a:pt x="69410" y="69931"/>
                  <a:pt x="70582" y="71103"/>
                </a:cubicBezTo>
                <a:lnTo>
                  <a:pt x="89334" y="89855"/>
                </a:lnTo>
                <a:cubicBezTo>
                  <a:pt x="91782" y="92303"/>
                  <a:pt x="95741" y="92303"/>
                  <a:pt x="98163" y="89855"/>
                </a:cubicBezTo>
                <a:cubicBezTo>
                  <a:pt x="100585" y="87407"/>
                  <a:pt x="100612" y="83448"/>
                  <a:pt x="98163" y="81026"/>
                </a:cubicBezTo>
                <a:lnTo>
                  <a:pt x="81234" y="64097"/>
                </a:lnTo>
                <a:lnTo>
                  <a:pt x="81234" y="39588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18" name="Text 16"/>
          <p:cNvSpPr/>
          <p:nvPr/>
        </p:nvSpPr>
        <p:spPr>
          <a:xfrm>
            <a:off x="1000125" y="3400425"/>
            <a:ext cx="2390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Information implicite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0125" y="3629025"/>
            <a:ext cx="2381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Actions passées contiennent des indices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4176712"/>
            <a:ext cx="5610225" cy="1514475"/>
          </a:xfrm>
          <a:custGeom>
            <a:avLst/>
            <a:gdLst/>
            <a:ahLst/>
            <a:cxnLst/>
            <a:rect l="l" t="t" r="r" b="b"/>
            <a:pathLst>
              <a:path w="5610225" h="1514475">
                <a:moveTo>
                  <a:pt x="114297" y="0"/>
                </a:moveTo>
                <a:lnTo>
                  <a:pt x="5495928" y="0"/>
                </a:lnTo>
                <a:cubicBezTo>
                  <a:pt x="5559010" y="0"/>
                  <a:pt x="5610225" y="51215"/>
                  <a:pt x="5610225" y="114297"/>
                </a:cubicBezTo>
                <a:lnTo>
                  <a:pt x="5610225" y="1400178"/>
                </a:lnTo>
                <a:cubicBezTo>
                  <a:pt x="5610225" y="1463260"/>
                  <a:pt x="5559010" y="1514475"/>
                  <a:pt x="5495928" y="1514475"/>
                </a:cubicBezTo>
                <a:lnTo>
                  <a:pt x="114297" y="1514475"/>
                </a:lnTo>
                <a:cubicBezTo>
                  <a:pt x="51215" y="1514475"/>
                  <a:pt x="0" y="1463260"/>
                  <a:pt x="0" y="140017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1025" y="4371975"/>
            <a:ext cx="531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Pourquoi c'est un défi 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1025" y="4752975"/>
            <a:ext cx="52959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À la différence des jeux complètement observables comme les échecs ou le Go où toute l'information est visible, UNO requiert d'</a:t>
            </a: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inférer l'état caché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à partir d'observations partielles et d'historique.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6013" y="1071563"/>
            <a:ext cx="5610225" cy="4276725"/>
          </a:xfrm>
          <a:custGeom>
            <a:avLst/>
            <a:gdLst/>
            <a:ahLst/>
            <a:cxnLst/>
            <a:rect l="l" t="t" r="r" b="b"/>
            <a:pathLst>
              <a:path w="5610225" h="4276725">
                <a:moveTo>
                  <a:pt x="114317" y="0"/>
                </a:moveTo>
                <a:lnTo>
                  <a:pt x="5495908" y="0"/>
                </a:lnTo>
                <a:cubicBezTo>
                  <a:pt x="5559044" y="0"/>
                  <a:pt x="5610225" y="51181"/>
                  <a:pt x="5610225" y="114317"/>
                </a:cubicBezTo>
                <a:lnTo>
                  <a:pt x="5610225" y="4162408"/>
                </a:lnTo>
                <a:cubicBezTo>
                  <a:pt x="5610225" y="4225544"/>
                  <a:pt x="5559044" y="4276725"/>
                  <a:pt x="5495908" y="4276725"/>
                </a:cubicBezTo>
                <a:lnTo>
                  <a:pt x="114317" y="4276725"/>
                </a:lnTo>
                <a:cubicBezTo>
                  <a:pt x="51181" y="4276725"/>
                  <a:pt x="0" y="4225544"/>
                  <a:pt x="0" y="4162408"/>
                </a:cubicBezTo>
                <a:lnTo>
                  <a:pt x="0" y="114317"/>
                </a:lnTo>
                <a:cubicBezTo>
                  <a:pt x="0" y="51224"/>
                  <a:pt x="51224" y="0"/>
                  <a:pt x="11431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850" y="1304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5" name="Text 23"/>
          <p:cNvSpPr/>
          <p:nvPr/>
        </p:nvSpPr>
        <p:spPr>
          <a:xfrm>
            <a:off x="6677025" y="1266825"/>
            <a:ext cx="50482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Solution : Réseaux LSTM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91275" y="1685925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Les </a:t>
            </a:r>
            <a:r>
              <a:rPr lang="en-US" sz="12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Long Short-Term Memory networks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maintiennent une mémoire des observations passées pour inférer l'état caché.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1275" y="2333625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6505575" y="24479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 Suit les cartes jouées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5575" y="26765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Maintient l'historique des cartes jouées pour estimer les cartes restantes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1275" y="3057525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505575" y="31718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 Infère la main adverse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05575" y="34004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Déduit quelles cartes l'adversaire pourrait avoir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1275" y="3781425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505575" y="38957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3. Reconnaît les patterns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05575" y="41243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Apprend les stratégies de jeu adverses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1275" y="4505325"/>
            <a:ext cx="5219700" cy="647700"/>
          </a:xfrm>
          <a:custGeom>
            <a:avLst/>
            <a:gdLst/>
            <a:ahLst/>
            <a:cxnLst/>
            <a:rect l="l" t="t" r="r" b="b"/>
            <a:pathLst>
              <a:path w="5219700" h="6477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571498"/>
                </a:lnTo>
                <a:cubicBezTo>
                  <a:pt x="5219700" y="613583"/>
                  <a:pt x="5185583" y="647700"/>
                  <a:pt x="51434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6505575" y="46196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4. Contexte de séquence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5575" y="48482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Comprend le contexte de la séquence de tours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6013" y="5510213"/>
            <a:ext cx="5610225" cy="1152525"/>
          </a:xfrm>
          <a:custGeom>
            <a:avLst/>
            <a:gdLst/>
            <a:ahLst/>
            <a:cxnLst/>
            <a:rect l="l" t="t" r="r" b="b"/>
            <a:pathLst>
              <a:path w="5610225" h="11525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1038229"/>
                </a:lnTo>
                <a:cubicBezTo>
                  <a:pt x="5610225" y="1101353"/>
                  <a:pt x="5559053" y="1152525"/>
                  <a:pt x="549592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57054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41" name="Text 39"/>
          <p:cNvSpPr/>
          <p:nvPr/>
        </p:nvSpPr>
        <p:spPr>
          <a:xfrm>
            <a:off x="6705600" y="5667375"/>
            <a:ext cx="2181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 sur la Performance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53175" y="6010275"/>
            <a:ext cx="53721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Résultats expérimentaux : </a:t>
            </a: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RecurrentPPO atteint 60%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vs </a:t>
            </a:r>
            <a:r>
              <a:rPr lang="en-US" sz="1200" dirty="0">
                <a:solidFill>
                  <a:srgbClr val="4A556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PPO 53%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démontrant que la mémoire est cruciale pour les POMDP.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dba7a5718e0c2ca18759e110b6ce680aac1f92a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D8F8A">
                  <a:alpha val="1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271588"/>
            <a:ext cx="2362200" cy="542925"/>
          </a:xfrm>
          <a:custGeom>
            <a:avLst/>
            <a:gdLst/>
            <a:ahLst/>
            <a:cxnLst/>
            <a:rect l="l" t="t" r="r" b="b"/>
            <a:pathLst>
              <a:path w="2362200" h="542925">
                <a:moveTo>
                  <a:pt x="271463" y="0"/>
                </a:moveTo>
                <a:lnTo>
                  <a:pt x="2090738" y="0"/>
                </a:lnTo>
                <a:cubicBezTo>
                  <a:pt x="2240562" y="0"/>
                  <a:pt x="2362200" y="121638"/>
                  <a:pt x="2362200" y="271463"/>
                </a:cubicBezTo>
                <a:lnTo>
                  <a:pt x="2362200" y="271463"/>
                </a:lnTo>
                <a:cubicBezTo>
                  <a:pt x="2362200" y="421287"/>
                  <a:pt x="2240562" y="542925"/>
                  <a:pt x="2090738" y="542925"/>
                </a:cubicBezTo>
                <a:lnTo>
                  <a:pt x="271463" y="542925"/>
                </a:lnTo>
                <a:cubicBezTo>
                  <a:pt x="121638" y="542925"/>
                  <a:pt x="0" y="421287"/>
                  <a:pt x="0" y="271463"/>
                </a:cubicBezTo>
                <a:lnTo>
                  <a:pt x="0" y="271463"/>
                </a:lnTo>
                <a:cubicBezTo>
                  <a:pt x="0" y="121638"/>
                  <a:pt x="121638" y="0"/>
                  <a:pt x="2714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5325" y="1371600"/>
            <a:ext cx="1853845" cy="333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CHAPITRE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2407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Algorithmes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Implémentés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63867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" name="Text 5"/>
          <p:cNvSpPr/>
          <p:nvPr/>
        </p:nvSpPr>
        <p:spPr>
          <a:xfrm>
            <a:off x="381000" y="4905375"/>
            <a:ext cx="74580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Présentation des cinq algorithmes d'apprentissage par renforcement utilisés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Q-Learning et Deep Q-Network (DQN)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1609725"/>
          </a:xfrm>
          <a:custGeom>
            <a:avLst/>
            <a:gdLst/>
            <a:ahLst/>
            <a:cxnLst/>
            <a:rect l="l" t="t" r="r" b="b"/>
            <a:pathLst>
              <a:path w="5610225" h="1609725">
                <a:moveTo>
                  <a:pt x="114307" y="0"/>
                </a:moveTo>
                <a:lnTo>
                  <a:pt x="5495918" y="0"/>
                </a:lnTo>
                <a:cubicBezTo>
                  <a:pt x="5559006" y="0"/>
                  <a:pt x="5610225" y="51219"/>
                  <a:pt x="5610225" y="114307"/>
                </a:cubicBezTo>
                <a:lnTo>
                  <a:pt x="5610225" y="1495418"/>
                </a:lnTo>
                <a:cubicBezTo>
                  <a:pt x="5610225" y="1558506"/>
                  <a:pt x="5559006" y="1609725"/>
                  <a:pt x="5495918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228725"/>
            <a:ext cx="2552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Q-Learning (Tabulaire)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1828" y="1228725"/>
            <a:ext cx="733425" cy="304800"/>
          </a:xfrm>
          <a:custGeom>
            <a:avLst/>
            <a:gdLst/>
            <a:ahLst/>
            <a:cxnLst/>
            <a:rect l="l" t="t" r="r" b="b"/>
            <a:pathLst>
              <a:path w="733425" h="304800">
                <a:moveTo>
                  <a:pt x="152400" y="0"/>
                </a:moveTo>
                <a:lnTo>
                  <a:pt x="581025" y="0"/>
                </a:lnTo>
                <a:cubicBezTo>
                  <a:pt x="665137" y="0"/>
                  <a:pt x="733425" y="68288"/>
                  <a:pt x="733425" y="152400"/>
                </a:cubicBezTo>
                <a:lnTo>
                  <a:pt x="733425" y="152400"/>
                </a:lnTo>
                <a:cubicBezTo>
                  <a:pt x="733425" y="236512"/>
                  <a:pt x="665137" y="304800"/>
                  <a:pt x="5810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216128" y="1314450"/>
            <a:ext cx="57500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35% WR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6097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Algorithme </a:t>
            </a: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off-policy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apprenant la fonction Q optimale sans modèle.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18764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19125" y="19526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Q(sₜ,aₜ) ← Q(sₜ,aₜ) + α[rₜ + γ max Q(sₜ₊₁,a') - Q(sₜ,aₜ)]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295525"/>
            <a:ext cx="1714500" cy="228600"/>
          </a:xfrm>
          <a:custGeom>
            <a:avLst/>
            <a:gdLst/>
            <a:ahLst/>
            <a:cxnLst/>
            <a:rect l="l" t="t" r="r" b="b"/>
            <a:pathLst>
              <a:path w="1714500" h="228600">
                <a:moveTo>
                  <a:pt x="38101" y="0"/>
                </a:moveTo>
                <a:lnTo>
                  <a:pt x="1676399" y="0"/>
                </a:lnTo>
                <a:cubicBezTo>
                  <a:pt x="1697442" y="0"/>
                  <a:pt x="1714500" y="17058"/>
                  <a:pt x="1714500" y="38101"/>
                </a:cubicBezTo>
                <a:lnTo>
                  <a:pt x="1714500" y="190499"/>
                </a:lnTo>
                <a:cubicBezTo>
                  <a:pt x="1714500" y="211542"/>
                  <a:pt x="1697442" y="228600"/>
                  <a:pt x="1676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81025" y="2333625"/>
            <a:ext cx="16954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α: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Learning rate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33625" y="2295525"/>
            <a:ext cx="1714500" cy="228600"/>
          </a:xfrm>
          <a:custGeom>
            <a:avLst/>
            <a:gdLst/>
            <a:ahLst/>
            <a:cxnLst/>
            <a:rect l="l" t="t" r="r" b="b"/>
            <a:pathLst>
              <a:path w="1714500" h="228600">
                <a:moveTo>
                  <a:pt x="38101" y="0"/>
                </a:moveTo>
                <a:lnTo>
                  <a:pt x="1676399" y="0"/>
                </a:lnTo>
                <a:cubicBezTo>
                  <a:pt x="1697442" y="0"/>
                  <a:pt x="1714500" y="17058"/>
                  <a:pt x="1714500" y="38101"/>
                </a:cubicBezTo>
                <a:lnTo>
                  <a:pt x="1714500" y="190499"/>
                </a:lnTo>
                <a:cubicBezTo>
                  <a:pt x="1714500" y="211542"/>
                  <a:pt x="1697442" y="228600"/>
                  <a:pt x="1676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2371725" y="2333625"/>
            <a:ext cx="16954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γ: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Discount factor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24325" y="2295525"/>
            <a:ext cx="1714500" cy="228600"/>
          </a:xfrm>
          <a:custGeom>
            <a:avLst/>
            <a:gdLst/>
            <a:ahLst/>
            <a:cxnLst/>
            <a:rect l="l" t="t" r="r" b="b"/>
            <a:pathLst>
              <a:path w="1714500" h="228600">
                <a:moveTo>
                  <a:pt x="38101" y="0"/>
                </a:moveTo>
                <a:lnTo>
                  <a:pt x="1676399" y="0"/>
                </a:lnTo>
                <a:cubicBezTo>
                  <a:pt x="1697442" y="0"/>
                  <a:pt x="1714500" y="17058"/>
                  <a:pt x="1714500" y="38101"/>
                </a:cubicBezTo>
                <a:lnTo>
                  <a:pt x="1714500" y="190499"/>
                </a:lnTo>
                <a:cubicBezTo>
                  <a:pt x="1714500" y="211542"/>
                  <a:pt x="1697442" y="228600"/>
                  <a:pt x="1676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4162425" y="2333625"/>
            <a:ext cx="16954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TD: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Temporal Difference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2843213"/>
            <a:ext cx="5610225" cy="1990725"/>
          </a:xfrm>
          <a:custGeom>
            <a:avLst/>
            <a:gdLst/>
            <a:ahLst/>
            <a:cxnLst/>
            <a:rect l="l" t="t" r="r" b="b"/>
            <a:pathLst>
              <a:path w="5610225" h="19907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876418"/>
                </a:lnTo>
                <a:cubicBezTo>
                  <a:pt x="5610225" y="1939548"/>
                  <a:pt x="5559048" y="1990725"/>
                  <a:pt x="5495918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925" y="30003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Exploration : ε-Greedy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33432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19125" y="341947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aₜ = argmax Q(sₜ,a) avec prob. 1-ε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2925" y="376237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Balance exploration (random) et exploitation (meilleure action connue).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8644" y="40671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4A5568"/>
          </a:solidFill>
        </p:spPr>
      </p:sp>
      <p:sp>
        <p:nvSpPr>
          <p:cNvPr id="23" name="Text 21"/>
          <p:cNvSpPr/>
          <p:nvPr/>
        </p:nvSpPr>
        <p:spPr>
          <a:xfrm>
            <a:off x="785813" y="4029075"/>
            <a:ext cx="3429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Espace d'états trop grand (~10¹²)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pour méthode tabulaire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8644" y="42957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4A5568"/>
          </a:solidFill>
        </p:spPr>
      </p:sp>
      <p:sp>
        <p:nvSpPr>
          <p:cNvPr id="25" name="Text 23"/>
          <p:cNvSpPr/>
          <p:nvPr/>
        </p:nvSpPr>
        <p:spPr>
          <a:xfrm>
            <a:off x="785813" y="4257675"/>
            <a:ext cx="2562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Pas de généralisation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entre états similaires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0309" y="45243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7" name="Text 25"/>
          <p:cNvSpPr/>
          <p:nvPr/>
        </p:nvSpPr>
        <p:spPr>
          <a:xfrm>
            <a:off x="785813" y="4486275"/>
            <a:ext cx="2381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35% win rate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vs 25% random (baseline)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013" y="1071563"/>
            <a:ext cx="5610225" cy="2257425"/>
          </a:xfrm>
          <a:custGeom>
            <a:avLst/>
            <a:gdLst/>
            <a:ahLst/>
            <a:cxnLst/>
            <a:rect l="l" t="t" r="r" b="b"/>
            <a:pathLst>
              <a:path w="5610225" h="22574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143132"/>
                </a:lnTo>
                <a:cubicBezTo>
                  <a:pt x="5610225" y="2206212"/>
                  <a:pt x="5559012" y="2257425"/>
                  <a:pt x="549593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3175" y="1228725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Deep Q-Network (DQN)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12971" y="1228725"/>
            <a:ext cx="733425" cy="304800"/>
          </a:xfrm>
          <a:custGeom>
            <a:avLst/>
            <a:gdLst/>
            <a:ahLst/>
            <a:cxnLst/>
            <a:rect l="l" t="t" r="r" b="b"/>
            <a:pathLst>
              <a:path w="733425" h="304800">
                <a:moveTo>
                  <a:pt x="152400" y="0"/>
                </a:moveTo>
                <a:lnTo>
                  <a:pt x="581025" y="0"/>
                </a:lnTo>
                <a:cubicBezTo>
                  <a:pt x="665137" y="0"/>
                  <a:pt x="733425" y="68288"/>
                  <a:pt x="733425" y="152400"/>
                </a:cubicBezTo>
                <a:lnTo>
                  <a:pt x="733425" y="152400"/>
                </a:lnTo>
                <a:cubicBezTo>
                  <a:pt x="733425" y="236512"/>
                  <a:pt x="665137" y="304800"/>
                  <a:pt x="5810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11027271" y="1314450"/>
            <a:ext cx="574072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48% WR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3175" y="16097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DQN utilise un </a:t>
            </a: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réseau de neurones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pour approximer Q, permettant la généralisation.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3175" y="18764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429375" y="19526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L(θ) = E[(y - Q(s,a;θ))²], y = r + γ max Q(s',a';θ⁻)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3175" y="22955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418659" y="2362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37" name="Text 35"/>
          <p:cNvSpPr/>
          <p:nvPr/>
        </p:nvSpPr>
        <p:spPr>
          <a:xfrm>
            <a:off x="6619875" y="23336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Experience Replay: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Buffer 100K transitions, mini-batch training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3175" y="26003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6401991" y="26670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0" name="Text 38"/>
          <p:cNvSpPr/>
          <p:nvPr/>
        </p:nvSpPr>
        <p:spPr>
          <a:xfrm>
            <a:off x="6619875" y="26384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Target Network: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Réseau séparé pour cibles, mis à jour périodiquement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3175" y="29051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410325" y="2971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006" y="66675"/>
                </a:moveTo>
                <a:lnTo>
                  <a:pt x="39719" y="76963"/>
                </a:lnTo>
                <a:cubicBezTo>
                  <a:pt x="36437" y="75687"/>
                  <a:pt x="32895" y="75009"/>
                  <a:pt x="29170" y="75009"/>
                </a:cubicBezTo>
                <a:cubicBezTo>
                  <a:pt x="13049" y="75009"/>
                  <a:pt x="0" y="88058"/>
                  <a:pt x="0" y="104180"/>
                </a:cubicBezTo>
                <a:cubicBezTo>
                  <a:pt x="0" y="120301"/>
                  <a:pt x="13049" y="133350"/>
                  <a:pt x="29170" y="133350"/>
                </a:cubicBezTo>
                <a:cubicBezTo>
                  <a:pt x="45292" y="133350"/>
                  <a:pt x="58341" y="120301"/>
                  <a:pt x="58341" y="104180"/>
                </a:cubicBezTo>
                <a:cubicBezTo>
                  <a:pt x="58341" y="100455"/>
                  <a:pt x="57637" y="96913"/>
                  <a:pt x="56387" y="93631"/>
                </a:cubicBezTo>
                <a:lnTo>
                  <a:pt x="130016" y="20003"/>
                </a:lnTo>
                <a:cubicBezTo>
                  <a:pt x="131865" y="18153"/>
                  <a:pt x="131865" y="15184"/>
                  <a:pt x="130016" y="13335"/>
                </a:cubicBezTo>
                <a:cubicBezTo>
                  <a:pt x="122646" y="5964"/>
                  <a:pt x="110717" y="5964"/>
                  <a:pt x="103346" y="13335"/>
                </a:cubicBezTo>
                <a:lnTo>
                  <a:pt x="66675" y="50006"/>
                </a:lnTo>
                <a:lnTo>
                  <a:pt x="56387" y="39719"/>
                </a:lnTo>
                <a:cubicBezTo>
                  <a:pt x="57663" y="36437"/>
                  <a:pt x="58341" y="32895"/>
                  <a:pt x="58341" y="29170"/>
                </a:cubicBezTo>
                <a:cubicBezTo>
                  <a:pt x="58341" y="13049"/>
                  <a:pt x="45292" y="0"/>
                  <a:pt x="29170" y="0"/>
                </a:cubicBezTo>
                <a:cubicBezTo>
                  <a:pt x="13049" y="0"/>
                  <a:pt x="0" y="13049"/>
                  <a:pt x="0" y="29170"/>
                </a:cubicBezTo>
                <a:cubicBezTo>
                  <a:pt x="0" y="45292"/>
                  <a:pt x="13049" y="58341"/>
                  <a:pt x="29170" y="58341"/>
                </a:cubicBezTo>
                <a:cubicBezTo>
                  <a:pt x="32895" y="58341"/>
                  <a:pt x="36437" y="57637"/>
                  <a:pt x="39719" y="56387"/>
                </a:cubicBezTo>
                <a:lnTo>
                  <a:pt x="50006" y="66675"/>
                </a:lnTo>
                <a:close/>
                <a:moveTo>
                  <a:pt x="75504" y="92173"/>
                </a:moveTo>
                <a:lnTo>
                  <a:pt x="103346" y="120015"/>
                </a:lnTo>
                <a:cubicBezTo>
                  <a:pt x="110717" y="127386"/>
                  <a:pt x="122646" y="127386"/>
                  <a:pt x="130016" y="120015"/>
                </a:cubicBezTo>
                <a:cubicBezTo>
                  <a:pt x="131865" y="118166"/>
                  <a:pt x="131865" y="115197"/>
                  <a:pt x="130016" y="113348"/>
                </a:cubicBezTo>
                <a:lnTo>
                  <a:pt x="92173" y="75504"/>
                </a:lnTo>
                <a:lnTo>
                  <a:pt x="75504" y="92173"/>
                </a:lnTo>
                <a:close/>
                <a:moveTo>
                  <a:pt x="16669" y="29170"/>
                </a:moveTo>
                <a:cubicBezTo>
                  <a:pt x="16669" y="22271"/>
                  <a:pt x="22271" y="16669"/>
                  <a:pt x="29170" y="16669"/>
                </a:cubicBezTo>
                <a:cubicBezTo>
                  <a:pt x="36070" y="16669"/>
                  <a:pt x="41672" y="22271"/>
                  <a:pt x="41672" y="29170"/>
                </a:cubicBezTo>
                <a:cubicBezTo>
                  <a:pt x="41672" y="36070"/>
                  <a:pt x="36070" y="41672"/>
                  <a:pt x="29170" y="41672"/>
                </a:cubicBezTo>
                <a:cubicBezTo>
                  <a:pt x="22271" y="41672"/>
                  <a:pt x="16669" y="36070"/>
                  <a:pt x="16669" y="29170"/>
                </a:cubicBezTo>
                <a:close/>
                <a:moveTo>
                  <a:pt x="29170" y="91678"/>
                </a:moveTo>
                <a:cubicBezTo>
                  <a:pt x="36070" y="91678"/>
                  <a:pt x="41672" y="97280"/>
                  <a:pt x="41672" y="104180"/>
                </a:cubicBezTo>
                <a:cubicBezTo>
                  <a:pt x="41672" y="111079"/>
                  <a:pt x="36070" y="116681"/>
                  <a:pt x="29170" y="116681"/>
                </a:cubicBezTo>
                <a:cubicBezTo>
                  <a:pt x="22271" y="116681"/>
                  <a:pt x="16669" y="111079"/>
                  <a:pt x="16669" y="104180"/>
                </a:cubicBezTo>
                <a:cubicBezTo>
                  <a:pt x="16669" y="97280"/>
                  <a:pt x="22271" y="91678"/>
                  <a:pt x="29170" y="91678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43" name="Text 41"/>
          <p:cNvSpPr/>
          <p:nvPr/>
        </p:nvSpPr>
        <p:spPr>
          <a:xfrm>
            <a:off x="6619875" y="294322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Reward Clipping: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Récompenses dans [-1, +1] pour gradients stables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6013" y="3490913"/>
            <a:ext cx="5610225" cy="2219325"/>
          </a:xfrm>
          <a:custGeom>
            <a:avLst/>
            <a:gdLst/>
            <a:ahLst/>
            <a:cxnLst/>
            <a:rect l="l" t="t" r="r" b="b"/>
            <a:pathLst>
              <a:path w="5610225" h="2219325">
                <a:moveTo>
                  <a:pt x="114295" y="0"/>
                </a:moveTo>
                <a:lnTo>
                  <a:pt x="5495930" y="0"/>
                </a:lnTo>
                <a:cubicBezTo>
                  <a:pt x="5559053" y="0"/>
                  <a:pt x="5610225" y="51172"/>
                  <a:pt x="5610225" y="114295"/>
                </a:cubicBezTo>
                <a:lnTo>
                  <a:pt x="5610225" y="2105030"/>
                </a:lnTo>
                <a:cubicBezTo>
                  <a:pt x="5610225" y="2168153"/>
                  <a:pt x="5559053" y="2219325"/>
                  <a:pt x="5495930" y="2219325"/>
                </a:cubicBezTo>
                <a:lnTo>
                  <a:pt x="114295" y="2219325"/>
                </a:lnTo>
                <a:cubicBezTo>
                  <a:pt x="51172" y="2219325"/>
                  <a:pt x="0" y="2168153"/>
                  <a:pt x="0" y="21050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3175" y="36480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Architecture Réseau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3175" y="399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493073" y="4124325"/>
            <a:ext cx="180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24600" y="4486275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Input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110413" y="4238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50" name="Shape 48"/>
          <p:cNvSpPr/>
          <p:nvPr/>
        </p:nvSpPr>
        <p:spPr>
          <a:xfrm>
            <a:off x="7562850" y="399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7645896" y="4124325"/>
            <a:ext cx="295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256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34275" y="4486275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Dense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20088" y="4238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54" name="Shape 52"/>
          <p:cNvSpPr/>
          <p:nvPr/>
        </p:nvSpPr>
        <p:spPr>
          <a:xfrm>
            <a:off x="8772525" y="399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8855571" y="4124325"/>
            <a:ext cx="295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256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743950" y="4486275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Dense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529763" y="4238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58" name="Shape 56"/>
          <p:cNvSpPr/>
          <p:nvPr/>
        </p:nvSpPr>
        <p:spPr>
          <a:xfrm>
            <a:off x="9982200" y="399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10079534" y="4124325"/>
            <a:ext cx="266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128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953625" y="4486275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Dense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739438" y="4238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62" name="Shape 60"/>
          <p:cNvSpPr/>
          <p:nvPr/>
        </p:nvSpPr>
        <p:spPr>
          <a:xfrm>
            <a:off x="11191875" y="399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11348442" y="4124325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9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163300" y="4486275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Output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53175" y="4714875"/>
            <a:ext cx="267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Learning Rate: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53175" y="4905375"/>
            <a:ext cx="267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1×10⁻⁴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039225" y="4714875"/>
            <a:ext cx="267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Batch Size: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039225" y="4905375"/>
            <a:ext cx="267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64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53175" y="5172075"/>
            <a:ext cx="267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Buffer Size: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53175" y="5362575"/>
            <a:ext cx="267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100,000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039225" y="5172075"/>
            <a:ext cx="267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Target Update: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039225" y="5362575"/>
            <a:ext cx="267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1000 steps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A2C et PPO : Méthodes Actor-Critic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2447925"/>
          </a:xfrm>
          <a:custGeom>
            <a:avLst/>
            <a:gdLst/>
            <a:ahLst/>
            <a:cxnLst/>
            <a:rect l="l" t="t" r="r" b="b"/>
            <a:pathLst>
              <a:path w="5610225" h="2447925">
                <a:moveTo>
                  <a:pt x="114294" y="0"/>
                </a:moveTo>
                <a:lnTo>
                  <a:pt x="5495931" y="0"/>
                </a:lnTo>
                <a:cubicBezTo>
                  <a:pt x="5559054" y="0"/>
                  <a:pt x="5610225" y="51171"/>
                  <a:pt x="5610225" y="114294"/>
                </a:cubicBezTo>
                <a:lnTo>
                  <a:pt x="5610225" y="2333631"/>
                </a:lnTo>
                <a:cubicBezTo>
                  <a:pt x="5610225" y="2396754"/>
                  <a:pt x="5559054" y="2447925"/>
                  <a:pt x="5495931" y="2447925"/>
                </a:cubicBezTo>
                <a:lnTo>
                  <a:pt x="114294" y="2447925"/>
                </a:lnTo>
                <a:cubicBezTo>
                  <a:pt x="51171" y="2447925"/>
                  <a:pt x="0" y="2396754"/>
                  <a:pt x="0" y="23336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228725"/>
            <a:ext cx="581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A2C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5400" y="1228725"/>
            <a:ext cx="733425" cy="304800"/>
          </a:xfrm>
          <a:custGeom>
            <a:avLst/>
            <a:gdLst/>
            <a:ahLst/>
            <a:cxnLst/>
            <a:rect l="l" t="t" r="r" b="b"/>
            <a:pathLst>
              <a:path w="733425" h="304800">
                <a:moveTo>
                  <a:pt x="152400" y="0"/>
                </a:moveTo>
                <a:lnTo>
                  <a:pt x="581025" y="0"/>
                </a:lnTo>
                <a:cubicBezTo>
                  <a:pt x="665137" y="0"/>
                  <a:pt x="733425" y="68288"/>
                  <a:pt x="733425" y="152400"/>
                </a:cubicBezTo>
                <a:lnTo>
                  <a:pt x="733425" y="152400"/>
                </a:lnTo>
                <a:cubicBezTo>
                  <a:pt x="733425" y="236512"/>
                  <a:pt x="665137" y="304800"/>
                  <a:pt x="5810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219700" y="1314450"/>
            <a:ext cx="57140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45% WR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609725"/>
            <a:ext cx="5362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Méthode </a:t>
            </a: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on-policy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combinant apprentissage de politique (Actor) et fonction de valeur (Critic).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066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19125" y="21431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A(sₜ,aₜ) = rₜ + γV(sₜ₊₁) - V(sₜ)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4860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81025" y="252412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L_actor: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-E[log πθ(aₜ|sₜ) · Aₜ]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2925" y="27908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581025" y="282892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L_critic: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E[(V_φ(sₜ) - Gₜ)²]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30956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81025" y="313372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H(π):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Bonus d'entropie pour exploration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3681413"/>
            <a:ext cx="5610225" cy="847725"/>
          </a:xfrm>
          <a:custGeom>
            <a:avLst/>
            <a:gdLst/>
            <a:ahLst/>
            <a:cxnLst/>
            <a:rect l="l" t="t" r="r" b="b"/>
            <a:pathLst>
              <a:path w="5610225" h="847725">
                <a:moveTo>
                  <a:pt x="114299" y="0"/>
                </a:moveTo>
                <a:lnTo>
                  <a:pt x="5495926" y="0"/>
                </a:lnTo>
                <a:cubicBezTo>
                  <a:pt x="5559052" y="0"/>
                  <a:pt x="5610225" y="51173"/>
                  <a:pt x="5610225" y="114299"/>
                </a:cubicBezTo>
                <a:lnTo>
                  <a:pt x="5610225" y="733426"/>
                </a:lnTo>
                <a:cubicBezTo>
                  <a:pt x="5610225" y="796552"/>
                  <a:pt x="5559052" y="847725"/>
                  <a:pt x="549592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925" y="3838575"/>
            <a:ext cx="538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Limites A2C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1975" y="4219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4A5568"/>
          </a:solidFill>
        </p:spPr>
      </p:sp>
      <p:sp>
        <p:nvSpPr>
          <p:cNvPr id="20" name="Text 18"/>
          <p:cNvSpPr/>
          <p:nvPr/>
        </p:nvSpPr>
        <p:spPr>
          <a:xfrm>
            <a:off x="809625" y="4181475"/>
            <a:ext cx="4895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Variance élevée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dans apprentissage on-policy, performance 45% inférieure à DQN.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6013" y="1071563"/>
            <a:ext cx="5610225" cy="1800225"/>
          </a:xfrm>
          <a:custGeom>
            <a:avLst/>
            <a:gdLst/>
            <a:ahLst/>
            <a:cxnLst/>
            <a:rect l="l" t="t" r="r" b="b"/>
            <a:pathLst>
              <a:path w="5610225" h="1800225">
                <a:moveTo>
                  <a:pt x="114296" y="0"/>
                </a:moveTo>
                <a:lnTo>
                  <a:pt x="5495929" y="0"/>
                </a:lnTo>
                <a:cubicBezTo>
                  <a:pt x="5559011" y="0"/>
                  <a:pt x="5610225" y="51214"/>
                  <a:pt x="5610225" y="114296"/>
                </a:cubicBezTo>
                <a:lnTo>
                  <a:pt x="5610225" y="1685929"/>
                </a:lnTo>
                <a:cubicBezTo>
                  <a:pt x="5610225" y="1749011"/>
                  <a:pt x="5559011" y="1800225"/>
                  <a:pt x="5495929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3175" y="1228725"/>
            <a:ext cx="581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PPO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07588" y="1228725"/>
            <a:ext cx="942975" cy="304800"/>
          </a:xfrm>
          <a:custGeom>
            <a:avLst/>
            <a:gdLst/>
            <a:ahLst/>
            <a:cxnLst/>
            <a:rect l="l" t="t" r="r" b="b"/>
            <a:pathLst>
              <a:path w="942975" h="304800">
                <a:moveTo>
                  <a:pt x="152400" y="0"/>
                </a:moveTo>
                <a:lnTo>
                  <a:pt x="790575" y="0"/>
                </a:lnTo>
                <a:cubicBezTo>
                  <a:pt x="874687" y="0"/>
                  <a:pt x="942975" y="68288"/>
                  <a:pt x="942975" y="152400"/>
                </a:cubicBezTo>
                <a:lnTo>
                  <a:pt x="942975" y="152400"/>
                </a:lnTo>
                <a:cubicBezTo>
                  <a:pt x="942975" y="236512"/>
                  <a:pt x="874687" y="304800"/>
                  <a:pt x="7905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10821888" y="1314450"/>
            <a:ext cx="77943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52-53% WR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3175" y="16097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Méthode de </a:t>
            </a: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gradient de politique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avec objectif surrogate clippé pour training stable.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3175" y="18764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429375" y="19526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rₜ(θ) = πθ(aₜ|sₜ) / πθ_old(aₜ|sₜ)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3175" y="22955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429375" y="23717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L^CLIP = E[min(rₜ(θ)Âₜ, clip(rₜ(θ), 1-ε, 1+ε)Âₜ)]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6013" y="3033713"/>
            <a:ext cx="5610225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3175" y="31908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Architecture &amp; Hyperparamètres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3175" y="3533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467624" y="3648075"/>
            <a:ext cx="1524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24600" y="3952875"/>
            <a:ext cx="438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Input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86675" y="3743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36" name="Shape 34"/>
          <p:cNvSpPr/>
          <p:nvPr/>
        </p:nvSpPr>
        <p:spPr>
          <a:xfrm>
            <a:off x="8791575" y="3533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8857357" y="3648075"/>
            <a:ext cx="2476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63000" y="3952875"/>
            <a:ext cx="438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Shared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106025" y="3590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10145911" y="3667125"/>
            <a:ext cx="2286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77450" y="3895725"/>
            <a:ext cx="3619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Policy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344275" y="3590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11384161" y="3667125"/>
            <a:ext cx="2286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15700" y="3895725"/>
            <a:ext cx="3619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Value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3175" y="4181475"/>
            <a:ext cx="2609850" cy="228600"/>
          </a:xfrm>
          <a:custGeom>
            <a:avLst/>
            <a:gdLst/>
            <a:ahLst/>
            <a:cxnLst/>
            <a:rect l="l" t="t" r="r" b="b"/>
            <a:pathLst>
              <a:path w="2609850" h="2286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190499"/>
                </a:lnTo>
                <a:cubicBezTo>
                  <a:pt x="2609850" y="211542"/>
                  <a:pt x="2592792" y="228600"/>
                  <a:pt x="2571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6391275" y="4219575"/>
            <a:ext cx="2590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clip_range: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0.2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39225" y="4181475"/>
            <a:ext cx="2609850" cy="228600"/>
          </a:xfrm>
          <a:custGeom>
            <a:avLst/>
            <a:gdLst/>
            <a:ahLst/>
            <a:cxnLst/>
            <a:rect l="l" t="t" r="r" b="b"/>
            <a:pathLst>
              <a:path w="2609850" h="2286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190499"/>
                </a:lnTo>
                <a:cubicBezTo>
                  <a:pt x="2609850" y="211542"/>
                  <a:pt x="2592792" y="228600"/>
                  <a:pt x="2571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9077325" y="4219575"/>
            <a:ext cx="2590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ent_coef: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0.01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3175" y="4486275"/>
            <a:ext cx="2609850" cy="228600"/>
          </a:xfrm>
          <a:custGeom>
            <a:avLst/>
            <a:gdLst/>
            <a:ahLst/>
            <a:cxnLst/>
            <a:rect l="l" t="t" r="r" b="b"/>
            <a:pathLst>
              <a:path w="2609850" h="2286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190499"/>
                </a:lnTo>
                <a:cubicBezTo>
                  <a:pt x="2609850" y="211542"/>
                  <a:pt x="2592792" y="228600"/>
                  <a:pt x="2571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6391275" y="4524375"/>
            <a:ext cx="2590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n_steps: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2048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39225" y="4486275"/>
            <a:ext cx="2609850" cy="228600"/>
          </a:xfrm>
          <a:custGeom>
            <a:avLst/>
            <a:gdLst/>
            <a:ahLst/>
            <a:cxnLst/>
            <a:rect l="l" t="t" r="r" b="b"/>
            <a:pathLst>
              <a:path w="2609850" h="2286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190499"/>
                </a:lnTo>
                <a:cubicBezTo>
                  <a:pt x="2609850" y="211542"/>
                  <a:pt x="2592792" y="228600"/>
                  <a:pt x="2571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9077325" y="4524375"/>
            <a:ext cx="2590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n_epochs: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Recurrent PPO (LSTM-based) : Le Meilleur Modèle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1952625"/>
          </a:xfrm>
          <a:custGeom>
            <a:avLst/>
            <a:gdLst/>
            <a:ahLst/>
            <a:cxnLst/>
            <a:rect l="l" t="t" r="r" b="b"/>
            <a:pathLst>
              <a:path w="5610225" h="19526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838318"/>
                </a:lnTo>
                <a:cubicBezTo>
                  <a:pt x="5610225" y="1901448"/>
                  <a:pt x="5559048" y="1952625"/>
                  <a:pt x="549591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228725"/>
            <a:ext cx="167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Recurrent PPO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87367" y="1228725"/>
            <a:ext cx="952500" cy="304800"/>
          </a:xfrm>
          <a:custGeom>
            <a:avLst/>
            <a:gdLst/>
            <a:ahLst/>
            <a:cxnLst/>
            <a:rect l="l" t="t" r="r" b="b"/>
            <a:pathLst>
              <a:path w="952500" h="304800">
                <a:moveTo>
                  <a:pt x="152400" y="0"/>
                </a:moveTo>
                <a:lnTo>
                  <a:pt x="800100" y="0"/>
                </a:lnTo>
                <a:cubicBezTo>
                  <a:pt x="884212" y="0"/>
                  <a:pt x="952500" y="68288"/>
                  <a:pt x="952500" y="152400"/>
                </a:cubicBezTo>
                <a:lnTo>
                  <a:pt x="952500" y="152400"/>
                </a:lnTo>
                <a:cubicBezTo>
                  <a:pt x="952500" y="236512"/>
                  <a:pt x="884212" y="304800"/>
                  <a:pt x="8001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001667" y="1314450"/>
            <a:ext cx="789432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57-60% WR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6097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Extension de PPO avec </a:t>
            </a: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réseaux LSTM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pour gérer l'observabilité partielle.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18764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19125" y="19526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hₜ = oₜ ⊙ tanh(Cₜ)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2955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81025" y="233362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fₜ: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Forget gate, </a:t>
            </a: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iₜ: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Input gate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2925" y="26003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581025" y="263842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Cₜ: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Cell state, </a:t>
            </a: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oₜ: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Output gate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186113"/>
            <a:ext cx="5610225" cy="1533525"/>
          </a:xfrm>
          <a:custGeom>
            <a:avLst/>
            <a:gdLst/>
            <a:ahLst/>
            <a:cxnLst/>
            <a:rect l="l" t="t" r="r" b="b"/>
            <a:pathLst>
              <a:path w="5610225" h="1533525">
                <a:moveTo>
                  <a:pt x="114294" y="0"/>
                </a:moveTo>
                <a:lnTo>
                  <a:pt x="5495931" y="0"/>
                </a:lnTo>
                <a:cubicBezTo>
                  <a:pt x="5559054" y="0"/>
                  <a:pt x="5610225" y="51171"/>
                  <a:pt x="5610225" y="114294"/>
                </a:cubicBezTo>
                <a:lnTo>
                  <a:pt x="5610225" y="1419231"/>
                </a:lnTo>
                <a:cubicBezTo>
                  <a:pt x="5610225" y="1482354"/>
                  <a:pt x="5559054" y="1533525"/>
                  <a:pt x="549593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925" y="33432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Avantages pour UNO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1975" y="3714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8" name="Text 16"/>
          <p:cNvSpPr/>
          <p:nvPr/>
        </p:nvSpPr>
        <p:spPr>
          <a:xfrm>
            <a:off x="771525" y="36861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Suit les cartes jouées pour estimer deck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1975" y="39433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0" name="Text 18"/>
          <p:cNvSpPr/>
          <p:nvPr/>
        </p:nvSpPr>
        <p:spPr>
          <a:xfrm>
            <a:off x="771525" y="39147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Infère la main de l'adversaire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1975" y="4171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2" name="Text 20"/>
          <p:cNvSpPr/>
          <p:nvPr/>
        </p:nvSpPr>
        <p:spPr>
          <a:xfrm>
            <a:off x="771525" y="41433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Reconnaît les stratégies adverses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1975" y="4400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4" name="Text 22"/>
          <p:cNvSpPr/>
          <p:nvPr/>
        </p:nvSpPr>
        <p:spPr>
          <a:xfrm>
            <a:off x="771525" y="43719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Comprend le contexte de la séquence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6013" y="1071563"/>
            <a:ext cx="5610225" cy="2066925"/>
          </a:xfrm>
          <a:custGeom>
            <a:avLst/>
            <a:gdLst/>
            <a:ahLst/>
            <a:cxnLst/>
            <a:rect l="l" t="t" r="r" b="b"/>
            <a:pathLst>
              <a:path w="5610225" h="20669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1952624"/>
                </a:lnTo>
                <a:cubicBezTo>
                  <a:pt x="5610225" y="2015751"/>
                  <a:pt x="5559051" y="2066925"/>
                  <a:pt x="5495924" y="2066925"/>
                </a:cubicBezTo>
                <a:lnTo>
                  <a:pt x="114301" y="2066925"/>
                </a:lnTo>
                <a:cubicBezTo>
                  <a:pt x="51174" y="2066925"/>
                  <a:pt x="0" y="2015751"/>
                  <a:pt x="0" y="19526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3175" y="122872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Architecture Complète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3175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6467624" y="1762125"/>
            <a:ext cx="1524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24600" y="2066925"/>
            <a:ext cx="438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16105" y="1857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31" name="Shape 29"/>
          <p:cNvSpPr/>
          <p:nvPr/>
        </p:nvSpPr>
        <p:spPr>
          <a:xfrm>
            <a:off x="8250436" y="1571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8392418" y="1762125"/>
            <a:ext cx="2476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1861" y="2143125"/>
            <a:ext cx="5905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LSTM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465766" y="1857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35" name="Shape 33"/>
          <p:cNvSpPr/>
          <p:nvPr/>
        </p:nvSpPr>
        <p:spPr>
          <a:xfrm>
            <a:off x="10300097" y="16478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10378083" y="1762125"/>
            <a:ext cx="2286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71522" y="2066925"/>
            <a:ext cx="438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Dense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343977" y="1704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11434614" y="1781175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15402" y="2009775"/>
            <a:ext cx="3619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π(a|s)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3175" y="2371725"/>
            <a:ext cx="2609850" cy="228600"/>
          </a:xfrm>
          <a:custGeom>
            <a:avLst/>
            <a:gdLst/>
            <a:ahLst/>
            <a:cxnLst/>
            <a:rect l="l" t="t" r="r" b="b"/>
            <a:pathLst>
              <a:path w="2609850" h="2286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190499"/>
                </a:lnTo>
                <a:cubicBezTo>
                  <a:pt x="2609850" y="211542"/>
                  <a:pt x="2592792" y="228600"/>
                  <a:pt x="2571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6391275" y="2409825"/>
            <a:ext cx="2590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lstm_hidden: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256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39225" y="2371725"/>
            <a:ext cx="2609850" cy="228600"/>
          </a:xfrm>
          <a:custGeom>
            <a:avLst/>
            <a:gdLst/>
            <a:ahLst/>
            <a:cxnLst/>
            <a:rect l="l" t="t" r="r" b="b"/>
            <a:pathLst>
              <a:path w="2609850" h="2286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190499"/>
                </a:lnTo>
                <a:cubicBezTo>
                  <a:pt x="2609850" y="211542"/>
                  <a:pt x="2592792" y="228600"/>
                  <a:pt x="2571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9077325" y="2409825"/>
            <a:ext cx="2590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n_lstm_layers: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3175" y="2676525"/>
            <a:ext cx="2609850" cy="228600"/>
          </a:xfrm>
          <a:custGeom>
            <a:avLst/>
            <a:gdLst/>
            <a:ahLst/>
            <a:cxnLst/>
            <a:rect l="l" t="t" r="r" b="b"/>
            <a:pathLst>
              <a:path w="2609850" h="2286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190499"/>
                </a:lnTo>
                <a:cubicBezTo>
                  <a:pt x="2609850" y="211542"/>
                  <a:pt x="2592792" y="228600"/>
                  <a:pt x="2571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6391275" y="2714625"/>
            <a:ext cx="2590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shared_lstm: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True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39225" y="2676525"/>
            <a:ext cx="2609850" cy="228600"/>
          </a:xfrm>
          <a:custGeom>
            <a:avLst/>
            <a:gdLst/>
            <a:ahLst/>
            <a:cxnLst/>
            <a:rect l="l" t="t" r="r" b="b"/>
            <a:pathLst>
              <a:path w="2609850" h="228600">
                <a:moveTo>
                  <a:pt x="38101" y="0"/>
                </a:moveTo>
                <a:lnTo>
                  <a:pt x="2571749" y="0"/>
                </a:lnTo>
                <a:cubicBezTo>
                  <a:pt x="2592792" y="0"/>
                  <a:pt x="2609850" y="17058"/>
                  <a:pt x="2609850" y="38101"/>
                </a:cubicBezTo>
                <a:lnTo>
                  <a:pt x="2609850" y="190499"/>
                </a:lnTo>
                <a:cubicBezTo>
                  <a:pt x="2609850" y="211542"/>
                  <a:pt x="2592792" y="228600"/>
                  <a:pt x="2571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9077325" y="2714625"/>
            <a:ext cx="25908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batch_size:</a:t>
            </a:r>
            <a:r>
              <a:rPr lang="en-US" sz="9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256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6013" y="3300413"/>
            <a:ext cx="5610225" cy="1647825"/>
          </a:xfrm>
          <a:custGeom>
            <a:avLst/>
            <a:gdLst/>
            <a:ahLst/>
            <a:cxnLst/>
            <a:rect l="l" t="t" r="r" b="b"/>
            <a:pathLst>
              <a:path w="5610225" h="16478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1533532"/>
                </a:lnTo>
                <a:cubicBezTo>
                  <a:pt x="5610225" y="1596612"/>
                  <a:pt x="5559012" y="1647825"/>
                  <a:pt x="54959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3175" y="34575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Comparaison Hyperparamètres</a:t>
            </a:r>
            <a:endParaRPr lang="en-US" sz="16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/>
        </p:nvGraphicFramePr>
        <p:xfrm>
          <a:off x="6353175" y="3800475"/>
          <a:ext cx="5295901" cy="990600"/>
        </p:xfrm>
        <a:graphic>
          <a:graphicData uri="http://schemas.openxmlformats.org/drawingml/2006/table">
            <a:tbl>
              <a:tblPr/>
              <a:tblGrid>
                <a:gridCol w="2795854"/>
                <a:gridCol w="1106891"/>
                <a:gridCol w="1393156"/>
              </a:tblGrid>
              <a:tr h="19812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C0A57D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Param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3D8F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RPPO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learning_rate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3e-4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D8F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2.5e-4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n_steps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2048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D8F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128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n_epochs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10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D8F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4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lstm_hidden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-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D8F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256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2" name="Shape 49"/>
          <p:cNvSpPr/>
          <p:nvPr/>
        </p:nvSpPr>
        <p:spPr>
          <a:xfrm>
            <a:off x="6196013" y="5110163"/>
            <a:ext cx="5610225" cy="466725"/>
          </a:xfrm>
          <a:custGeom>
            <a:avLst/>
            <a:gdLst/>
            <a:ahLst/>
            <a:cxnLst/>
            <a:rect l="l" t="t" r="r" b="b"/>
            <a:pathLst>
              <a:path w="5610225" h="4667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352424"/>
                </a:lnTo>
                <a:cubicBezTo>
                  <a:pt x="5610225" y="415551"/>
                  <a:pt x="5559051" y="466725"/>
                  <a:pt x="5495924" y="466725"/>
                </a:cubicBezTo>
                <a:lnTo>
                  <a:pt x="114301" y="466725"/>
                </a:lnTo>
                <a:cubicBezTo>
                  <a:pt x="51174" y="466725"/>
                  <a:pt x="0" y="415551"/>
                  <a:pt x="0" y="3524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38888" y="5248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54" name="Text 51"/>
          <p:cNvSpPr/>
          <p:nvPr/>
        </p:nvSpPr>
        <p:spPr>
          <a:xfrm>
            <a:off x="6629400" y="5229225"/>
            <a:ext cx="2533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RecurrentPPO : </a:t>
            </a: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MEILLEUR modèle 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Self-Play Training : Curriculum Learning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1762125"/>
          </a:xfrm>
          <a:custGeom>
            <a:avLst/>
            <a:gdLst/>
            <a:ahLst/>
            <a:cxnLst/>
            <a:rect l="l" t="t" r="r" b="b"/>
            <a:pathLst>
              <a:path w="5610225" h="1762125">
                <a:moveTo>
                  <a:pt x="114291" y="0"/>
                </a:moveTo>
                <a:lnTo>
                  <a:pt x="5495934" y="0"/>
                </a:lnTo>
                <a:cubicBezTo>
                  <a:pt x="5559055" y="0"/>
                  <a:pt x="5610225" y="51170"/>
                  <a:pt x="5610225" y="114291"/>
                </a:cubicBezTo>
                <a:lnTo>
                  <a:pt x="5610225" y="1647834"/>
                </a:lnTo>
                <a:cubicBezTo>
                  <a:pt x="5610225" y="1710955"/>
                  <a:pt x="5559055" y="1762125"/>
                  <a:pt x="5495934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228725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Concept de Self-Play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2925" y="1609725"/>
            <a:ext cx="5362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Entraînement contre ses propres versions pour une amélioration continue, évitant le surapprentissage.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925" y="2066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619125" y="21431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P(opponent=πᵢ) ∝ wᵢ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4860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Pool d'agents P = {π₁, π₂, ..., πₖ} avec wᵢ favorisant récence et force.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995613"/>
            <a:ext cx="5610225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925" y="31527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Architecture Self-Play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34956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46509" y="3600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2846" y="-3386"/>
                </a:moveTo>
                <a:cubicBezTo>
                  <a:pt x="59877" y="-3985"/>
                  <a:pt x="56830" y="-3985"/>
                  <a:pt x="53861" y="-3386"/>
                </a:cubicBezTo>
                <a:lnTo>
                  <a:pt x="5027" y="6381"/>
                </a:lnTo>
                <a:cubicBezTo>
                  <a:pt x="2110" y="6954"/>
                  <a:pt x="0" y="9532"/>
                  <a:pt x="0" y="12502"/>
                </a:cubicBezTo>
                <a:cubicBezTo>
                  <a:pt x="0" y="15184"/>
                  <a:pt x="1693" y="17528"/>
                  <a:pt x="4167" y="18388"/>
                </a:cubicBezTo>
                <a:lnTo>
                  <a:pt x="4167" y="37505"/>
                </a:lnTo>
                <a:lnTo>
                  <a:pt x="78" y="57976"/>
                </a:lnTo>
                <a:cubicBezTo>
                  <a:pt x="26" y="58210"/>
                  <a:pt x="0" y="58471"/>
                  <a:pt x="0" y="58731"/>
                </a:cubicBezTo>
                <a:cubicBezTo>
                  <a:pt x="0" y="60815"/>
                  <a:pt x="1693" y="62534"/>
                  <a:pt x="3803" y="62534"/>
                </a:cubicBezTo>
                <a:lnTo>
                  <a:pt x="12892" y="62534"/>
                </a:lnTo>
                <a:cubicBezTo>
                  <a:pt x="14976" y="62534"/>
                  <a:pt x="16695" y="60841"/>
                  <a:pt x="16695" y="58731"/>
                </a:cubicBezTo>
                <a:cubicBezTo>
                  <a:pt x="16695" y="58471"/>
                  <a:pt x="16669" y="58236"/>
                  <a:pt x="16617" y="57976"/>
                </a:cubicBezTo>
                <a:lnTo>
                  <a:pt x="12502" y="37505"/>
                </a:lnTo>
                <a:lnTo>
                  <a:pt x="12502" y="20133"/>
                </a:lnTo>
                <a:lnTo>
                  <a:pt x="25003" y="22633"/>
                </a:lnTo>
                <a:lnTo>
                  <a:pt x="25003" y="37505"/>
                </a:lnTo>
                <a:cubicBezTo>
                  <a:pt x="25003" y="55918"/>
                  <a:pt x="39927" y="70842"/>
                  <a:pt x="58341" y="70842"/>
                </a:cubicBezTo>
                <a:cubicBezTo>
                  <a:pt x="76754" y="70842"/>
                  <a:pt x="91678" y="55918"/>
                  <a:pt x="91678" y="37505"/>
                </a:cubicBezTo>
                <a:lnTo>
                  <a:pt x="91678" y="22633"/>
                </a:lnTo>
                <a:lnTo>
                  <a:pt x="111655" y="18648"/>
                </a:lnTo>
                <a:cubicBezTo>
                  <a:pt x="114572" y="18049"/>
                  <a:pt x="116681" y="15471"/>
                  <a:pt x="116681" y="12502"/>
                </a:cubicBezTo>
                <a:cubicBezTo>
                  <a:pt x="116681" y="9532"/>
                  <a:pt x="114572" y="6954"/>
                  <a:pt x="111655" y="6381"/>
                </a:cubicBezTo>
                <a:lnTo>
                  <a:pt x="62846" y="-3386"/>
                </a:lnTo>
                <a:close/>
                <a:moveTo>
                  <a:pt x="58341" y="58341"/>
                </a:moveTo>
                <a:cubicBezTo>
                  <a:pt x="46829" y="58341"/>
                  <a:pt x="37505" y="49017"/>
                  <a:pt x="37505" y="37505"/>
                </a:cubicBezTo>
                <a:lnTo>
                  <a:pt x="79177" y="37505"/>
                </a:lnTo>
                <a:cubicBezTo>
                  <a:pt x="79177" y="49017"/>
                  <a:pt x="69852" y="58341"/>
                  <a:pt x="58341" y="58341"/>
                </a:cubicBezTo>
                <a:close/>
                <a:moveTo>
                  <a:pt x="31280" y="83370"/>
                </a:moveTo>
                <a:cubicBezTo>
                  <a:pt x="15288" y="90714"/>
                  <a:pt x="4167" y="106862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52090" y="133350"/>
                </a:lnTo>
                <a:lnTo>
                  <a:pt x="52090" y="95324"/>
                </a:lnTo>
                <a:lnTo>
                  <a:pt x="37140" y="84125"/>
                </a:lnTo>
                <a:cubicBezTo>
                  <a:pt x="35447" y="82849"/>
                  <a:pt x="33181" y="82510"/>
                  <a:pt x="31254" y="83396"/>
                </a:cubicBezTo>
                <a:close/>
                <a:moveTo>
                  <a:pt x="64591" y="133350"/>
                </a:move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106862"/>
                  <a:pt x="101393" y="90714"/>
                  <a:pt x="85401" y="83396"/>
                </a:cubicBezTo>
                <a:cubicBezTo>
                  <a:pt x="83474" y="82510"/>
                  <a:pt x="81208" y="82849"/>
                  <a:pt x="79515" y="84125"/>
                </a:cubicBezTo>
                <a:lnTo>
                  <a:pt x="64565" y="95324"/>
                </a:lnTo>
                <a:lnTo>
                  <a:pt x="64565" y="13335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14" name="Text 12"/>
          <p:cNvSpPr/>
          <p:nvPr/>
        </p:nvSpPr>
        <p:spPr>
          <a:xfrm>
            <a:off x="847725" y="35718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Current Agent: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En cours d'entraînement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39147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21506" y="40195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17" name="Text 15"/>
          <p:cNvSpPr/>
          <p:nvPr/>
        </p:nvSpPr>
        <p:spPr>
          <a:xfrm>
            <a:off x="847725" y="39909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Opponent Pool: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Checkpoints historiques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2925" y="43338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38175" y="4438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0" name="Text 18"/>
          <p:cNvSpPr/>
          <p:nvPr/>
        </p:nvSpPr>
        <p:spPr>
          <a:xfrm>
            <a:off x="847725" y="44100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Evaluator: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Évaluation périodique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6013" y="1071563"/>
            <a:ext cx="5610225" cy="2524125"/>
          </a:xfrm>
          <a:custGeom>
            <a:avLst/>
            <a:gdLst/>
            <a:ahLst/>
            <a:cxnLst/>
            <a:rect l="l" t="t" r="r" b="b"/>
            <a:pathLst>
              <a:path w="5610225" h="2524125">
                <a:moveTo>
                  <a:pt x="114292" y="0"/>
                </a:moveTo>
                <a:lnTo>
                  <a:pt x="5495933" y="0"/>
                </a:lnTo>
                <a:cubicBezTo>
                  <a:pt x="5559055" y="0"/>
                  <a:pt x="5610225" y="51170"/>
                  <a:pt x="5610225" y="114292"/>
                </a:cubicBezTo>
                <a:lnTo>
                  <a:pt x="5610225" y="2409833"/>
                </a:lnTo>
                <a:cubicBezTo>
                  <a:pt x="5610225" y="2472955"/>
                  <a:pt x="5559055" y="2524125"/>
                  <a:pt x="5495933" y="2524125"/>
                </a:cubicBezTo>
                <a:lnTo>
                  <a:pt x="114292" y="2524125"/>
                </a:lnTo>
                <a:cubicBezTo>
                  <a:pt x="51170" y="2524125"/>
                  <a:pt x="0" y="2472955"/>
                  <a:pt x="0" y="240983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3175" y="122872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Curriculum Learning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72225" y="1571625"/>
            <a:ext cx="5276850" cy="571500"/>
          </a:xfrm>
          <a:custGeom>
            <a:avLst/>
            <a:gdLst/>
            <a:ahLst/>
            <a:cxnLst/>
            <a:rect l="l" t="t" r="r" b="b"/>
            <a:pathLst>
              <a:path w="5276850" h="571500">
                <a:moveTo>
                  <a:pt x="38100" y="0"/>
                </a:moveTo>
                <a:lnTo>
                  <a:pt x="5238748" y="0"/>
                </a:lnTo>
                <a:cubicBezTo>
                  <a:pt x="5259791" y="0"/>
                  <a:pt x="5276850" y="17059"/>
                  <a:pt x="5276850" y="38102"/>
                </a:cubicBezTo>
                <a:lnTo>
                  <a:pt x="5276850" y="533398"/>
                </a:lnTo>
                <a:cubicBezTo>
                  <a:pt x="5276850" y="554441"/>
                  <a:pt x="5259791" y="571500"/>
                  <a:pt x="52387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372225" y="1571625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5" name="Text 23"/>
          <p:cNvSpPr/>
          <p:nvPr/>
        </p:nvSpPr>
        <p:spPr>
          <a:xfrm>
            <a:off x="6467475" y="1647825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1: Foundation (0-100K)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67475" y="1876425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80% adversaires aléatoires, apprentissage base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2225" y="2219325"/>
            <a:ext cx="5276850" cy="571500"/>
          </a:xfrm>
          <a:custGeom>
            <a:avLst/>
            <a:gdLst/>
            <a:ahLst/>
            <a:cxnLst/>
            <a:rect l="l" t="t" r="r" b="b"/>
            <a:pathLst>
              <a:path w="5276850" h="571500">
                <a:moveTo>
                  <a:pt x="38100" y="0"/>
                </a:moveTo>
                <a:lnTo>
                  <a:pt x="5238748" y="0"/>
                </a:lnTo>
                <a:cubicBezTo>
                  <a:pt x="5259791" y="0"/>
                  <a:pt x="5276850" y="17059"/>
                  <a:pt x="5276850" y="38102"/>
                </a:cubicBezTo>
                <a:lnTo>
                  <a:pt x="5276850" y="533398"/>
                </a:lnTo>
                <a:cubicBezTo>
                  <a:pt x="5276850" y="554441"/>
                  <a:pt x="5259791" y="571500"/>
                  <a:pt x="52387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372225" y="2219325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9" name="Text 27"/>
          <p:cNvSpPr/>
          <p:nvPr/>
        </p:nvSpPr>
        <p:spPr>
          <a:xfrm>
            <a:off x="6467475" y="2295525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2: Intro (100K-500K)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67475" y="2524125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50% mix, sauvegarde checkpoints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72225" y="2867025"/>
            <a:ext cx="5276850" cy="571500"/>
          </a:xfrm>
          <a:custGeom>
            <a:avLst/>
            <a:gdLst/>
            <a:ahLst/>
            <a:cxnLst/>
            <a:rect l="l" t="t" r="r" b="b"/>
            <a:pathLst>
              <a:path w="5276850" h="571500">
                <a:moveTo>
                  <a:pt x="38100" y="0"/>
                </a:moveTo>
                <a:lnTo>
                  <a:pt x="5238748" y="0"/>
                </a:lnTo>
                <a:cubicBezTo>
                  <a:pt x="5259791" y="0"/>
                  <a:pt x="5276850" y="17059"/>
                  <a:pt x="5276850" y="38102"/>
                </a:cubicBezTo>
                <a:lnTo>
                  <a:pt x="5276850" y="533398"/>
                </a:lnTo>
                <a:cubicBezTo>
                  <a:pt x="5276850" y="554441"/>
                  <a:pt x="5259791" y="571500"/>
                  <a:pt x="5238748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372225" y="2867025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3" name="Text 31"/>
          <p:cNvSpPr/>
          <p:nvPr/>
        </p:nvSpPr>
        <p:spPr>
          <a:xfrm>
            <a:off x="6467475" y="2943225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3: Pure Self-Play (500K+)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67475" y="3171825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Curriculum difficile, cible 70%+ WR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6013" y="3757613"/>
            <a:ext cx="5610225" cy="2257425"/>
          </a:xfrm>
          <a:custGeom>
            <a:avLst/>
            <a:gdLst/>
            <a:ahLst/>
            <a:cxnLst/>
            <a:rect l="l" t="t" r="r" b="b"/>
            <a:pathLst>
              <a:path w="5610225" h="22574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143132"/>
                </a:lnTo>
                <a:cubicBezTo>
                  <a:pt x="5610225" y="2206212"/>
                  <a:pt x="5559012" y="2257425"/>
                  <a:pt x="549593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3175" y="39147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Stratégie d'Échantillonnage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3175" y="4257675"/>
            <a:ext cx="5295900" cy="304800"/>
          </a:xfrm>
          <a:custGeom>
            <a:avLst/>
            <a:gdLst/>
            <a:ahLst/>
            <a:cxnLst/>
            <a:rect l="l" t="t" r="r" b="b"/>
            <a:pathLst>
              <a:path w="5295900" h="3048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266700"/>
                </a:lnTo>
                <a:cubicBezTo>
                  <a:pt x="5295900" y="287728"/>
                  <a:pt x="5278828" y="304800"/>
                  <a:pt x="52578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391275" y="4314825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Adversaire actuel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93078" y="4295775"/>
            <a:ext cx="390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3175" y="4600575"/>
            <a:ext cx="5295900" cy="304800"/>
          </a:xfrm>
          <a:custGeom>
            <a:avLst/>
            <a:gdLst/>
            <a:ahLst/>
            <a:cxnLst/>
            <a:rect l="l" t="t" r="r" b="b"/>
            <a:pathLst>
              <a:path w="5295900" h="3048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266700"/>
                </a:lnTo>
                <a:cubicBezTo>
                  <a:pt x="5295900" y="287728"/>
                  <a:pt x="5278828" y="304800"/>
                  <a:pt x="52578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391275" y="4657725"/>
            <a:ext cx="123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Checkpoints récents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297245" y="4638675"/>
            <a:ext cx="390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40%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3175" y="4943475"/>
            <a:ext cx="5295900" cy="304800"/>
          </a:xfrm>
          <a:custGeom>
            <a:avLst/>
            <a:gdLst/>
            <a:ahLst/>
            <a:cxnLst/>
            <a:rect l="l" t="t" r="r" b="b"/>
            <a:pathLst>
              <a:path w="5295900" h="3048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266700"/>
                </a:lnTo>
                <a:cubicBezTo>
                  <a:pt x="5295900" y="287728"/>
                  <a:pt x="5278828" y="304800"/>
                  <a:pt x="52578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391275" y="500062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Meilleur historique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297096" y="4981575"/>
            <a:ext cx="390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3175" y="5286375"/>
            <a:ext cx="5295900" cy="304800"/>
          </a:xfrm>
          <a:custGeom>
            <a:avLst/>
            <a:gdLst/>
            <a:ahLst/>
            <a:cxnLst/>
            <a:rect l="l" t="t" r="r" b="b"/>
            <a:pathLst>
              <a:path w="5295900" h="304800">
                <a:moveTo>
                  <a:pt x="38100" y="0"/>
                </a:moveTo>
                <a:lnTo>
                  <a:pt x="5257800" y="0"/>
                </a:lnTo>
                <a:cubicBezTo>
                  <a:pt x="5278828" y="0"/>
                  <a:pt x="5295900" y="17072"/>
                  <a:pt x="5295900" y="38100"/>
                </a:cubicBezTo>
                <a:lnTo>
                  <a:pt x="5295900" y="266700"/>
                </a:lnTo>
                <a:cubicBezTo>
                  <a:pt x="5295900" y="287728"/>
                  <a:pt x="5278828" y="304800"/>
                  <a:pt x="52578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391275" y="5343525"/>
            <a:ext cx="581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Aléatoire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326267" y="5324475"/>
            <a:ext cx="361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53175" y="566737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Poids adversaires : w = recency×0.6 + strength×0.4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dpi.com/595662daaed89b043667ae593c1c95c3446590a0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3962" b="396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C0A57D">
                  <a:alpha val="1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271588"/>
            <a:ext cx="2362200" cy="542925"/>
          </a:xfrm>
          <a:custGeom>
            <a:avLst/>
            <a:gdLst/>
            <a:ahLst/>
            <a:cxnLst/>
            <a:rect l="l" t="t" r="r" b="b"/>
            <a:pathLst>
              <a:path w="2362200" h="542925">
                <a:moveTo>
                  <a:pt x="271463" y="0"/>
                </a:moveTo>
                <a:lnTo>
                  <a:pt x="2090738" y="0"/>
                </a:lnTo>
                <a:cubicBezTo>
                  <a:pt x="2240562" y="0"/>
                  <a:pt x="2362200" y="121638"/>
                  <a:pt x="2362200" y="271463"/>
                </a:cubicBezTo>
                <a:lnTo>
                  <a:pt x="2362200" y="271463"/>
                </a:lnTo>
                <a:cubicBezTo>
                  <a:pt x="2362200" y="421287"/>
                  <a:pt x="2240562" y="542925"/>
                  <a:pt x="2090738" y="542925"/>
                </a:cubicBezTo>
                <a:lnTo>
                  <a:pt x="271463" y="542925"/>
                </a:lnTo>
                <a:cubicBezTo>
                  <a:pt x="121638" y="542925"/>
                  <a:pt x="0" y="421287"/>
                  <a:pt x="0" y="271463"/>
                </a:cubicBezTo>
                <a:lnTo>
                  <a:pt x="0" y="271463"/>
                </a:lnTo>
                <a:cubicBezTo>
                  <a:pt x="0" y="121638"/>
                  <a:pt x="121638" y="0"/>
                  <a:pt x="2714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5325" y="1371600"/>
            <a:ext cx="1853616" cy="333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CHAPITRE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2407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Méthodologie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et Architecture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63867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8" name="Text 5"/>
          <p:cNvSpPr/>
          <p:nvPr/>
        </p:nvSpPr>
        <p:spPr>
          <a:xfrm>
            <a:off x="381000" y="4905375"/>
            <a:ext cx="74580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 technique et implémentation du moteur de jeu et des environnements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Moteur de Jeu et Représentation d'État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2066925"/>
          </a:xfrm>
          <a:custGeom>
            <a:avLst/>
            <a:gdLst/>
            <a:ahLst/>
            <a:cxnLst/>
            <a:rect l="l" t="t" r="r" b="b"/>
            <a:pathLst>
              <a:path w="5610225" h="20669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1952624"/>
                </a:lnTo>
                <a:cubicBezTo>
                  <a:pt x="5610225" y="2015751"/>
                  <a:pt x="5559051" y="2066925"/>
                  <a:pt x="5495924" y="2066925"/>
                </a:cubicBezTo>
                <a:lnTo>
                  <a:pt x="114301" y="2066925"/>
                </a:lnTo>
                <a:cubicBezTo>
                  <a:pt x="51174" y="2066925"/>
                  <a:pt x="0" y="2015751"/>
                  <a:pt x="0" y="19526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266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6" name="Text 4"/>
          <p:cNvSpPr/>
          <p:nvPr/>
        </p:nvSpPr>
        <p:spPr>
          <a:xfrm>
            <a:off x="82867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Moteur de Jeu UNO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2925" y="164782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Implémentation complète des règles UNO officielles 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0309" y="20288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lnTo>
                  <a:pt x="100013" y="8334"/>
                </a:lnTo>
                <a:cubicBezTo>
                  <a:pt x="109206" y="8334"/>
                  <a:pt x="116681" y="15809"/>
                  <a:pt x="116681" y="25003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9" name="Text 7"/>
          <p:cNvSpPr/>
          <p:nvPr/>
        </p:nvSpPr>
        <p:spPr>
          <a:xfrm>
            <a:off x="785813" y="1990725"/>
            <a:ext cx="4848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Types de cartes 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Numbers (0-9), Skip, Reverse, Draw Two, Wild, Wild Draw Four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975" y="2295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66675"/>
                </a:moveTo>
                <a:cubicBezTo>
                  <a:pt x="133350" y="66909"/>
                  <a:pt x="133350" y="67144"/>
                  <a:pt x="133350" y="67378"/>
                </a:cubicBezTo>
                <a:cubicBezTo>
                  <a:pt x="133246" y="76885"/>
                  <a:pt x="124599" y="83344"/>
                  <a:pt x="115093" y="83344"/>
                </a:cubicBezTo>
                <a:lnTo>
                  <a:pt x="89595" y="83344"/>
                </a:lnTo>
                <a:cubicBezTo>
                  <a:pt x="82693" y="83344"/>
                  <a:pt x="77093" y="88943"/>
                  <a:pt x="77093" y="95845"/>
                </a:cubicBezTo>
                <a:cubicBezTo>
                  <a:pt x="77093" y="96731"/>
                  <a:pt x="77197" y="97590"/>
                  <a:pt x="77353" y="98424"/>
                </a:cubicBezTo>
                <a:cubicBezTo>
                  <a:pt x="77900" y="101080"/>
                  <a:pt x="79046" y="103633"/>
                  <a:pt x="80166" y="106211"/>
                </a:cubicBezTo>
                <a:cubicBezTo>
                  <a:pt x="81755" y="109805"/>
                  <a:pt x="83318" y="113374"/>
                  <a:pt x="83318" y="117150"/>
                </a:cubicBezTo>
                <a:cubicBezTo>
                  <a:pt x="83318" y="125432"/>
                  <a:pt x="77692" y="132959"/>
                  <a:pt x="69410" y="133298"/>
                </a:cubicBezTo>
                <a:cubicBezTo>
                  <a:pt x="68498" y="133324"/>
                  <a:pt x="67587" y="133350"/>
                  <a:pt x="66649" y="133350"/>
                </a:cubicBezTo>
                <a:cubicBezTo>
                  <a:pt x="29821" y="133350"/>
                  <a:pt x="-26" y="103503"/>
                  <a:pt x="-26" y="66675"/>
                </a:cubicBezTo>
                <a:cubicBezTo>
                  <a:pt x="-26" y="29847"/>
                  <a:pt x="29847" y="0"/>
                  <a:pt x="66675" y="0"/>
                </a:cubicBezTo>
                <a:cubicBezTo>
                  <a:pt x="103503" y="0"/>
                  <a:pt x="133350" y="29847"/>
                  <a:pt x="133350" y="66675"/>
                </a:cubicBezTo>
                <a:close/>
                <a:moveTo>
                  <a:pt x="33337" y="75009"/>
                </a:moveTo>
                <a:cubicBezTo>
                  <a:pt x="33337" y="70410"/>
                  <a:pt x="29603" y="66675"/>
                  <a:pt x="25003" y="66675"/>
                </a:cubicBezTo>
                <a:cubicBezTo>
                  <a:pt x="20403" y="66675"/>
                  <a:pt x="16669" y="70410"/>
                  <a:pt x="16669" y="75009"/>
                </a:cubicBezTo>
                <a:cubicBezTo>
                  <a:pt x="16669" y="79609"/>
                  <a:pt x="20403" y="83344"/>
                  <a:pt x="25003" y="83344"/>
                </a:cubicBezTo>
                <a:cubicBezTo>
                  <a:pt x="29603" y="83344"/>
                  <a:pt x="33337" y="79609"/>
                  <a:pt x="33337" y="75009"/>
                </a:cubicBezTo>
                <a:close/>
                <a:moveTo>
                  <a:pt x="33337" y="50006"/>
                </a:moveTo>
                <a:cubicBezTo>
                  <a:pt x="37937" y="50006"/>
                  <a:pt x="41672" y="46272"/>
                  <a:pt x="41672" y="41672"/>
                </a:cubicBezTo>
                <a:cubicBezTo>
                  <a:pt x="41672" y="37072"/>
                  <a:pt x="37937" y="33337"/>
                  <a:pt x="33337" y="33337"/>
                </a:cubicBezTo>
                <a:cubicBezTo>
                  <a:pt x="28738" y="33337"/>
                  <a:pt x="25003" y="37072"/>
                  <a:pt x="25003" y="41672"/>
                </a:cubicBezTo>
                <a:cubicBezTo>
                  <a:pt x="25003" y="46272"/>
                  <a:pt x="28738" y="50006"/>
                  <a:pt x="33337" y="50006"/>
                </a:cubicBezTo>
                <a:close/>
                <a:moveTo>
                  <a:pt x="75009" y="25003"/>
                </a:moveTo>
                <a:cubicBezTo>
                  <a:pt x="75009" y="20403"/>
                  <a:pt x="71275" y="16669"/>
                  <a:pt x="66675" y="16669"/>
                </a:cubicBezTo>
                <a:cubicBezTo>
                  <a:pt x="62075" y="16669"/>
                  <a:pt x="58341" y="20403"/>
                  <a:pt x="58341" y="25003"/>
                </a:cubicBezTo>
                <a:cubicBezTo>
                  <a:pt x="58341" y="29603"/>
                  <a:pt x="62075" y="33337"/>
                  <a:pt x="66675" y="33337"/>
                </a:cubicBezTo>
                <a:cubicBezTo>
                  <a:pt x="71275" y="33337"/>
                  <a:pt x="75009" y="29603"/>
                  <a:pt x="75009" y="25003"/>
                </a:cubicBezTo>
                <a:close/>
                <a:moveTo>
                  <a:pt x="100013" y="50006"/>
                </a:moveTo>
                <a:cubicBezTo>
                  <a:pt x="104612" y="50006"/>
                  <a:pt x="108347" y="46272"/>
                  <a:pt x="108347" y="41672"/>
                </a:cubicBezTo>
                <a:cubicBezTo>
                  <a:pt x="108347" y="37072"/>
                  <a:pt x="104612" y="33337"/>
                  <a:pt x="100013" y="33337"/>
                </a:cubicBezTo>
                <a:cubicBezTo>
                  <a:pt x="95413" y="33337"/>
                  <a:pt x="91678" y="37072"/>
                  <a:pt x="91678" y="41672"/>
                </a:cubicBezTo>
                <a:cubicBezTo>
                  <a:pt x="91678" y="46272"/>
                  <a:pt x="95413" y="50006"/>
                  <a:pt x="100013" y="50006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1" name="Text 9"/>
          <p:cNvSpPr/>
          <p:nvPr/>
        </p:nvSpPr>
        <p:spPr>
          <a:xfrm>
            <a:off x="785813" y="2257425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Couleurs 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Red, Green, Blue, Yellow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2562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3" name="Text 11"/>
          <p:cNvSpPr/>
          <p:nvPr/>
        </p:nvSpPr>
        <p:spPr>
          <a:xfrm>
            <a:off x="785813" y="2524125"/>
            <a:ext cx="1352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Deck 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108 cartes total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975" y="2828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7583" y="0"/>
                </a:moveTo>
                <a:lnTo>
                  <a:pt x="95923" y="0"/>
                </a:lnTo>
                <a:cubicBezTo>
                  <a:pt x="102825" y="0"/>
                  <a:pt x="108451" y="5678"/>
                  <a:pt x="108191" y="12554"/>
                </a:cubicBezTo>
                <a:cubicBezTo>
                  <a:pt x="108139" y="13934"/>
                  <a:pt x="108086" y="15314"/>
                  <a:pt x="108008" y="16669"/>
                </a:cubicBezTo>
                <a:lnTo>
                  <a:pt x="120927" y="16669"/>
                </a:lnTo>
                <a:cubicBezTo>
                  <a:pt x="127724" y="16669"/>
                  <a:pt x="133715" y="22294"/>
                  <a:pt x="133194" y="29639"/>
                </a:cubicBezTo>
                <a:cubicBezTo>
                  <a:pt x="131240" y="56648"/>
                  <a:pt x="117437" y="71493"/>
                  <a:pt x="102461" y="79255"/>
                </a:cubicBezTo>
                <a:cubicBezTo>
                  <a:pt x="98346" y="81390"/>
                  <a:pt x="94152" y="82979"/>
                  <a:pt x="90168" y="84151"/>
                </a:cubicBezTo>
                <a:cubicBezTo>
                  <a:pt x="84906" y="91600"/>
                  <a:pt x="79437" y="95533"/>
                  <a:pt x="75088" y="97642"/>
                </a:cubicBezTo>
                <a:lnTo>
                  <a:pt x="75088" y="116681"/>
                </a:lnTo>
                <a:lnTo>
                  <a:pt x="91756" y="116681"/>
                </a:lnTo>
                <a:cubicBezTo>
                  <a:pt x="96366" y="116681"/>
                  <a:pt x="100091" y="120406"/>
                  <a:pt x="100091" y="125016"/>
                </a:cubicBezTo>
                <a:cubicBezTo>
                  <a:pt x="100091" y="129626"/>
                  <a:pt x="96366" y="133350"/>
                  <a:pt x="91756" y="133350"/>
                </a:cubicBezTo>
                <a:lnTo>
                  <a:pt x="41750" y="133350"/>
                </a:lnTo>
                <a:cubicBezTo>
                  <a:pt x="37140" y="133350"/>
                  <a:pt x="33416" y="129626"/>
                  <a:pt x="33416" y="125016"/>
                </a:cubicBezTo>
                <a:cubicBezTo>
                  <a:pt x="33416" y="120406"/>
                  <a:pt x="37140" y="116681"/>
                  <a:pt x="41750" y="116681"/>
                </a:cubicBezTo>
                <a:lnTo>
                  <a:pt x="58419" y="116681"/>
                </a:lnTo>
                <a:lnTo>
                  <a:pt x="58419" y="97642"/>
                </a:lnTo>
                <a:cubicBezTo>
                  <a:pt x="54252" y="95637"/>
                  <a:pt x="49069" y="91913"/>
                  <a:pt x="44016" y="85063"/>
                </a:cubicBezTo>
                <a:cubicBezTo>
                  <a:pt x="39224" y="83813"/>
                  <a:pt x="34015" y="81911"/>
                  <a:pt x="28936" y="79046"/>
                </a:cubicBezTo>
                <a:cubicBezTo>
                  <a:pt x="14846" y="71155"/>
                  <a:pt x="2136" y="56283"/>
                  <a:pt x="313" y="29587"/>
                </a:cubicBezTo>
                <a:cubicBezTo>
                  <a:pt x="-182" y="22268"/>
                  <a:pt x="5782" y="16643"/>
                  <a:pt x="12580" y="16643"/>
                </a:cubicBezTo>
                <a:lnTo>
                  <a:pt x="25498" y="16643"/>
                </a:lnTo>
                <a:cubicBezTo>
                  <a:pt x="25420" y="15288"/>
                  <a:pt x="25368" y="13934"/>
                  <a:pt x="25316" y="12528"/>
                </a:cubicBezTo>
                <a:cubicBezTo>
                  <a:pt x="25055" y="5626"/>
                  <a:pt x="30681" y="-26"/>
                  <a:pt x="37583" y="-26"/>
                </a:cubicBezTo>
                <a:close/>
                <a:moveTo>
                  <a:pt x="26436" y="29170"/>
                </a:moveTo>
                <a:lnTo>
                  <a:pt x="12788" y="29170"/>
                </a:lnTo>
                <a:cubicBezTo>
                  <a:pt x="14403" y="51230"/>
                  <a:pt x="24534" y="62273"/>
                  <a:pt x="34978" y="68134"/>
                </a:cubicBezTo>
                <a:cubicBezTo>
                  <a:pt x="31228" y="58419"/>
                  <a:pt x="28129" y="45735"/>
                  <a:pt x="26436" y="29170"/>
                </a:cubicBezTo>
                <a:close/>
                <a:moveTo>
                  <a:pt x="98971" y="66883"/>
                </a:moveTo>
                <a:cubicBezTo>
                  <a:pt x="109519" y="60685"/>
                  <a:pt x="119051" y="49668"/>
                  <a:pt x="120666" y="29170"/>
                </a:cubicBezTo>
                <a:lnTo>
                  <a:pt x="107045" y="29170"/>
                </a:lnTo>
                <a:cubicBezTo>
                  <a:pt x="105430" y="45032"/>
                  <a:pt x="102513" y="57351"/>
                  <a:pt x="98971" y="66883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5" name="Text 13"/>
          <p:cNvSpPr/>
          <p:nvPr/>
        </p:nvSpPr>
        <p:spPr>
          <a:xfrm>
            <a:off x="785813" y="2790825"/>
            <a:ext cx="2800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Condition de victoire 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Premier à vider sa main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300413"/>
            <a:ext cx="5610225" cy="1419225"/>
          </a:xfrm>
          <a:custGeom>
            <a:avLst/>
            <a:gdLst/>
            <a:ahLst/>
            <a:cxnLst/>
            <a:rect l="l" t="t" r="r" b="b"/>
            <a:pathLst>
              <a:path w="5610225" h="1419225">
                <a:moveTo>
                  <a:pt x="114304" y="0"/>
                </a:moveTo>
                <a:lnTo>
                  <a:pt x="5495921" y="0"/>
                </a:lnTo>
                <a:cubicBezTo>
                  <a:pt x="5559049" y="0"/>
                  <a:pt x="5610225" y="51176"/>
                  <a:pt x="5610225" y="114304"/>
                </a:cubicBezTo>
                <a:lnTo>
                  <a:pt x="5610225" y="1304921"/>
                </a:lnTo>
                <a:cubicBezTo>
                  <a:pt x="5610225" y="1368049"/>
                  <a:pt x="5559049" y="1419225"/>
                  <a:pt x="54959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925" y="34575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Espace d'Action (9 actions)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2925" y="3800475"/>
            <a:ext cx="2609850" cy="342900"/>
          </a:xfrm>
          <a:custGeom>
            <a:avLst/>
            <a:gdLst/>
            <a:ahLst/>
            <a:cxnLst/>
            <a:rect l="l" t="t" r="r" b="b"/>
            <a:pathLst>
              <a:path w="2609850" h="342900">
                <a:moveTo>
                  <a:pt x="38100" y="0"/>
                </a:moveTo>
                <a:lnTo>
                  <a:pt x="2571750" y="0"/>
                </a:lnTo>
                <a:cubicBezTo>
                  <a:pt x="2592792" y="0"/>
                  <a:pt x="2609850" y="17058"/>
                  <a:pt x="2609850" y="38100"/>
                </a:cubicBezTo>
                <a:lnTo>
                  <a:pt x="2609850" y="304800"/>
                </a:lnTo>
                <a:cubicBezTo>
                  <a:pt x="2609850" y="325842"/>
                  <a:pt x="2592792" y="342900"/>
                  <a:pt x="2571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619125" y="3876675"/>
            <a:ext cx="252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0-3: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Jouer carte numérotée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28975" y="3800475"/>
            <a:ext cx="2609850" cy="342900"/>
          </a:xfrm>
          <a:custGeom>
            <a:avLst/>
            <a:gdLst/>
            <a:ahLst/>
            <a:cxnLst/>
            <a:rect l="l" t="t" r="r" b="b"/>
            <a:pathLst>
              <a:path w="2609850" h="342900">
                <a:moveTo>
                  <a:pt x="38100" y="0"/>
                </a:moveTo>
                <a:lnTo>
                  <a:pt x="2571750" y="0"/>
                </a:lnTo>
                <a:cubicBezTo>
                  <a:pt x="2592792" y="0"/>
                  <a:pt x="2609850" y="17058"/>
                  <a:pt x="2609850" y="38100"/>
                </a:cubicBezTo>
                <a:lnTo>
                  <a:pt x="2609850" y="304800"/>
                </a:lnTo>
                <a:cubicBezTo>
                  <a:pt x="2609850" y="325842"/>
                  <a:pt x="2592792" y="342900"/>
                  <a:pt x="2571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3305175" y="3876675"/>
            <a:ext cx="252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4-6: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Skip, Reverse, Draw Two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2925" y="4219575"/>
            <a:ext cx="2609850" cy="342900"/>
          </a:xfrm>
          <a:custGeom>
            <a:avLst/>
            <a:gdLst/>
            <a:ahLst/>
            <a:cxnLst/>
            <a:rect l="l" t="t" r="r" b="b"/>
            <a:pathLst>
              <a:path w="2609850" h="342900">
                <a:moveTo>
                  <a:pt x="38100" y="0"/>
                </a:moveTo>
                <a:lnTo>
                  <a:pt x="2571750" y="0"/>
                </a:lnTo>
                <a:cubicBezTo>
                  <a:pt x="2592792" y="0"/>
                  <a:pt x="2609850" y="17058"/>
                  <a:pt x="2609850" y="38100"/>
                </a:cubicBezTo>
                <a:lnTo>
                  <a:pt x="2609850" y="304800"/>
                </a:lnTo>
                <a:cubicBezTo>
                  <a:pt x="2609850" y="325842"/>
                  <a:pt x="2592792" y="342900"/>
                  <a:pt x="2571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19125" y="4295775"/>
            <a:ext cx="252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Wild Draw Four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28975" y="4219575"/>
            <a:ext cx="2609850" cy="342900"/>
          </a:xfrm>
          <a:custGeom>
            <a:avLst/>
            <a:gdLst/>
            <a:ahLst/>
            <a:cxnLst/>
            <a:rect l="l" t="t" r="r" b="b"/>
            <a:pathLst>
              <a:path w="2609850" h="342900">
                <a:moveTo>
                  <a:pt x="38100" y="0"/>
                </a:moveTo>
                <a:lnTo>
                  <a:pt x="2571750" y="0"/>
                </a:lnTo>
                <a:cubicBezTo>
                  <a:pt x="2592792" y="0"/>
                  <a:pt x="2609850" y="17058"/>
                  <a:pt x="2609850" y="38100"/>
                </a:cubicBezTo>
                <a:lnTo>
                  <a:pt x="2609850" y="304800"/>
                </a:lnTo>
                <a:cubicBezTo>
                  <a:pt x="2609850" y="325842"/>
                  <a:pt x="2592792" y="342900"/>
                  <a:pt x="2571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3305175" y="4295775"/>
            <a:ext cx="252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Wild (changement couleur)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6013" y="1071563"/>
            <a:ext cx="5610225" cy="2600325"/>
          </a:xfrm>
          <a:custGeom>
            <a:avLst/>
            <a:gdLst/>
            <a:ahLst/>
            <a:cxnLst/>
            <a:rect l="l" t="t" r="r" b="b"/>
            <a:pathLst>
              <a:path w="5610225" h="2600325">
                <a:moveTo>
                  <a:pt x="114310" y="0"/>
                </a:moveTo>
                <a:lnTo>
                  <a:pt x="5495915" y="0"/>
                </a:lnTo>
                <a:cubicBezTo>
                  <a:pt x="5559047" y="0"/>
                  <a:pt x="5610225" y="51178"/>
                  <a:pt x="5610225" y="114310"/>
                </a:cubicBezTo>
                <a:lnTo>
                  <a:pt x="5610225" y="2486015"/>
                </a:lnTo>
                <a:cubicBezTo>
                  <a:pt x="5610225" y="2549147"/>
                  <a:pt x="5559047" y="2600325"/>
                  <a:pt x="5495915" y="2600325"/>
                </a:cubicBezTo>
                <a:lnTo>
                  <a:pt x="114310" y="2600325"/>
                </a:lnTo>
                <a:cubicBezTo>
                  <a:pt x="51178" y="2600325"/>
                  <a:pt x="0" y="2549147"/>
                  <a:pt x="0" y="2486015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1750" y="1266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8" name="Text 26"/>
          <p:cNvSpPr/>
          <p:nvPr/>
        </p:nvSpPr>
        <p:spPr>
          <a:xfrm>
            <a:off x="663892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Représentation d'État (17D)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3175" y="1647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429375" y="17240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[0-3]: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Open Card Color (one-hot R/G/B/Y)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3175" y="2028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429375" y="21050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[4-7]: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Number Cards (count per color, norm.)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3175" y="2409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429375" y="24860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[8-10]: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Special Cards (Skip/Rev/+2 counts)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3175" y="2790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429375" y="28670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[11-12]: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Wild Cards (Wild/+4 counts)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3175" y="3171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429375" y="32480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[13-16]: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Playable Colors (binary)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6013" y="3833812"/>
            <a:ext cx="5610225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3175" y="39909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 de Récompense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2225" y="4333875"/>
            <a:ext cx="2590800" cy="342900"/>
          </a:xfrm>
          <a:custGeom>
            <a:avLst/>
            <a:gdLst/>
            <a:ahLst/>
            <a:cxnLst/>
            <a:rect l="l" t="t" r="r" b="b"/>
            <a:pathLst>
              <a:path w="2590800" h="342900">
                <a:moveTo>
                  <a:pt x="38100" y="0"/>
                </a:moveTo>
                <a:lnTo>
                  <a:pt x="2552700" y="0"/>
                </a:lnTo>
                <a:cubicBezTo>
                  <a:pt x="2573742" y="0"/>
                  <a:pt x="2590800" y="17058"/>
                  <a:pt x="2590800" y="38100"/>
                </a:cubicBezTo>
                <a:lnTo>
                  <a:pt x="2590800" y="304800"/>
                </a:lnTo>
                <a:cubicBezTo>
                  <a:pt x="2590800" y="325842"/>
                  <a:pt x="2573742" y="342900"/>
                  <a:pt x="25527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372225" y="4333875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3810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38100" y="342900"/>
                </a:lnTo>
                <a:cubicBezTo>
                  <a:pt x="17072" y="342900"/>
                  <a:pt x="0" y="325828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43" name="Text 41"/>
          <p:cNvSpPr/>
          <p:nvPr/>
        </p:nvSpPr>
        <p:spPr>
          <a:xfrm>
            <a:off x="6467475" y="4410075"/>
            <a:ext cx="2486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+1.0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Victoire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58275" y="4333875"/>
            <a:ext cx="2590800" cy="342900"/>
          </a:xfrm>
          <a:custGeom>
            <a:avLst/>
            <a:gdLst/>
            <a:ahLst/>
            <a:cxnLst/>
            <a:rect l="l" t="t" r="r" b="b"/>
            <a:pathLst>
              <a:path w="2590800" h="342900">
                <a:moveTo>
                  <a:pt x="38100" y="0"/>
                </a:moveTo>
                <a:lnTo>
                  <a:pt x="2552700" y="0"/>
                </a:lnTo>
                <a:cubicBezTo>
                  <a:pt x="2573742" y="0"/>
                  <a:pt x="2590800" y="17058"/>
                  <a:pt x="2590800" y="38100"/>
                </a:cubicBezTo>
                <a:lnTo>
                  <a:pt x="2590800" y="304800"/>
                </a:lnTo>
                <a:cubicBezTo>
                  <a:pt x="2590800" y="325842"/>
                  <a:pt x="2573742" y="342900"/>
                  <a:pt x="25527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9058275" y="4333875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3810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38100" y="342900"/>
                </a:lnTo>
                <a:cubicBezTo>
                  <a:pt x="17072" y="342900"/>
                  <a:pt x="0" y="325828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46" name="Text 44"/>
          <p:cNvSpPr/>
          <p:nvPr/>
        </p:nvSpPr>
        <p:spPr>
          <a:xfrm>
            <a:off x="9153525" y="4410075"/>
            <a:ext cx="2486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-1.0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Défaite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2225" y="4752975"/>
            <a:ext cx="2590800" cy="342900"/>
          </a:xfrm>
          <a:custGeom>
            <a:avLst/>
            <a:gdLst/>
            <a:ahLst/>
            <a:cxnLst/>
            <a:rect l="l" t="t" r="r" b="b"/>
            <a:pathLst>
              <a:path w="2590800" h="342900">
                <a:moveTo>
                  <a:pt x="38100" y="0"/>
                </a:moveTo>
                <a:lnTo>
                  <a:pt x="2552700" y="0"/>
                </a:lnTo>
                <a:cubicBezTo>
                  <a:pt x="2573742" y="0"/>
                  <a:pt x="2590800" y="17058"/>
                  <a:pt x="2590800" y="38100"/>
                </a:cubicBezTo>
                <a:lnTo>
                  <a:pt x="2590800" y="304800"/>
                </a:lnTo>
                <a:cubicBezTo>
                  <a:pt x="2590800" y="325842"/>
                  <a:pt x="2573742" y="342900"/>
                  <a:pt x="25527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372225" y="4752975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3810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38100" y="342900"/>
                </a:lnTo>
                <a:cubicBezTo>
                  <a:pt x="17072" y="342900"/>
                  <a:pt x="0" y="325828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9" name="Text 47"/>
          <p:cNvSpPr/>
          <p:nvPr/>
        </p:nvSpPr>
        <p:spPr>
          <a:xfrm>
            <a:off x="6467475" y="4829175"/>
            <a:ext cx="2486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+0.1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Jouer carte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58275" y="4752975"/>
            <a:ext cx="2590800" cy="342900"/>
          </a:xfrm>
          <a:custGeom>
            <a:avLst/>
            <a:gdLst/>
            <a:ahLst/>
            <a:cxnLst/>
            <a:rect l="l" t="t" r="r" b="b"/>
            <a:pathLst>
              <a:path w="2590800" h="342900">
                <a:moveTo>
                  <a:pt x="38100" y="0"/>
                </a:moveTo>
                <a:lnTo>
                  <a:pt x="2552700" y="0"/>
                </a:lnTo>
                <a:cubicBezTo>
                  <a:pt x="2573742" y="0"/>
                  <a:pt x="2590800" y="17058"/>
                  <a:pt x="2590800" y="38100"/>
                </a:cubicBezTo>
                <a:lnTo>
                  <a:pt x="2590800" y="304800"/>
                </a:lnTo>
                <a:cubicBezTo>
                  <a:pt x="2590800" y="325842"/>
                  <a:pt x="2573742" y="342900"/>
                  <a:pt x="25527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9058275" y="4752975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3810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38100" y="342900"/>
                </a:lnTo>
                <a:cubicBezTo>
                  <a:pt x="17072" y="342900"/>
                  <a:pt x="0" y="325828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</p:spPr>
      </p:sp>
      <p:sp>
        <p:nvSpPr>
          <p:cNvPr id="52" name="Text 50"/>
          <p:cNvSpPr/>
          <p:nvPr/>
        </p:nvSpPr>
        <p:spPr>
          <a:xfrm>
            <a:off x="9153525" y="4829175"/>
            <a:ext cx="2486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-0.05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Tirer carte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2225" y="5172075"/>
            <a:ext cx="5276850" cy="342900"/>
          </a:xfrm>
          <a:custGeom>
            <a:avLst/>
            <a:gdLst/>
            <a:ahLst/>
            <a:cxnLst/>
            <a:rect l="l" t="t" r="r" b="b"/>
            <a:pathLst>
              <a:path w="5276850" h="342900">
                <a:moveTo>
                  <a:pt x="38100" y="0"/>
                </a:moveTo>
                <a:lnTo>
                  <a:pt x="5238750" y="0"/>
                </a:lnTo>
                <a:cubicBezTo>
                  <a:pt x="5259792" y="0"/>
                  <a:pt x="5276850" y="17058"/>
                  <a:pt x="5276850" y="38100"/>
                </a:cubicBezTo>
                <a:lnTo>
                  <a:pt x="5276850" y="304800"/>
                </a:lnTo>
                <a:cubicBezTo>
                  <a:pt x="5276850" y="325842"/>
                  <a:pt x="5259792" y="342900"/>
                  <a:pt x="5238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6372225" y="5172075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3810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38100" y="342900"/>
                </a:lnTo>
                <a:cubicBezTo>
                  <a:pt x="17072" y="342900"/>
                  <a:pt x="0" y="325828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55" name="Text 53"/>
          <p:cNvSpPr/>
          <p:nvPr/>
        </p:nvSpPr>
        <p:spPr>
          <a:xfrm>
            <a:off x="6467475" y="5248275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+0.2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Cartes spéciales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Environnement Gymnasium et Extension Multijoueur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2676525"/>
          </a:xfrm>
          <a:custGeom>
            <a:avLst/>
            <a:gdLst/>
            <a:ahLst/>
            <a:cxnLst/>
            <a:rect l="l" t="t" r="r" b="b"/>
            <a:pathLst>
              <a:path w="5610225" h="2676525">
                <a:moveTo>
                  <a:pt x="114288" y="0"/>
                </a:moveTo>
                <a:lnTo>
                  <a:pt x="5495937" y="0"/>
                </a:lnTo>
                <a:cubicBezTo>
                  <a:pt x="5559057" y="0"/>
                  <a:pt x="5610225" y="51168"/>
                  <a:pt x="5610225" y="114288"/>
                </a:cubicBezTo>
                <a:lnTo>
                  <a:pt x="5610225" y="2562237"/>
                </a:lnTo>
                <a:cubicBezTo>
                  <a:pt x="5610225" y="2625357"/>
                  <a:pt x="5559057" y="2676525"/>
                  <a:pt x="5495937" y="2676525"/>
                </a:cubicBezTo>
                <a:lnTo>
                  <a:pt x="114288" y="2676525"/>
                </a:lnTo>
                <a:cubicBezTo>
                  <a:pt x="51168" y="2676525"/>
                  <a:pt x="0" y="2625357"/>
                  <a:pt x="0" y="2562237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213" y="12668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6" name="Text 4"/>
          <p:cNvSpPr/>
          <p:nvPr/>
        </p:nvSpPr>
        <p:spPr>
          <a:xfrm>
            <a:off x="82867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Environnement Gymnasium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2925" y="164782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UnoEnv hérite de gym.Env pour compatibilité avec Stable-Baselines3 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925" y="19907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619125" y="20669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observation_space: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Box(17,) avec valeurs [0.0, 1.0]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409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19125" y="24860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action_space: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Discrete(9) pour actions discrètes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828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19125" y="29051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reset():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Initialise nouveau jeu, retourne obs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925" y="32480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19125" y="33242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step(action):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Exécute action, retourne (obs, reward, done, info)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910013"/>
            <a:ext cx="5610225" cy="1685925"/>
          </a:xfrm>
          <a:custGeom>
            <a:avLst/>
            <a:gdLst/>
            <a:ahLst/>
            <a:cxnLst/>
            <a:rect l="l" t="t" r="r" b="b"/>
            <a:pathLst>
              <a:path w="5610225" h="1685925">
                <a:moveTo>
                  <a:pt x="114306" y="0"/>
                </a:moveTo>
                <a:lnTo>
                  <a:pt x="5495919" y="0"/>
                </a:lnTo>
                <a:cubicBezTo>
                  <a:pt x="5559049" y="0"/>
                  <a:pt x="5610225" y="51176"/>
                  <a:pt x="5610225" y="114306"/>
                </a:cubicBezTo>
                <a:lnTo>
                  <a:pt x="5610225" y="1571619"/>
                </a:lnTo>
                <a:cubicBezTo>
                  <a:pt x="5610225" y="1634749"/>
                  <a:pt x="5559049" y="1685925"/>
                  <a:pt x="549591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925" y="40671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Méthodes Clés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3641" y="44767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9" name="Text 17"/>
          <p:cNvSpPr/>
          <p:nvPr/>
        </p:nvSpPr>
        <p:spPr>
          <a:xfrm>
            <a:off x="771525" y="44481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_get_observation():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Convertit état du jeu en vecteur 17D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0309" y="4743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80323" y="55398"/>
                </a:moveTo>
                <a:lnTo>
                  <a:pt x="59487" y="88735"/>
                </a:lnTo>
                <a:cubicBezTo>
                  <a:pt x="58393" y="90480"/>
                  <a:pt x="56517" y="91574"/>
                  <a:pt x="54460" y="91678"/>
                </a:cubicBezTo>
                <a:cubicBezTo>
                  <a:pt x="52402" y="91782"/>
                  <a:pt x="50423" y="90845"/>
                  <a:pt x="49199" y="89178"/>
                </a:cubicBezTo>
                <a:lnTo>
                  <a:pt x="36697" y="72509"/>
                </a:lnTo>
                <a:cubicBezTo>
                  <a:pt x="34614" y="69748"/>
                  <a:pt x="35187" y="65842"/>
                  <a:pt x="37947" y="63758"/>
                </a:cubicBezTo>
                <a:cubicBezTo>
                  <a:pt x="40708" y="61674"/>
                  <a:pt x="44615" y="62247"/>
                  <a:pt x="46699" y="65008"/>
                </a:cubicBezTo>
                <a:lnTo>
                  <a:pt x="53731" y="74384"/>
                </a:lnTo>
                <a:lnTo>
                  <a:pt x="69722" y="48782"/>
                </a:lnTo>
                <a:cubicBezTo>
                  <a:pt x="71545" y="45865"/>
                  <a:pt x="75400" y="44954"/>
                  <a:pt x="78343" y="46803"/>
                </a:cubicBezTo>
                <a:cubicBezTo>
                  <a:pt x="81286" y="48652"/>
                  <a:pt x="82172" y="52481"/>
                  <a:pt x="80323" y="55424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1" name="Text 19"/>
          <p:cNvSpPr/>
          <p:nvPr/>
        </p:nvSpPr>
        <p:spPr>
          <a:xfrm>
            <a:off x="771525" y="47148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get_valid_actions():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Retourne liste des actions valides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5306" y="50101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3" name="Text 21"/>
          <p:cNvSpPr/>
          <p:nvPr/>
        </p:nvSpPr>
        <p:spPr>
          <a:xfrm>
            <a:off x="771525" y="49815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_opponent_turn():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Gère le tour de l'adversaire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0309" y="52768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4044" y="-6746"/>
                </a:moveTo>
                <a:cubicBezTo>
                  <a:pt x="60554" y="-8881"/>
                  <a:pt x="56153" y="-8881"/>
                  <a:pt x="52663" y="-6746"/>
                </a:cubicBezTo>
                <a:cubicBezTo>
                  <a:pt x="46308" y="-2865"/>
                  <a:pt x="42375" y="-1823"/>
                  <a:pt x="34926" y="-1979"/>
                </a:cubicBezTo>
                <a:cubicBezTo>
                  <a:pt x="30837" y="-2084"/>
                  <a:pt x="27035" y="130"/>
                  <a:pt x="25055" y="3724"/>
                </a:cubicBezTo>
                <a:cubicBezTo>
                  <a:pt x="21487" y="10262"/>
                  <a:pt x="18596" y="13153"/>
                  <a:pt x="12059" y="16721"/>
                </a:cubicBezTo>
                <a:cubicBezTo>
                  <a:pt x="8465" y="18674"/>
                  <a:pt x="6277" y="22503"/>
                  <a:pt x="6355" y="26592"/>
                </a:cubicBezTo>
                <a:cubicBezTo>
                  <a:pt x="6537" y="34041"/>
                  <a:pt x="5469" y="37973"/>
                  <a:pt x="1589" y="44328"/>
                </a:cubicBezTo>
                <a:cubicBezTo>
                  <a:pt x="-547" y="47818"/>
                  <a:pt x="-547" y="52220"/>
                  <a:pt x="1589" y="55710"/>
                </a:cubicBezTo>
                <a:cubicBezTo>
                  <a:pt x="5469" y="62065"/>
                  <a:pt x="6511" y="65998"/>
                  <a:pt x="6355" y="73447"/>
                </a:cubicBezTo>
                <a:cubicBezTo>
                  <a:pt x="6251" y="77536"/>
                  <a:pt x="8465" y="81338"/>
                  <a:pt x="12059" y="83318"/>
                </a:cubicBezTo>
                <a:cubicBezTo>
                  <a:pt x="17815" y="86469"/>
                  <a:pt x="20732" y="89074"/>
                  <a:pt x="23805" y="94126"/>
                </a:cubicBezTo>
                <a:lnTo>
                  <a:pt x="11121" y="119416"/>
                </a:lnTo>
                <a:cubicBezTo>
                  <a:pt x="9585" y="122515"/>
                  <a:pt x="10835" y="126266"/>
                  <a:pt x="13908" y="127802"/>
                </a:cubicBezTo>
                <a:lnTo>
                  <a:pt x="36307" y="139002"/>
                </a:lnTo>
                <a:cubicBezTo>
                  <a:pt x="39302" y="140486"/>
                  <a:pt x="42948" y="139366"/>
                  <a:pt x="44563" y="136449"/>
                </a:cubicBezTo>
                <a:lnTo>
                  <a:pt x="58315" y="111681"/>
                </a:lnTo>
                <a:lnTo>
                  <a:pt x="72066" y="136449"/>
                </a:lnTo>
                <a:cubicBezTo>
                  <a:pt x="73681" y="139366"/>
                  <a:pt x="77327" y="140512"/>
                  <a:pt x="80323" y="139002"/>
                </a:cubicBezTo>
                <a:lnTo>
                  <a:pt x="102721" y="127802"/>
                </a:lnTo>
                <a:cubicBezTo>
                  <a:pt x="105821" y="126266"/>
                  <a:pt x="107071" y="122515"/>
                  <a:pt x="105508" y="119416"/>
                </a:cubicBezTo>
                <a:lnTo>
                  <a:pt x="92850" y="94100"/>
                </a:lnTo>
                <a:cubicBezTo>
                  <a:pt x="95897" y="89048"/>
                  <a:pt x="98840" y="86443"/>
                  <a:pt x="104596" y="83292"/>
                </a:cubicBezTo>
                <a:cubicBezTo>
                  <a:pt x="108191" y="81338"/>
                  <a:pt x="110378" y="77510"/>
                  <a:pt x="110300" y="73421"/>
                </a:cubicBezTo>
                <a:cubicBezTo>
                  <a:pt x="110118" y="65972"/>
                  <a:pt x="111186" y="62039"/>
                  <a:pt x="115066" y="55684"/>
                </a:cubicBezTo>
                <a:cubicBezTo>
                  <a:pt x="117202" y="52194"/>
                  <a:pt x="117202" y="47792"/>
                  <a:pt x="115066" y="44302"/>
                </a:cubicBezTo>
                <a:cubicBezTo>
                  <a:pt x="111186" y="37947"/>
                  <a:pt x="110144" y="34015"/>
                  <a:pt x="110300" y="26566"/>
                </a:cubicBezTo>
                <a:cubicBezTo>
                  <a:pt x="110404" y="22477"/>
                  <a:pt x="108191" y="18674"/>
                  <a:pt x="104596" y="16695"/>
                </a:cubicBezTo>
                <a:cubicBezTo>
                  <a:pt x="98059" y="13127"/>
                  <a:pt x="95168" y="10236"/>
                  <a:pt x="91600" y="3698"/>
                </a:cubicBezTo>
                <a:cubicBezTo>
                  <a:pt x="89647" y="104"/>
                  <a:pt x="85818" y="-2084"/>
                  <a:pt x="81729" y="-2005"/>
                </a:cubicBezTo>
                <a:cubicBezTo>
                  <a:pt x="74280" y="-1823"/>
                  <a:pt x="70347" y="-2891"/>
                  <a:pt x="63992" y="-6772"/>
                </a:cubicBezTo>
                <a:close/>
                <a:moveTo>
                  <a:pt x="58341" y="25003"/>
                </a:moveTo>
                <a:cubicBezTo>
                  <a:pt x="72140" y="25003"/>
                  <a:pt x="83344" y="36207"/>
                  <a:pt x="83344" y="50006"/>
                </a:cubicBezTo>
                <a:cubicBezTo>
                  <a:pt x="83344" y="63806"/>
                  <a:pt x="72140" y="75009"/>
                  <a:pt x="58341" y="75009"/>
                </a:cubicBezTo>
                <a:cubicBezTo>
                  <a:pt x="44541" y="75009"/>
                  <a:pt x="33337" y="63806"/>
                  <a:pt x="33337" y="50006"/>
                </a:cubicBezTo>
                <a:cubicBezTo>
                  <a:pt x="33337" y="36207"/>
                  <a:pt x="44541" y="25003"/>
                  <a:pt x="58341" y="25003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5" name="Text 23"/>
          <p:cNvSpPr/>
          <p:nvPr/>
        </p:nvSpPr>
        <p:spPr>
          <a:xfrm>
            <a:off x="771525" y="52482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_get_intermediate_reward():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Calcule récompense intermédiaire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6013" y="1071563"/>
            <a:ext cx="5610225" cy="2181225"/>
          </a:xfrm>
          <a:custGeom>
            <a:avLst/>
            <a:gdLst/>
            <a:ahLst/>
            <a:cxnLst/>
            <a:rect l="l" t="t" r="r" b="b"/>
            <a:pathLst>
              <a:path w="5610225" h="21812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2066929"/>
                </a:lnTo>
                <a:cubicBezTo>
                  <a:pt x="5610225" y="2130053"/>
                  <a:pt x="5559053" y="2181225"/>
                  <a:pt x="5495929" y="2181225"/>
                </a:cubicBezTo>
                <a:lnTo>
                  <a:pt x="114296" y="2181225"/>
                </a:lnTo>
                <a:cubicBezTo>
                  <a:pt x="51172" y="2181225"/>
                  <a:pt x="0" y="2130053"/>
                  <a:pt x="0" y="2066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3175" y="1266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28" name="Text 26"/>
          <p:cNvSpPr/>
          <p:nvPr/>
        </p:nvSpPr>
        <p:spPr>
          <a:xfrm>
            <a:off x="663892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Extension Multijoueur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3175" y="1647825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MultiplayerUnoEnv supporte 2-4 joueurs avec observation_space étendu (25 dimensions) 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3175" y="22193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391275" y="225742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[0-16]: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Premières 17 dimensions identiques 2-joueurs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3175" y="25241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391275" y="256222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[17-20]: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Opponent 1 hand size (bucketed one-hot)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3175" y="28289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391275" y="286702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[21-24]: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Opponent 2 hand size (bucketed one-hot)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6013" y="341471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343027"/>
                </a:lnTo>
                <a:cubicBezTo>
                  <a:pt x="5610225" y="1406110"/>
                  <a:pt x="5559010" y="1457325"/>
                  <a:pt x="549592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3175" y="35718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Hand Size Bucketing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3175" y="3952875"/>
            <a:ext cx="2609850" cy="342900"/>
          </a:xfrm>
          <a:custGeom>
            <a:avLst/>
            <a:gdLst/>
            <a:ahLst/>
            <a:cxnLst/>
            <a:rect l="l" t="t" r="r" b="b"/>
            <a:pathLst>
              <a:path w="2609850" h="342900">
                <a:moveTo>
                  <a:pt x="38100" y="0"/>
                </a:moveTo>
                <a:lnTo>
                  <a:pt x="2571750" y="0"/>
                </a:lnTo>
                <a:cubicBezTo>
                  <a:pt x="2592792" y="0"/>
                  <a:pt x="2609850" y="17058"/>
                  <a:pt x="2609850" y="38100"/>
                </a:cubicBezTo>
                <a:lnTo>
                  <a:pt x="2609850" y="304800"/>
                </a:lnTo>
                <a:cubicBezTo>
                  <a:pt x="2609850" y="325842"/>
                  <a:pt x="2592792" y="342900"/>
                  <a:pt x="2571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429375" y="4029075"/>
            <a:ext cx="252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Bucket 0: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0 cartes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39225" y="3952875"/>
            <a:ext cx="2609850" cy="342900"/>
          </a:xfrm>
          <a:custGeom>
            <a:avLst/>
            <a:gdLst/>
            <a:ahLst/>
            <a:cxnLst/>
            <a:rect l="l" t="t" r="r" b="b"/>
            <a:pathLst>
              <a:path w="2609850" h="342900">
                <a:moveTo>
                  <a:pt x="38100" y="0"/>
                </a:moveTo>
                <a:lnTo>
                  <a:pt x="2571750" y="0"/>
                </a:lnTo>
                <a:cubicBezTo>
                  <a:pt x="2592792" y="0"/>
                  <a:pt x="2609850" y="17058"/>
                  <a:pt x="2609850" y="38100"/>
                </a:cubicBezTo>
                <a:lnTo>
                  <a:pt x="2609850" y="304800"/>
                </a:lnTo>
                <a:cubicBezTo>
                  <a:pt x="2609850" y="325842"/>
                  <a:pt x="2592792" y="342900"/>
                  <a:pt x="2571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9115425" y="4029075"/>
            <a:ext cx="252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Bucket 1: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1-3 cartes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3175" y="4371975"/>
            <a:ext cx="2609850" cy="342900"/>
          </a:xfrm>
          <a:custGeom>
            <a:avLst/>
            <a:gdLst/>
            <a:ahLst/>
            <a:cxnLst/>
            <a:rect l="l" t="t" r="r" b="b"/>
            <a:pathLst>
              <a:path w="2609850" h="342900">
                <a:moveTo>
                  <a:pt x="38100" y="0"/>
                </a:moveTo>
                <a:lnTo>
                  <a:pt x="2571750" y="0"/>
                </a:lnTo>
                <a:cubicBezTo>
                  <a:pt x="2592792" y="0"/>
                  <a:pt x="2609850" y="17058"/>
                  <a:pt x="2609850" y="38100"/>
                </a:cubicBezTo>
                <a:lnTo>
                  <a:pt x="2609850" y="304800"/>
                </a:lnTo>
                <a:cubicBezTo>
                  <a:pt x="2609850" y="325842"/>
                  <a:pt x="2592792" y="342900"/>
                  <a:pt x="2571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6429375" y="4448175"/>
            <a:ext cx="252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Bucket 2: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4-6 cartes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39225" y="4371975"/>
            <a:ext cx="2609850" cy="342900"/>
          </a:xfrm>
          <a:custGeom>
            <a:avLst/>
            <a:gdLst/>
            <a:ahLst/>
            <a:cxnLst/>
            <a:rect l="l" t="t" r="r" b="b"/>
            <a:pathLst>
              <a:path w="2609850" h="342900">
                <a:moveTo>
                  <a:pt x="38100" y="0"/>
                </a:moveTo>
                <a:lnTo>
                  <a:pt x="2571750" y="0"/>
                </a:lnTo>
                <a:cubicBezTo>
                  <a:pt x="2592792" y="0"/>
                  <a:pt x="2609850" y="17058"/>
                  <a:pt x="2609850" y="38100"/>
                </a:cubicBezTo>
                <a:lnTo>
                  <a:pt x="2609850" y="304800"/>
                </a:lnTo>
                <a:cubicBezTo>
                  <a:pt x="2609850" y="325842"/>
                  <a:pt x="2592792" y="342900"/>
                  <a:pt x="25717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9115425" y="4448175"/>
            <a:ext cx="2524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Bucket 3: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7+ cartes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6013" y="5033963"/>
            <a:ext cx="5610225" cy="1152525"/>
          </a:xfrm>
          <a:custGeom>
            <a:avLst/>
            <a:gdLst/>
            <a:ahLst/>
            <a:cxnLst/>
            <a:rect l="l" t="t" r="r" b="b"/>
            <a:pathLst>
              <a:path w="5610225" h="11525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1038229"/>
                </a:lnTo>
                <a:cubicBezTo>
                  <a:pt x="5610225" y="1101353"/>
                  <a:pt x="5559053" y="1152525"/>
                  <a:pt x="549592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3175" y="519112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Gestion de la Direction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72225" y="5600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9" name="Text 47"/>
          <p:cNvSpPr/>
          <p:nvPr/>
        </p:nvSpPr>
        <p:spPr>
          <a:xfrm>
            <a:off x="6581775" y="557212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 joueurs: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Reverse agit comme Skip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72225" y="5867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51" name="Text 49"/>
          <p:cNvSpPr/>
          <p:nvPr/>
        </p:nvSpPr>
        <p:spPr>
          <a:xfrm>
            <a:off x="6581775" y="583882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3-4 joueurs: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Reverse inverse la direction (CW/CCW)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owardsdatascience.com/1bb7c00bacc95eed505bf5d46d2f4d4d133b08aa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16454" b="1645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D8F8A">
                  <a:alpha val="1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271588"/>
            <a:ext cx="2352675" cy="542925"/>
          </a:xfrm>
          <a:custGeom>
            <a:avLst/>
            <a:gdLst/>
            <a:ahLst/>
            <a:cxnLst/>
            <a:rect l="l" t="t" r="r" b="b"/>
            <a:pathLst>
              <a:path w="2352675" h="542925">
                <a:moveTo>
                  <a:pt x="271463" y="0"/>
                </a:moveTo>
                <a:lnTo>
                  <a:pt x="2081212" y="0"/>
                </a:lnTo>
                <a:cubicBezTo>
                  <a:pt x="2231037" y="0"/>
                  <a:pt x="2352675" y="121638"/>
                  <a:pt x="2352675" y="271463"/>
                </a:cubicBezTo>
                <a:lnTo>
                  <a:pt x="2352675" y="271463"/>
                </a:lnTo>
                <a:cubicBezTo>
                  <a:pt x="2352675" y="421287"/>
                  <a:pt x="2231037" y="542925"/>
                  <a:pt x="2081212" y="542925"/>
                </a:cubicBezTo>
                <a:lnTo>
                  <a:pt x="271463" y="542925"/>
                </a:lnTo>
                <a:cubicBezTo>
                  <a:pt x="121638" y="542925"/>
                  <a:pt x="0" y="421287"/>
                  <a:pt x="0" y="271463"/>
                </a:cubicBezTo>
                <a:lnTo>
                  <a:pt x="0" y="271463"/>
                </a:lnTo>
                <a:cubicBezTo>
                  <a:pt x="0" y="121638"/>
                  <a:pt x="121638" y="0"/>
                  <a:pt x="2714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5325" y="1371600"/>
            <a:ext cx="1850644" cy="333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CHAPITRE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2407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Résultats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et Performance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63867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" name="Text 5"/>
          <p:cNvSpPr/>
          <p:nvPr/>
        </p:nvSpPr>
        <p:spPr>
          <a:xfrm>
            <a:off x="381000" y="4905375"/>
            <a:ext cx="74580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Analyse comparative des algorithmes et performances atteintes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Comparaison des Performances des Modèles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11420475" cy="4276725"/>
          </a:xfrm>
          <a:custGeom>
            <a:avLst/>
            <a:gdLst/>
            <a:ahLst/>
            <a:cxnLst/>
            <a:rect l="l" t="t" r="r" b="b"/>
            <a:pathLst>
              <a:path w="11420475" h="4276725">
                <a:moveTo>
                  <a:pt x="114317" y="0"/>
                </a:moveTo>
                <a:lnTo>
                  <a:pt x="11306158" y="0"/>
                </a:lnTo>
                <a:cubicBezTo>
                  <a:pt x="11369294" y="0"/>
                  <a:pt x="11420475" y="51181"/>
                  <a:pt x="11420475" y="114317"/>
                </a:cubicBezTo>
                <a:lnTo>
                  <a:pt x="11420475" y="4162408"/>
                </a:lnTo>
                <a:cubicBezTo>
                  <a:pt x="11420475" y="4225544"/>
                  <a:pt x="11369294" y="4276725"/>
                  <a:pt x="11306158" y="4276725"/>
                </a:cubicBezTo>
                <a:lnTo>
                  <a:pt x="114317" y="4276725"/>
                </a:lnTo>
                <a:cubicBezTo>
                  <a:pt x="51181" y="4276725"/>
                  <a:pt x="0" y="4225544"/>
                  <a:pt x="0" y="4162408"/>
                </a:cubicBezTo>
                <a:lnTo>
                  <a:pt x="0" y="114317"/>
                </a:lnTo>
                <a:cubicBezTo>
                  <a:pt x="0" y="51224"/>
                  <a:pt x="51224" y="0"/>
                  <a:pt x="11431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228725"/>
            <a:ext cx="11201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Tableau Comparatif Complet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2925" y="1571625"/>
          <a:ext cx="11106150" cy="3314700"/>
        </p:xfrm>
        <a:graphic>
          <a:graphicData uri="http://schemas.openxmlformats.org/drawingml/2006/table">
            <a:tbl>
              <a:tblPr/>
              <a:tblGrid>
                <a:gridCol w="4619625"/>
                <a:gridCol w="2228850"/>
                <a:gridCol w="2562225"/>
                <a:gridCol w="1695450"/>
              </a:tblGrid>
              <a:tr h="276225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C0A57D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Modèle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C0A57D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Win Rate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C0A57D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Algorithme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C0A57D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Steps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Self-Play Champion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5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05DF72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70%+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5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LSTM-PPO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5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~5M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50">
                        <a:alpha val="1000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Best Recurrent 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3D8F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60%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LSTM-PPO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~2M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Optimal Recurrent 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59%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LSTM-PPO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~2M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SB3 Recurrent 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57%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LSTM-PPO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~1M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Enhanced RPPO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56%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LSTM-PPO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~1.5M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Best 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53%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~1M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PPO Standard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52%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PPO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~500K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DQN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48%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DQN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~800K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A2C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45%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A2C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~500K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Q-Learning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35%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Tabular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~1M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Random Agent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25%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None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u="none" dirty="0">
                          <a:solidFill>
                            <a:srgbClr val="E2E8F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pitchFamily="34" charset="-120"/>
                        </a:rPr>
                        <a:t>0</a:t>
                      </a:r>
                      <a:endParaRPr lang="en-US" sz="1000" dirty="0"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A5568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5763" y="5510213"/>
            <a:ext cx="3695700" cy="1000125"/>
          </a:xfrm>
          <a:custGeom>
            <a:avLst/>
            <a:gdLst/>
            <a:ahLst/>
            <a:cxnLst/>
            <a:rect l="l" t="t" r="r" b="b"/>
            <a:pathLst>
              <a:path w="3695700" h="1000125">
                <a:moveTo>
                  <a:pt x="114304" y="0"/>
                </a:moveTo>
                <a:lnTo>
                  <a:pt x="3581396" y="0"/>
                </a:lnTo>
                <a:cubicBezTo>
                  <a:pt x="3644524" y="0"/>
                  <a:pt x="3695700" y="51176"/>
                  <a:pt x="3695700" y="114304"/>
                </a:cubicBezTo>
                <a:lnTo>
                  <a:pt x="3695700" y="885821"/>
                </a:lnTo>
                <a:cubicBezTo>
                  <a:pt x="3695700" y="948949"/>
                  <a:pt x="3644524" y="1000125"/>
                  <a:pt x="3581396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4825" y="5629275"/>
            <a:ext cx="352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Amélioration Recurrent vs Feedforward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4825" y="5857875"/>
            <a:ext cx="36004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+7%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4825" y="6200775"/>
            <a:ext cx="352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(60% vs 53%)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46513" y="5510213"/>
            <a:ext cx="3695700" cy="1000125"/>
          </a:xfrm>
          <a:custGeom>
            <a:avLst/>
            <a:gdLst/>
            <a:ahLst/>
            <a:cxnLst/>
            <a:rect l="l" t="t" r="r" b="b"/>
            <a:pathLst>
              <a:path w="3695700" h="1000125">
                <a:moveTo>
                  <a:pt x="114304" y="0"/>
                </a:moveTo>
                <a:lnTo>
                  <a:pt x="3581396" y="0"/>
                </a:lnTo>
                <a:cubicBezTo>
                  <a:pt x="3644524" y="0"/>
                  <a:pt x="3695700" y="51176"/>
                  <a:pt x="3695700" y="114304"/>
                </a:cubicBezTo>
                <a:lnTo>
                  <a:pt x="3695700" y="885821"/>
                </a:lnTo>
                <a:cubicBezTo>
                  <a:pt x="3695700" y="948949"/>
                  <a:pt x="3644524" y="1000125"/>
                  <a:pt x="3581396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65575" y="5629275"/>
            <a:ext cx="352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Amélioration vs Baseline Aléatoire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65575" y="5857875"/>
            <a:ext cx="36004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2.4x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65575" y="6200775"/>
            <a:ext cx="352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(60% vs 25%)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07263" y="5510213"/>
            <a:ext cx="3695700" cy="1000125"/>
          </a:xfrm>
          <a:custGeom>
            <a:avLst/>
            <a:gdLst/>
            <a:ahLst/>
            <a:cxnLst/>
            <a:rect l="l" t="t" r="r" b="b"/>
            <a:pathLst>
              <a:path w="3695700" h="1000125">
                <a:moveTo>
                  <a:pt x="114304" y="0"/>
                </a:moveTo>
                <a:lnTo>
                  <a:pt x="3581396" y="0"/>
                </a:lnTo>
                <a:cubicBezTo>
                  <a:pt x="3644524" y="0"/>
                  <a:pt x="3695700" y="51176"/>
                  <a:pt x="3695700" y="114304"/>
                </a:cubicBezTo>
                <a:lnTo>
                  <a:pt x="3695700" y="885821"/>
                </a:lnTo>
                <a:cubicBezTo>
                  <a:pt x="3695700" y="948949"/>
                  <a:pt x="3644524" y="1000125"/>
                  <a:pt x="3581396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6326" y="5629275"/>
            <a:ext cx="352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Self-Play Amélioration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26326" y="5857875"/>
            <a:ext cx="36004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+10%+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6326" y="6200775"/>
            <a:ext cx="352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(70%+ vs 60%)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Analyse Statistique et Courbes d'Apprentissage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5667375"/>
          </a:xfrm>
          <a:custGeom>
            <a:avLst/>
            <a:gdLst/>
            <a:ahLst/>
            <a:cxnLst/>
            <a:rect l="l" t="t" r="r" b="b"/>
            <a:pathLst>
              <a:path w="5610225" h="5667375">
                <a:moveTo>
                  <a:pt x="114280" y="0"/>
                </a:moveTo>
                <a:lnTo>
                  <a:pt x="5495945" y="0"/>
                </a:lnTo>
                <a:cubicBezTo>
                  <a:pt x="5559060" y="0"/>
                  <a:pt x="5610225" y="51165"/>
                  <a:pt x="5610225" y="114280"/>
                </a:cubicBezTo>
                <a:lnTo>
                  <a:pt x="5610225" y="5553095"/>
                </a:lnTo>
                <a:cubicBezTo>
                  <a:pt x="5610225" y="5616210"/>
                  <a:pt x="5559060" y="5667375"/>
                  <a:pt x="5495945" y="5667375"/>
                </a:cubicBezTo>
                <a:lnTo>
                  <a:pt x="114280" y="5667375"/>
                </a:lnTo>
                <a:cubicBezTo>
                  <a:pt x="51165" y="5667375"/>
                  <a:pt x="0" y="5616210"/>
                  <a:pt x="0" y="5553095"/>
                </a:cubicBezTo>
                <a:lnTo>
                  <a:pt x="0" y="114280"/>
                </a:lnTo>
                <a:cubicBezTo>
                  <a:pt x="0" y="51165"/>
                  <a:pt x="51165" y="0"/>
                  <a:pt x="11428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228725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Observations Clés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1975" y="1647825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0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561975" y="16478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8" name="Text 6"/>
          <p:cNvSpPr/>
          <p:nvPr/>
        </p:nvSpPr>
        <p:spPr>
          <a:xfrm>
            <a:off x="695325" y="1762125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 Modèles récurrents &gt; feedforward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5325" y="2028825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RecurrentPPO 60% vs PPO 53% (+7%) - LSTM essentiel pour POMDP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975" y="2447925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0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61975" y="24479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2" name="Text 10"/>
          <p:cNvSpPr/>
          <p:nvPr/>
        </p:nvSpPr>
        <p:spPr>
          <a:xfrm>
            <a:off x="695325" y="2562225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 Policy gradient &gt; value-based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5325" y="2828925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PPO 53% &gt; DQN 48% &gt; A2C 45% - politiques stochastiques mieux adaptées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975" y="3248025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0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61975" y="32480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6" name="Text 14"/>
          <p:cNvSpPr/>
          <p:nvPr/>
        </p:nvSpPr>
        <p:spPr>
          <a:xfrm>
            <a:off x="695325" y="3362325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3. Self-play améliore significativement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5325" y="3629025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70%+ avec self-play vs 60% sans - prévient overfitting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975" y="4048125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0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61975" y="40481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0" name="Text 18"/>
          <p:cNvSpPr/>
          <p:nvPr/>
        </p:nvSpPr>
        <p:spPr>
          <a:xfrm>
            <a:off x="695325" y="4162425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4. Régularisation d'entropie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5325" y="4429125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ent_coef=0.01 optimal - équilibre exploration/exploitation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013" y="1071563"/>
            <a:ext cx="5610225" cy="2752725"/>
          </a:xfrm>
          <a:custGeom>
            <a:avLst/>
            <a:gdLst/>
            <a:ahLst/>
            <a:cxnLst/>
            <a:rect l="l" t="t" r="r" b="b"/>
            <a:pathLst>
              <a:path w="5610225" h="27527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638432"/>
                </a:lnTo>
                <a:cubicBezTo>
                  <a:pt x="5610225" y="2701512"/>
                  <a:pt x="5559012" y="2752725"/>
                  <a:pt x="5495932" y="2752725"/>
                </a:cubicBezTo>
                <a:lnTo>
                  <a:pt x="114293" y="2752725"/>
                </a:lnTo>
                <a:cubicBezTo>
                  <a:pt x="51213" y="2752725"/>
                  <a:pt x="0" y="2701512"/>
                  <a:pt x="0" y="2638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3175" y="122872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Analyse Statistique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3175" y="160972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Évaluation sur 1000 parties contre adversaire aléatoire 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3175" y="18764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6391275" y="1914525"/>
            <a:ext cx="1181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Best Recurrent PPO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07389" y="1914525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60.1% [57.0%, 63.2%]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3175" y="21812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391275" y="2219325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Optimal Recurrent PPO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328077" y="2219325"/>
            <a:ext cx="1352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59.2% [56.1%, 62.3%]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3175" y="24860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391275" y="2524125"/>
            <a:ext cx="1162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SB3 Recurrent PPO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98906" y="2524125"/>
            <a:ext cx="138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56.8% [53.7%, 59.9%]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3175" y="27908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391275" y="2828925"/>
            <a:ext cx="581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Best PPO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98311" y="2828925"/>
            <a:ext cx="138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53.1% [50.0%, 56.2%]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3175" y="30956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391275" y="3133725"/>
            <a:ext cx="352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DQN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28821" y="3133725"/>
            <a:ext cx="13525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47.9% [44.8%, 51.0%]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3175" y="340042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391275" y="3438525"/>
            <a:ext cx="552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Random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352931" y="3438525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25.1% [22.4%, 27.8%]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6013" y="3986213"/>
            <a:ext cx="5610225" cy="2752725"/>
          </a:xfrm>
          <a:custGeom>
            <a:avLst/>
            <a:gdLst/>
            <a:ahLst/>
            <a:cxnLst/>
            <a:rect l="l" t="t" r="r" b="b"/>
            <a:pathLst>
              <a:path w="5610225" h="27527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638432"/>
                </a:lnTo>
                <a:cubicBezTo>
                  <a:pt x="5610225" y="2701512"/>
                  <a:pt x="5559012" y="2752725"/>
                  <a:pt x="5495932" y="2752725"/>
                </a:cubicBezTo>
                <a:lnTo>
                  <a:pt x="114293" y="2752725"/>
                </a:lnTo>
                <a:cubicBezTo>
                  <a:pt x="51213" y="2752725"/>
                  <a:pt x="0" y="2701512"/>
                  <a:pt x="0" y="2638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3175" y="41433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Longueur de Partie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3175" y="4524375"/>
            <a:ext cx="536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Tours moyens par partie :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3175" y="479107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391275" y="4829175"/>
            <a:ext cx="1181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Best Recurrent PPO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376720" y="4829175"/>
            <a:ext cx="304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18.3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3175" y="509587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6391275" y="5133975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Optimal Recurrent PPO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406634" y="5133975"/>
            <a:ext cx="266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19.1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3175" y="540067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6391275" y="5438775"/>
            <a:ext cx="1162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SB3 Recurrent PPO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342638" y="5438775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20.4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3175" y="570547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6391275" y="5743575"/>
            <a:ext cx="581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Best PPO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368088" y="5743575"/>
            <a:ext cx="314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22.7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53175" y="601027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6391275" y="6048375"/>
            <a:ext cx="352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DQN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357223" y="6048375"/>
            <a:ext cx="323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25.2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53175" y="631507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62" name="Text 60"/>
          <p:cNvSpPr/>
          <p:nvPr/>
        </p:nvSpPr>
        <p:spPr>
          <a:xfrm>
            <a:off x="6391275" y="6353175"/>
            <a:ext cx="552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Random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376720" y="6353175"/>
            <a:ext cx="304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31.8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623651" cy="36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Études d'Ablation et Analyse des Échecs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6677" y="843356"/>
            <a:ext cx="880024" cy="36668"/>
          </a:xfrm>
          <a:custGeom>
            <a:avLst/>
            <a:gdLst/>
            <a:ahLst/>
            <a:cxnLst/>
            <a:rect l="l" t="t" r="r" b="b"/>
            <a:pathLst>
              <a:path w="880024" h="36668">
                <a:moveTo>
                  <a:pt x="0" y="0"/>
                </a:moveTo>
                <a:lnTo>
                  <a:pt x="880024" y="0"/>
                </a:lnTo>
                <a:lnTo>
                  <a:pt x="880024" y="36668"/>
                </a:lnTo>
                <a:lnTo>
                  <a:pt x="0" y="36668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" name="Shape 2"/>
          <p:cNvSpPr/>
          <p:nvPr/>
        </p:nvSpPr>
        <p:spPr>
          <a:xfrm>
            <a:off x="371260" y="1031278"/>
            <a:ext cx="5628487" cy="2832577"/>
          </a:xfrm>
          <a:custGeom>
            <a:avLst/>
            <a:gdLst/>
            <a:ahLst/>
            <a:cxnLst/>
            <a:rect l="l" t="t" r="r" b="b"/>
            <a:pathLst>
              <a:path w="5628487" h="2832577">
                <a:moveTo>
                  <a:pt x="109989" y="0"/>
                </a:moveTo>
                <a:lnTo>
                  <a:pt x="5518498" y="0"/>
                </a:lnTo>
                <a:cubicBezTo>
                  <a:pt x="5579243" y="0"/>
                  <a:pt x="5628487" y="49244"/>
                  <a:pt x="5628487" y="109989"/>
                </a:cubicBezTo>
                <a:lnTo>
                  <a:pt x="5628487" y="2722588"/>
                </a:lnTo>
                <a:cubicBezTo>
                  <a:pt x="5628487" y="2783334"/>
                  <a:pt x="5579243" y="2832577"/>
                  <a:pt x="5518498" y="2832577"/>
                </a:cubicBezTo>
                <a:lnTo>
                  <a:pt x="109989" y="2832577"/>
                </a:lnTo>
                <a:cubicBezTo>
                  <a:pt x="49244" y="2832577"/>
                  <a:pt x="0" y="2783334"/>
                  <a:pt x="0" y="2722588"/>
                </a:cubicBezTo>
                <a:lnTo>
                  <a:pt x="0" y="109989"/>
                </a:lnTo>
                <a:cubicBezTo>
                  <a:pt x="0" y="49284"/>
                  <a:pt x="49284" y="0"/>
                  <a:pt x="10998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2514" y="1182532"/>
            <a:ext cx="5435982" cy="2933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Effet de la Taille LSTM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0848" y="1585877"/>
            <a:ext cx="5307645" cy="366677"/>
          </a:xfrm>
          <a:custGeom>
            <a:avLst/>
            <a:gdLst/>
            <a:ahLst/>
            <a:cxnLst/>
            <a:rect l="l" t="t" r="r" b="b"/>
            <a:pathLst>
              <a:path w="5307645" h="366677">
                <a:moveTo>
                  <a:pt x="36668" y="0"/>
                </a:moveTo>
                <a:lnTo>
                  <a:pt x="5270977" y="0"/>
                </a:lnTo>
                <a:cubicBezTo>
                  <a:pt x="5291228" y="0"/>
                  <a:pt x="5307645" y="16417"/>
                  <a:pt x="5307645" y="36668"/>
                </a:cubicBezTo>
                <a:lnTo>
                  <a:pt x="5307645" y="330009"/>
                </a:lnTo>
                <a:cubicBezTo>
                  <a:pt x="5307645" y="350260"/>
                  <a:pt x="5291228" y="366677"/>
                  <a:pt x="5270977" y="366677"/>
                </a:cubicBez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540848" y="1585877"/>
            <a:ext cx="36668" cy="366677"/>
          </a:xfrm>
          <a:custGeom>
            <a:avLst/>
            <a:gdLst/>
            <a:ahLst/>
            <a:cxnLst/>
            <a:rect l="l" t="t" r="r" b="b"/>
            <a:pathLst>
              <a:path w="36668" h="366677">
                <a:moveTo>
                  <a:pt x="36668" y="0"/>
                </a:moveTo>
                <a:lnTo>
                  <a:pt x="36668" y="0"/>
                </a:lnTo>
                <a:lnTo>
                  <a:pt x="36668" y="366677"/>
                </a:ln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568"/>
          </a:solidFill>
        </p:spPr>
      </p:sp>
      <p:sp>
        <p:nvSpPr>
          <p:cNvPr id="8" name="Text 6"/>
          <p:cNvSpPr/>
          <p:nvPr/>
        </p:nvSpPr>
        <p:spPr>
          <a:xfrm>
            <a:off x="632517" y="1659212"/>
            <a:ext cx="568349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64 units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34130" y="1659212"/>
            <a:ext cx="476680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4A556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54.2%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3930" y="1677546"/>
            <a:ext cx="696686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0.8x temps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0848" y="2025889"/>
            <a:ext cx="5307645" cy="366677"/>
          </a:xfrm>
          <a:custGeom>
            <a:avLst/>
            <a:gdLst/>
            <a:ahLst/>
            <a:cxnLst/>
            <a:rect l="l" t="t" r="r" b="b"/>
            <a:pathLst>
              <a:path w="5307645" h="366677">
                <a:moveTo>
                  <a:pt x="36668" y="0"/>
                </a:moveTo>
                <a:lnTo>
                  <a:pt x="5270977" y="0"/>
                </a:lnTo>
                <a:cubicBezTo>
                  <a:pt x="5291228" y="0"/>
                  <a:pt x="5307645" y="16417"/>
                  <a:pt x="5307645" y="36668"/>
                </a:cubicBezTo>
                <a:lnTo>
                  <a:pt x="5307645" y="330009"/>
                </a:lnTo>
                <a:cubicBezTo>
                  <a:pt x="5307645" y="350260"/>
                  <a:pt x="5291228" y="366677"/>
                  <a:pt x="5270977" y="366677"/>
                </a:cubicBez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40848" y="2025889"/>
            <a:ext cx="36668" cy="366677"/>
          </a:xfrm>
          <a:custGeom>
            <a:avLst/>
            <a:gdLst/>
            <a:ahLst/>
            <a:cxnLst/>
            <a:rect l="l" t="t" r="r" b="b"/>
            <a:pathLst>
              <a:path w="36668" h="366677">
                <a:moveTo>
                  <a:pt x="36668" y="0"/>
                </a:moveTo>
                <a:lnTo>
                  <a:pt x="36668" y="0"/>
                </a:lnTo>
                <a:lnTo>
                  <a:pt x="36668" y="366677"/>
                </a:ln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3" name="Text 11"/>
          <p:cNvSpPr/>
          <p:nvPr/>
        </p:nvSpPr>
        <p:spPr>
          <a:xfrm>
            <a:off x="632517" y="2099224"/>
            <a:ext cx="614183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128 units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62873" y="2099224"/>
            <a:ext cx="476680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57.8%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53433" y="2117558"/>
            <a:ext cx="284174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1.0x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0848" y="2465901"/>
            <a:ext cx="5307645" cy="403344"/>
          </a:xfrm>
          <a:custGeom>
            <a:avLst/>
            <a:gdLst/>
            <a:ahLst/>
            <a:cxnLst/>
            <a:rect l="l" t="t" r="r" b="b"/>
            <a:pathLst>
              <a:path w="5307645" h="403344">
                <a:moveTo>
                  <a:pt x="36668" y="0"/>
                </a:moveTo>
                <a:lnTo>
                  <a:pt x="5270977" y="0"/>
                </a:lnTo>
                <a:cubicBezTo>
                  <a:pt x="5291228" y="0"/>
                  <a:pt x="5307645" y="16417"/>
                  <a:pt x="5307645" y="36668"/>
                </a:cubicBezTo>
                <a:lnTo>
                  <a:pt x="5307645" y="366676"/>
                </a:lnTo>
                <a:cubicBezTo>
                  <a:pt x="5307645" y="386928"/>
                  <a:pt x="5291228" y="403344"/>
                  <a:pt x="5270977" y="403344"/>
                </a:cubicBezTo>
                <a:lnTo>
                  <a:pt x="36668" y="403344"/>
                </a:lnTo>
                <a:cubicBezTo>
                  <a:pt x="16430" y="403344"/>
                  <a:pt x="0" y="386914"/>
                  <a:pt x="0" y="36667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540848" y="2465901"/>
            <a:ext cx="36668" cy="403344"/>
          </a:xfrm>
          <a:custGeom>
            <a:avLst/>
            <a:gdLst/>
            <a:ahLst/>
            <a:cxnLst/>
            <a:rect l="l" t="t" r="r" b="b"/>
            <a:pathLst>
              <a:path w="36668" h="403344">
                <a:moveTo>
                  <a:pt x="36668" y="0"/>
                </a:moveTo>
                <a:lnTo>
                  <a:pt x="36668" y="0"/>
                </a:lnTo>
                <a:lnTo>
                  <a:pt x="36668" y="403344"/>
                </a:lnTo>
                <a:lnTo>
                  <a:pt x="36668" y="403344"/>
                </a:lnTo>
                <a:cubicBezTo>
                  <a:pt x="16430" y="403344"/>
                  <a:pt x="0" y="386914"/>
                  <a:pt x="0" y="36667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18" name="Text 16"/>
          <p:cNvSpPr/>
          <p:nvPr/>
        </p:nvSpPr>
        <p:spPr>
          <a:xfrm>
            <a:off x="632517" y="2557570"/>
            <a:ext cx="687519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256 units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83785" y="2539236"/>
            <a:ext cx="531681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60.1%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1624" y="2575904"/>
            <a:ext cx="265841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1.4x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0848" y="2942580"/>
            <a:ext cx="5307645" cy="366677"/>
          </a:xfrm>
          <a:custGeom>
            <a:avLst/>
            <a:gdLst/>
            <a:ahLst/>
            <a:cxnLst/>
            <a:rect l="l" t="t" r="r" b="b"/>
            <a:pathLst>
              <a:path w="5307645" h="366677">
                <a:moveTo>
                  <a:pt x="36668" y="0"/>
                </a:moveTo>
                <a:lnTo>
                  <a:pt x="5270977" y="0"/>
                </a:lnTo>
                <a:cubicBezTo>
                  <a:pt x="5291228" y="0"/>
                  <a:pt x="5307645" y="16417"/>
                  <a:pt x="5307645" y="36668"/>
                </a:cubicBezTo>
                <a:lnTo>
                  <a:pt x="5307645" y="330009"/>
                </a:lnTo>
                <a:cubicBezTo>
                  <a:pt x="5307645" y="350260"/>
                  <a:pt x="5291228" y="366677"/>
                  <a:pt x="5270977" y="366677"/>
                </a:cubicBez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540848" y="2942580"/>
            <a:ext cx="36668" cy="366677"/>
          </a:xfrm>
          <a:custGeom>
            <a:avLst/>
            <a:gdLst/>
            <a:ahLst/>
            <a:cxnLst/>
            <a:rect l="l" t="t" r="r" b="b"/>
            <a:pathLst>
              <a:path w="36668" h="366677">
                <a:moveTo>
                  <a:pt x="36668" y="0"/>
                </a:moveTo>
                <a:lnTo>
                  <a:pt x="36668" y="0"/>
                </a:lnTo>
                <a:lnTo>
                  <a:pt x="36668" y="366677"/>
                </a:ln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3" name="Text 21"/>
          <p:cNvSpPr/>
          <p:nvPr/>
        </p:nvSpPr>
        <p:spPr>
          <a:xfrm>
            <a:off x="632517" y="3015916"/>
            <a:ext cx="614183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512 units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65165" y="3015916"/>
            <a:ext cx="48584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59.3%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1480" y="3034250"/>
            <a:ext cx="265841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2.1x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0848" y="3382592"/>
            <a:ext cx="5307645" cy="330009"/>
          </a:xfrm>
          <a:custGeom>
            <a:avLst/>
            <a:gdLst/>
            <a:ahLst/>
            <a:cxnLst/>
            <a:rect l="l" t="t" r="r" b="b"/>
            <a:pathLst>
              <a:path w="5307645" h="330009">
                <a:moveTo>
                  <a:pt x="36667" y="0"/>
                </a:moveTo>
                <a:lnTo>
                  <a:pt x="5270978" y="0"/>
                </a:lnTo>
                <a:cubicBezTo>
                  <a:pt x="5291229" y="0"/>
                  <a:pt x="5307645" y="16417"/>
                  <a:pt x="5307645" y="36667"/>
                </a:cubicBezTo>
                <a:lnTo>
                  <a:pt x="5307645" y="293342"/>
                </a:lnTo>
                <a:cubicBezTo>
                  <a:pt x="5307645" y="313593"/>
                  <a:pt x="5291229" y="330009"/>
                  <a:pt x="5270978" y="330009"/>
                </a:cubicBezTo>
                <a:lnTo>
                  <a:pt x="36667" y="330009"/>
                </a:lnTo>
                <a:cubicBezTo>
                  <a:pt x="16430" y="330009"/>
                  <a:pt x="0" y="313579"/>
                  <a:pt x="0" y="293342"/>
                </a:cubicBezTo>
                <a:lnTo>
                  <a:pt x="0" y="36667"/>
                </a:lnTo>
                <a:cubicBezTo>
                  <a:pt x="0" y="16430"/>
                  <a:pt x="16430" y="0"/>
                  <a:pt x="3666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540848" y="3382592"/>
            <a:ext cx="36668" cy="330009"/>
          </a:xfrm>
          <a:custGeom>
            <a:avLst/>
            <a:gdLst/>
            <a:ahLst/>
            <a:cxnLst/>
            <a:rect l="l" t="t" r="r" b="b"/>
            <a:pathLst>
              <a:path w="36668" h="330009">
                <a:moveTo>
                  <a:pt x="36668" y="0"/>
                </a:moveTo>
                <a:lnTo>
                  <a:pt x="36668" y="0"/>
                </a:lnTo>
                <a:lnTo>
                  <a:pt x="36668" y="330009"/>
                </a:lnTo>
                <a:lnTo>
                  <a:pt x="36668" y="330009"/>
                </a:lnTo>
                <a:cubicBezTo>
                  <a:pt x="16430" y="330009"/>
                  <a:pt x="0" y="313579"/>
                  <a:pt x="0" y="293341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8" name="Shape 26"/>
          <p:cNvSpPr/>
          <p:nvPr/>
        </p:nvSpPr>
        <p:spPr>
          <a:xfrm>
            <a:off x="666893" y="3483429"/>
            <a:ext cx="96253" cy="128337"/>
          </a:xfrm>
          <a:custGeom>
            <a:avLst/>
            <a:gdLst/>
            <a:ahLst/>
            <a:cxnLst/>
            <a:rect l="l" t="t" r="r" b="b"/>
            <a:pathLst>
              <a:path w="96253" h="128337">
                <a:moveTo>
                  <a:pt x="73418" y="96253"/>
                </a:moveTo>
                <a:cubicBezTo>
                  <a:pt x="75248" y="90663"/>
                  <a:pt x="78907" y="85600"/>
                  <a:pt x="83043" y="81238"/>
                </a:cubicBezTo>
                <a:cubicBezTo>
                  <a:pt x="91239" y="72616"/>
                  <a:pt x="96253" y="60960"/>
                  <a:pt x="96253" y="48126"/>
                </a:cubicBezTo>
                <a:cubicBezTo>
                  <a:pt x="96253" y="21557"/>
                  <a:pt x="74696" y="0"/>
                  <a:pt x="48126" y="0"/>
                </a:cubicBezTo>
                <a:cubicBezTo>
                  <a:pt x="21557" y="0"/>
                  <a:pt x="0" y="21557"/>
                  <a:pt x="0" y="48126"/>
                </a:cubicBezTo>
                <a:cubicBezTo>
                  <a:pt x="0" y="60960"/>
                  <a:pt x="5013" y="72616"/>
                  <a:pt x="13210" y="81238"/>
                </a:cubicBezTo>
                <a:cubicBezTo>
                  <a:pt x="17346" y="85600"/>
                  <a:pt x="21030" y="90663"/>
                  <a:pt x="22835" y="96253"/>
                </a:cubicBezTo>
                <a:lnTo>
                  <a:pt x="73393" y="96253"/>
                </a:lnTo>
                <a:close/>
                <a:moveTo>
                  <a:pt x="72189" y="108284"/>
                </a:moveTo>
                <a:lnTo>
                  <a:pt x="24063" y="108284"/>
                </a:lnTo>
                <a:lnTo>
                  <a:pt x="24063" y="112295"/>
                </a:lnTo>
                <a:cubicBezTo>
                  <a:pt x="24063" y="123374"/>
                  <a:pt x="33037" y="132347"/>
                  <a:pt x="44116" y="132347"/>
                </a:cubicBezTo>
                <a:lnTo>
                  <a:pt x="52137" y="132347"/>
                </a:lnTo>
                <a:cubicBezTo>
                  <a:pt x="63216" y="132347"/>
                  <a:pt x="72189" y="123374"/>
                  <a:pt x="72189" y="112295"/>
                </a:cubicBezTo>
                <a:lnTo>
                  <a:pt x="72189" y="108284"/>
                </a:lnTo>
                <a:close/>
                <a:moveTo>
                  <a:pt x="46121" y="28074"/>
                </a:moveTo>
                <a:cubicBezTo>
                  <a:pt x="36145" y="28074"/>
                  <a:pt x="28074" y="36145"/>
                  <a:pt x="28074" y="46121"/>
                </a:cubicBezTo>
                <a:cubicBezTo>
                  <a:pt x="28074" y="49455"/>
                  <a:pt x="25392" y="52137"/>
                  <a:pt x="22058" y="52137"/>
                </a:cubicBezTo>
                <a:cubicBezTo>
                  <a:pt x="18724" y="52137"/>
                  <a:pt x="16042" y="49455"/>
                  <a:pt x="16042" y="46121"/>
                </a:cubicBezTo>
                <a:cubicBezTo>
                  <a:pt x="16042" y="29502"/>
                  <a:pt x="29502" y="16042"/>
                  <a:pt x="46121" y="16042"/>
                </a:cubicBezTo>
                <a:cubicBezTo>
                  <a:pt x="49455" y="16042"/>
                  <a:pt x="52137" y="18724"/>
                  <a:pt x="52137" y="22058"/>
                </a:cubicBezTo>
                <a:cubicBezTo>
                  <a:pt x="52137" y="25392"/>
                  <a:pt x="49455" y="28074"/>
                  <a:pt x="46121" y="28074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9" name="Text 27"/>
          <p:cNvSpPr/>
          <p:nvPr/>
        </p:nvSpPr>
        <p:spPr>
          <a:xfrm>
            <a:off x="850456" y="3455928"/>
            <a:ext cx="4988871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Conclusion:</a:t>
            </a:r>
            <a:r>
              <a:rPr lang="en-US" sz="101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256 units offre le meilleur compromis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1260" y="4019693"/>
            <a:ext cx="5628487" cy="2832577"/>
          </a:xfrm>
          <a:custGeom>
            <a:avLst/>
            <a:gdLst/>
            <a:ahLst/>
            <a:cxnLst/>
            <a:rect l="l" t="t" r="r" b="b"/>
            <a:pathLst>
              <a:path w="5628487" h="2832577">
                <a:moveTo>
                  <a:pt x="109989" y="0"/>
                </a:moveTo>
                <a:lnTo>
                  <a:pt x="5518498" y="0"/>
                </a:lnTo>
                <a:cubicBezTo>
                  <a:pt x="5579243" y="0"/>
                  <a:pt x="5628487" y="49244"/>
                  <a:pt x="5628487" y="109989"/>
                </a:cubicBezTo>
                <a:lnTo>
                  <a:pt x="5628487" y="2722588"/>
                </a:lnTo>
                <a:cubicBezTo>
                  <a:pt x="5628487" y="2783334"/>
                  <a:pt x="5579243" y="2832577"/>
                  <a:pt x="5518498" y="2832577"/>
                </a:cubicBezTo>
                <a:lnTo>
                  <a:pt x="109989" y="2832577"/>
                </a:lnTo>
                <a:cubicBezTo>
                  <a:pt x="49244" y="2832577"/>
                  <a:pt x="0" y="2783334"/>
                  <a:pt x="0" y="2722588"/>
                </a:cubicBezTo>
                <a:lnTo>
                  <a:pt x="0" y="109989"/>
                </a:lnTo>
                <a:cubicBezTo>
                  <a:pt x="0" y="49284"/>
                  <a:pt x="49284" y="0"/>
                  <a:pt x="10998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514" y="4170947"/>
            <a:ext cx="5417648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5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Effet du Coefficient d'Entropie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0848" y="4537624"/>
            <a:ext cx="5307645" cy="366677"/>
          </a:xfrm>
          <a:custGeom>
            <a:avLst/>
            <a:gdLst/>
            <a:ahLst/>
            <a:cxnLst/>
            <a:rect l="l" t="t" r="r" b="b"/>
            <a:pathLst>
              <a:path w="5307645" h="366677">
                <a:moveTo>
                  <a:pt x="36668" y="0"/>
                </a:moveTo>
                <a:lnTo>
                  <a:pt x="5270977" y="0"/>
                </a:lnTo>
                <a:cubicBezTo>
                  <a:pt x="5291228" y="0"/>
                  <a:pt x="5307645" y="16417"/>
                  <a:pt x="5307645" y="36668"/>
                </a:cubicBezTo>
                <a:lnTo>
                  <a:pt x="5307645" y="330009"/>
                </a:lnTo>
                <a:cubicBezTo>
                  <a:pt x="5307645" y="350260"/>
                  <a:pt x="5291228" y="366677"/>
                  <a:pt x="5270977" y="366677"/>
                </a:cubicBez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540848" y="4537624"/>
            <a:ext cx="36668" cy="366677"/>
          </a:xfrm>
          <a:custGeom>
            <a:avLst/>
            <a:gdLst/>
            <a:ahLst/>
            <a:cxnLst/>
            <a:rect l="l" t="t" r="r" b="b"/>
            <a:pathLst>
              <a:path w="36668" h="366677">
                <a:moveTo>
                  <a:pt x="36668" y="0"/>
                </a:moveTo>
                <a:lnTo>
                  <a:pt x="36668" y="0"/>
                </a:lnTo>
                <a:lnTo>
                  <a:pt x="36668" y="366677"/>
                </a:ln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34" name="Text 32"/>
          <p:cNvSpPr/>
          <p:nvPr/>
        </p:nvSpPr>
        <p:spPr>
          <a:xfrm>
            <a:off x="632517" y="4610959"/>
            <a:ext cx="39417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0.00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002165" y="4610959"/>
            <a:ext cx="48584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646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48.5%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61764" y="4629293"/>
            <a:ext cx="375844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300K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0848" y="4977636"/>
            <a:ext cx="5307645" cy="366677"/>
          </a:xfrm>
          <a:custGeom>
            <a:avLst/>
            <a:gdLst/>
            <a:ahLst/>
            <a:cxnLst/>
            <a:rect l="l" t="t" r="r" b="b"/>
            <a:pathLst>
              <a:path w="5307645" h="366677">
                <a:moveTo>
                  <a:pt x="36668" y="0"/>
                </a:moveTo>
                <a:lnTo>
                  <a:pt x="5270977" y="0"/>
                </a:lnTo>
                <a:cubicBezTo>
                  <a:pt x="5291228" y="0"/>
                  <a:pt x="5307645" y="16417"/>
                  <a:pt x="5307645" y="36668"/>
                </a:cubicBezTo>
                <a:lnTo>
                  <a:pt x="5307645" y="330009"/>
                </a:lnTo>
                <a:cubicBezTo>
                  <a:pt x="5307645" y="350260"/>
                  <a:pt x="5291228" y="366677"/>
                  <a:pt x="5270977" y="366677"/>
                </a:cubicBez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540848" y="4977636"/>
            <a:ext cx="36668" cy="366677"/>
          </a:xfrm>
          <a:custGeom>
            <a:avLst/>
            <a:gdLst/>
            <a:ahLst/>
            <a:cxnLst/>
            <a:rect l="l" t="t" r="r" b="b"/>
            <a:pathLst>
              <a:path w="36668" h="366677">
                <a:moveTo>
                  <a:pt x="36668" y="0"/>
                </a:moveTo>
                <a:lnTo>
                  <a:pt x="36668" y="0"/>
                </a:lnTo>
                <a:lnTo>
                  <a:pt x="36668" y="366677"/>
                </a:ln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9" name="Text 37"/>
          <p:cNvSpPr/>
          <p:nvPr/>
        </p:nvSpPr>
        <p:spPr>
          <a:xfrm>
            <a:off x="632517" y="5050971"/>
            <a:ext cx="476680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0.005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040695" y="5050971"/>
            <a:ext cx="48584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56.2%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59042" y="5069305"/>
            <a:ext cx="375844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800K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0848" y="5417648"/>
            <a:ext cx="5307645" cy="403344"/>
          </a:xfrm>
          <a:custGeom>
            <a:avLst/>
            <a:gdLst/>
            <a:ahLst/>
            <a:cxnLst/>
            <a:rect l="l" t="t" r="r" b="b"/>
            <a:pathLst>
              <a:path w="5307645" h="403344">
                <a:moveTo>
                  <a:pt x="36668" y="0"/>
                </a:moveTo>
                <a:lnTo>
                  <a:pt x="5270977" y="0"/>
                </a:lnTo>
                <a:cubicBezTo>
                  <a:pt x="5291228" y="0"/>
                  <a:pt x="5307645" y="16417"/>
                  <a:pt x="5307645" y="36668"/>
                </a:cubicBezTo>
                <a:lnTo>
                  <a:pt x="5307645" y="366676"/>
                </a:lnTo>
                <a:cubicBezTo>
                  <a:pt x="5307645" y="386928"/>
                  <a:pt x="5291228" y="403344"/>
                  <a:pt x="5270977" y="403344"/>
                </a:cubicBezTo>
                <a:lnTo>
                  <a:pt x="36668" y="403344"/>
                </a:lnTo>
                <a:cubicBezTo>
                  <a:pt x="16430" y="403344"/>
                  <a:pt x="0" y="386914"/>
                  <a:pt x="0" y="36667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540848" y="5417648"/>
            <a:ext cx="36668" cy="403344"/>
          </a:xfrm>
          <a:custGeom>
            <a:avLst/>
            <a:gdLst/>
            <a:ahLst/>
            <a:cxnLst/>
            <a:rect l="l" t="t" r="r" b="b"/>
            <a:pathLst>
              <a:path w="36668" h="403344">
                <a:moveTo>
                  <a:pt x="36668" y="0"/>
                </a:moveTo>
                <a:lnTo>
                  <a:pt x="36668" y="0"/>
                </a:lnTo>
                <a:lnTo>
                  <a:pt x="36668" y="403344"/>
                </a:lnTo>
                <a:lnTo>
                  <a:pt x="36668" y="403344"/>
                </a:lnTo>
                <a:cubicBezTo>
                  <a:pt x="16430" y="403344"/>
                  <a:pt x="0" y="386914"/>
                  <a:pt x="0" y="36667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44" name="Text 42"/>
          <p:cNvSpPr/>
          <p:nvPr/>
        </p:nvSpPr>
        <p:spPr>
          <a:xfrm>
            <a:off x="632517" y="5509317"/>
            <a:ext cx="357510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0.01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001449" y="5490983"/>
            <a:ext cx="531681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60.1%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529656" y="5527651"/>
            <a:ext cx="311675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1.2M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40848" y="5894328"/>
            <a:ext cx="5307645" cy="366677"/>
          </a:xfrm>
          <a:custGeom>
            <a:avLst/>
            <a:gdLst/>
            <a:ahLst/>
            <a:cxnLst/>
            <a:rect l="l" t="t" r="r" b="b"/>
            <a:pathLst>
              <a:path w="5307645" h="366677">
                <a:moveTo>
                  <a:pt x="36668" y="0"/>
                </a:moveTo>
                <a:lnTo>
                  <a:pt x="5270977" y="0"/>
                </a:lnTo>
                <a:cubicBezTo>
                  <a:pt x="5291228" y="0"/>
                  <a:pt x="5307645" y="16417"/>
                  <a:pt x="5307645" y="36668"/>
                </a:cubicBezTo>
                <a:lnTo>
                  <a:pt x="5307645" y="330009"/>
                </a:lnTo>
                <a:cubicBezTo>
                  <a:pt x="5307645" y="350260"/>
                  <a:pt x="5291228" y="366677"/>
                  <a:pt x="5270977" y="366677"/>
                </a:cubicBez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540848" y="5894328"/>
            <a:ext cx="36668" cy="366677"/>
          </a:xfrm>
          <a:custGeom>
            <a:avLst/>
            <a:gdLst/>
            <a:ahLst/>
            <a:cxnLst/>
            <a:rect l="l" t="t" r="r" b="b"/>
            <a:pathLst>
              <a:path w="36668" h="366677">
                <a:moveTo>
                  <a:pt x="36668" y="0"/>
                </a:moveTo>
                <a:lnTo>
                  <a:pt x="36668" y="0"/>
                </a:lnTo>
                <a:lnTo>
                  <a:pt x="36668" y="366677"/>
                </a:ln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49" name="Text 47"/>
          <p:cNvSpPr/>
          <p:nvPr/>
        </p:nvSpPr>
        <p:spPr>
          <a:xfrm>
            <a:off x="632517" y="5967663"/>
            <a:ext cx="375844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0.02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027661" y="5967663"/>
            <a:ext cx="476680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58.7%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525789" y="5985997"/>
            <a:ext cx="311675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1.5M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0848" y="6334340"/>
            <a:ext cx="5307645" cy="366677"/>
          </a:xfrm>
          <a:custGeom>
            <a:avLst/>
            <a:gdLst/>
            <a:ahLst/>
            <a:cxnLst/>
            <a:rect l="l" t="t" r="r" b="b"/>
            <a:pathLst>
              <a:path w="5307645" h="366677">
                <a:moveTo>
                  <a:pt x="36668" y="0"/>
                </a:moveTo>
                <a:lnTo>
                  <a:pt x="5270977" y="0"/>
                </a:lnTo>
                <a:cubicBezTo>
                  <a:pt x="5291228" y="0"/>
                  <a:pt x="5307645" y="16417"/>
                  <a:pt x="5307645" y="36668"/>
                </a:cubicBezTo>
                <a:lnTo>
                  <a:pt x="5307645" y="330009"/>
                </a:lnTo>
                <a:cubicBezTo>
                  <a:pt x="5307645" y="350260"/>
                  <a:pt x="5291228" y="366677"/>
                  <a:pt x="5270977" y="366677"/>
                </a:cubicBez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540848" y="6334340"/>
            <a:ext cx="36668" cy="366677"/>
          </a:xfrm>
          <a:custGeom>
            <a:avLst/>
            <a:gdLst/>
            <a:ahLst/>
            <a:cxnLst/>
            <a:rect l="l" t="t" r="r" b="b"/>
            <a:pathLst>
              <a:path w="36668" h="366677">
                <a:moveTo>
                  <a:pt x="36668" y="0"/>
                </a:moveTo>
                <a:lnTo>
                  <a:pt x="36668" y="0"/>
                </a:lnTo>
                <a:lnTo>
                  <a:pt x="36668" y="366677"/>
                </a:lnTo>
                <a:lnTo>
                  <a:pt x="36668" y="366677"/>
                </a:lnTo>
                <a:cubicBezTo>
                  <a:pt x="16430" y="366677"/>
                  <a:pt x="0" y="350246"/>
                  <a:pt x="0" y="330009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54" name="Text 52"/>
          <p:cNvSpPr/>
          <p:nvPr/>
        </p:nvSpPr>
        <p:spPr>
          <a:xfrm>
            <a:off x="632517" y="6407675"/>
            <a:ext cx="375844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0.05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038690" y="6407675"/>
            <a:ext cx="476680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52.3%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547990" y="6426009"/>
            <a:ext cx="293341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&gt;2M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1107" y="1031278"/>
            <a:ext cx="5628487" cy="2429233"/>
          </a:xfrm>
          <a:custGeom>
            <a:avLst/>
            <a:gdLst/>
            <a:ahLst/>
            <a:cxnLst/>
            <a:rect l="l" t="t" r="r" b="b"/>
            <a:pathLst>
              <a:path w="5628487" h="2429233">
                <a:moveTo>
                  <a:pt x="109996" y="0"/>
                </a:moveTo>
                <a:lnTo>
                  <a:pt x="5518492" y="0"/>
                </a:lnTo>
                <a:cubicBezTo>
                  <a:pt x="5579240" y="0"/>
                  <a:pt x="5628487" y="49247"/>
                  <a:pt x="5628487" y="109996"/>
                </a:cubicBezTo>
                <a:lnTo>
                  <a:pt x="5628487" y="2319237"/>
                </a:lnTo>
                <a:cubicBezTo>
                  <a:pt x="5628487" y="2379986"/>
                  <a:pt x="5579240" y="2429233"/>
                  <a:pt x="5518492" y="2429233"/>
                </a:cubicBezTo>
                <a:lnTo>
                  <a:pt x="109996" y="2429233"/>
                </a:lnTo>
                <a:cubicBezTo>
                  <a:pt x="49247" y="2429233"/>
                  <a:pt x="0" y="2379986"/>
                  <a:pt x="0" y="2319237"/>
                </a:cubicBezTo>
                <a:lnTo>
                  <a:pt x="0" y="109996"/>
                </a:lnTo>
                <a:cubicBezTo>
                  <a:pt x="0" y="49247"/>
                  <a:pt x="49247" y="0"/>
                  <a:pt x="1099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42361" y="1182532"/>
            <a:ext cx="5435982" cy="2933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Analyse des Échecs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42361" y="1585877"/>
            <a:ext cx="5399314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Analyse de 100 parties perdues :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42361" y="1952553"/>
            <a:ext cx="586683" cy="146671"/>
          </a:xfrm>
          <a:custGeom>
            <a:avLst/>
            <a:gdLst/>
            <a:ahLst/>
            <a:cxnLst/>
            <a:rect l="l" t="t" r="r" b="b"/>
            <a:pathLst>
              <a:path w="586683" h="146671">
                <a:moveTo>
                  <a:pt x="73335" y="0"/>
                </a:moveTo>
                <a:lnTo>
                  <a:pt x="513347" y="0"/>
                </a:lnTo>
                <a:cubicBezTo>
                  <a:pt x="553822" y="0"/>
                  <a:pt x="586683" y="32860"/>
                  <a:pt x="586683" y="73335"/>
                </a:cubicBezTo>
                <a:lnTo>
                  <a:pt x="586683" y="73335"/>
                </a:lnTo>
                <a:cubicBezTo>
                  <a:pt x="586683" y="113810"/>
                  <a:pt x="553822" y="146671"/>
                  <a:pt x="513347" y="146671"/>
                </a:cubicBezTo>
                <a:lnTo>
                  <a:pt x="73335" y="146671"/>
                </a:lnTo>
                <a:cubicBezTo>
                  <a:pt x="32860" y="146671"/>
                  <a:pt x="0" y="113810"/>
                  <a:pt x="0" y="73335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6342361" y="1952553"/>
            <a:ext cx="201672" cy="146671"/>
          </a:xfrm>
          <a:custGeom>
            <a:avLst/>
            <a:gdLst/>
            <a:ahLst/>
            <a:cxnLst/>
            <a:rect l="l" t="t" r="r" b="b"/>
            <a:pathLst>
              <a:path w="201672" h="146671">
                <a:moveTo>
                  <a:pt x="73335" y="0"/>
                </a:moveTo>
                <a:lnTo>
                  <a:pt x="128337" y="0"/>
                </a:lnTo>
                <a:cubicBezTo>
                  <a:pt x="168812" y="0"/>
                  <a:pt x="201672" y="32860"/>
                  <a:pt x="201672" y="73335"/>
                </a:cubicBezTo>
                <a:lnTo>
                  <a:pt x="201672" y="73335"/>
                </a:lnTo>
                <a:cubicBezTo>
                  <a:pt x="201672" y="113810"/>
                  <a:pt x="168812" y="146671"/>
                  <a:pt x="128337" y="146671"/>
                </a:cubicBezTo>
                <a:lnTo>
                  <a:pt x="73335" y="146671"/>
                </a:lnTo>
                <a:cubicBezTo>
                  <a:pt x="32860" y="146671"/>
                  <a:pt x="0" y="113810"/>
                  <a:pt x="0" y="73335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62" name="Text 60"/>
          <p:cNvSpPr/>
          <p:nvPr/>
        </p:nvSpPr>
        <p:spPr>
          <a:xfrm>
            <a:off x="7039047" y="1915886"/>
            <a:ext cx="1402538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Tirages malchanceux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377720" y="1915886"/>
            <a:ext cx="36667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35%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42361" y="2245895"/>
            <a:ext cx="586683" cy="146671"/>
          </a:xfrm>
          <a:custGeom>
            <a:avLst/>
            <a:gdLst/>
            <a:ahLst/>
            <a:cxnLst/>
            <a:rect l="l" t="t" r="r" b="b"/>
            <a:pathLst>
              <a:path w="586683" h="146671">
                <a:moveTo>
                  <a:pt x="73335" y="0"/>
                </a:moveTo>
                <a:lnTo>
                  <a:pt x="513347" y="0"/>
                </a:lnTo>
                <a:cubicBezTo>
                  <a:pt x="553822" y="0"/>
                  <a:pt x="586683" y="32860"/>
                  <a:pt x="586683" y="73335"/>
                </a:cubicBezTo>
                <a:lnTo>
                  <a:pt x="586683" y="73335"/>
                </a:lnTo>
                <a:cubicBezTo>
                  <a:pt x="586683" y="113810"/>
                  <a:pt x="553822" y="146671"/>
                  <a:pt x="513347" y="146671"/>
                </a:cubicBezTo>
                <a:lnTo>
                  <a:pt x="73335" y="146671"/>
                </a:lnTo>
                <a:cubicBezTo>
                  <a:pt x="32860" y="146671"/>
                  <a:pt x="0" y="113810"/>
                  <a:pt x="0" y="73335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6342361" y="2245895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0"/>
                </a:moveTo>
                <a:lnTo>
                  <a:pt x="73335" y="0"/>
                </a:lnTo>
                <a:cubicBezTo>
                  <a:pt x="113810" y="0"/>
                  <a:pt x="146671" y="32860"/>
                  <a:pt x="146671" y="73335"/>
                </a:cubicBezTo>
                <a:lnTo>
                  <a:pt x="146671" y="73335"/>
                </a:lnTo>
                <a:cubicBezTo>
                  <a:pt x="146671" y="113810"/>
                  <a:pt x="113810" y="146671"/>
                  <a:pt x="73335" y="146671"/>
                </a:cubicBezTo>
                <a:lnTo>
                  <a:pt x="73335" y="146671"/>
                </a:lnTo>
                <a:cubicBezTo>
                  <a:pt x="32860" y="146671"/>
                  <a:pt x="0" y="113810"/>
                  <a:pt x="0" y="73335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66" name="Text 64"/>
          <p:cNvSpPr/>
          <p:nvPr/>
        </p:nvSpPr>
        <p:spPr>
          <a:xfrm>
            <a:off x="7039047" y="2209227"/>
            <a:ext cx="1081696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Blocage couleur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381444" y="2209227"/>
            <a:ext cx="357510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42361" y="2539236"/>
            <a:ext cx="586683" cy="146671"/>
          </a:xfrm>
          <a:custGeom>
            <a:avLst/>
            <a:gdLst/>
            <a:ahLst/>
            <a:cxnLst/>
            <a:rect l="l" t="t" r="r" b="b"/>
            <a:pathLst>
              <a:path w="586683" h="146671">
                <a:moveTo>
                  <a:pt x="73335" y="0"/>
                </a:moveTo>
                <a:lnTo>
                  <a:pt x="513347" y="0"/>
                </a:lnTo>
                <a:cubicBezTo>
                  <a:pt x="553822" y="0"/>
                  <a:pt x="586683" y="32860"/>
                  <a:pt x="586683" y="73335"/>
                </a:cubicBezTo>
                <a:lnTo>
                  <a:pt x="586683" y="73335"/>
                </a:lnTo>
                <a:cubicBezTo>
                  <a:pt x="586683" y="113810"/>
                  <a:pt x="553822" y="146671"/>
                  <a:pt x="513347" y="146671"/>
                </a:cubicBezTo>
                <a:lnTo>
                  <a:pt x="73335" y="146671"/>
                </a:lnTo>
                <a:cubicBezTo>
                  <a:pt x="32860" y="146671"/>
                  <a:pt x="0" y="113810"/>
                  <a:pt x="0" y="73335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6342361" y="2539236"/>
            <a:ext cx="119170" cy="146671"/>
          </a:xfrm>
          <a:custGeom>
            <a:avLst/>
            <a:gdLst/>
            <a:ahLst/>
            <a:cxnLst/>
            <a:rect l="l" t="t" r="r" b="b"/>
            <a:pathLst>
              <a:path w="119170" h="146671">
                <a:moveTo>
                  <a:pt x="59585" y="0"/>
                </a:moveTo>
                <a:lnTo>
                  <a:pt x="59585" y="0"/>
                </a:lnTo>
                <a:cubicBezTo>
                  <a:pt x="92471" y="0"/>
                  <a:pt x="119170" y="26699"/>
                  <a:pt x="119170" y="59585"/>
                </a:cubicBezTo>
                <a:lnTo>
                  <a:pt x="119170" y="87086"/>
                </a:lnTo>
                <a:cubicBezTo>
                  <a:pt x="119170" y="119972"/>
                  <a:pt x="92471" y="146671"/>
                  <a:pt x="59585" y="146671"/>
                </a:cubicBezTo>
                <a:lnTo>
                  <a:pt x="59585" y="146671"/>
                </a:lnTo>
                <a:cubicBezTo>
                  <a:pt x="26699" y="146671"/>
                  <a:pt x="0" y="119972"/>
                  <a:pt x="0" y="87086"/>
                </a:cubicBezTo>
                <a:lnTo>
                  <a:pt x="0" y="59585"/>
                </a:lnTo>
                <a:cubicBezTo>
                  <a:pt x="0" y="26699"/>
                  <a:pt x="26699" y="0"/>
                  <a:pt x="59585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70" name="Text 68"/>
          <p:cNvSpPr/>
          <p:nvPr/>
        </p:nvSpPr>
        <p:spPr>
          <a:xfrm>
            <a:off x="7039047" y="2502568"/>
            <a:ext cx="1127531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Wild card timing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365259" y="2502568"/>
            <a:ext cx="375844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42361" y="2832577"/>
            <a:ext cx="586683" cy="146671"/>
          </a:xfrm>
          <a:custGeom>
            <a:avLst/>
            <a:gdLst/>
            <a:ahLst/>
            <a:cxnLst/>
            <a:rect l="l" t="t" r="r" b="b"/>
            <a:pathLst>
              <a:path w="586683" h="146671">
                <a:moveTo>
                  <a:pt x="73335" y="0"/>
                </a:moveTo>
                <a:lnTo>
                  <a:pt x="513347" y="0"/>
                </a:lnTo>
                <a:cubicBezTo>
                  <a:pt x="553822" y="0"/>
                  <a:pt x="586683" y="32860"/>
                  <a:pt x="586683" y="73335"/>
                </a:cubicBezTo>
                <a:lnTo>
                  <a:pt x="586683" y="73335"/>
                </a:lnTo>
                <a:cubicBezTo>
                  <a:pt x="586683" y="113810"/>
                  <a:pt x="553822" y="146671"/>
                  <a:pt x="513347" y="146671"/>
                </a:cubicBezTo>
                <a:lnTo>
                  <a:pt x="73335" y="146671"/>
                </a:lnTo>
                <a:cubicBezTo>
                  <a:pt x="32860" y="146671"/>
                  <a:pt x="0" y="113810"/>
                  <a:pt x="0" y="73335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73" name="Shape 71"/>
          <p:cNvSpPr/>
          <p:nvPr/>
        </p:nvSpPr>
        <p:spPr>
          <a:xfrm>
            <a:off x="6342361" y="2832577"/>
            <a:ext cx="73335" cy="146671"/>
          </a:xfrm>
          <a:custGeom>
            <a:avLst/>
            <a:gdLst/>
            <a:ahLst/>
            <a:cxnLst/>
            <a:rect l="l" t="t" r="r" b="b"/>
            <a:pathLst>
              <a:path w="73335" h="146671">
                <a:moveTo>
                  <a:pt x="36668" y="0"/>
                </a:moveTo>
                <a:lnTo>
                  <a:pt x="36668" y="0"/>
                </a:lnTo>
                <a:cubicBezTo>
                  <a:pt x="56905" y="0"/>
                  <a:pt x="73335" y="16430"/>
                  <a:pt x="73335" y="36668"/>
                </a:cubicBezTo>
                <a:lnTo>
                  <a:pt x="73335" y="110003"/>
                </a:lnTo>
                <a:cubicBezTo>
                  <a:pt x="73335" y="130240"/>
                  <a:pt x="56905" y="146671"/>
                  <a:pt x="36668" y="146671"/>
                </a:cubicBezTo>
                <a:lnTo>
                  <a:pt x="36668" y="146671"/>
                </a:lnTo>
                <a:cubicBezTo>
                  <a:pt x="16430" y="146671"/>
                  <a:pt x="0" y="130240"/>
                  <a:pt x="0" y="11000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74" name="Text 72"/>
          <p:cNvSpPr/>
          <p:nvPr/>
        </p:nvSpPr>
        <p:spPr>
          <a:xfrm>
            <a:off x="7039047" y="2795910"/>
            <a:ext cx="87085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Cartes +2/+4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413958" y="2795910"/>
            <a:ext cx="330009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12%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342361" y="3125919"/>
            <a:ext cx="586683" cy="146671"/>
          </a:xfrm>
          <a:custGeom>
            <a:avLst/>
            <a:gdLst/>
            <a:ahLst/>
            <a:cxnLst/>
            <a:rect l="l" t="t" r="r" b="b"/>
            <a:pathLst>
              <a:path w="586683" h="146671">
                <a:moveTo>
                  <a:pt x="73335" y="0"/>
                </a:moveTo>
                <a:lnTo>
                  <a:pt x="513347" y="0"/>
                </a:lnTo>
                <a:cubicBezTo>
                  <a:pt x="553822" y="0"/>
                  <a:pt x="586683" y="32860"/>
                  <a:pt x="586683" y="73335"/>
                </a:cubicBezTo>
                <a:lnTo>
                  <a:pt x="586683" y="73335"/>
                </a:lnTo>
                <a:cubicBezTo>
                  <a:pt x="586683" y="113810"/>
                  <a:pt x="553822" y="146671"/>
                  <a:pt x="513347" y="146671"/>
                </a:cubicBezTo>
                <a:lnTo>
                  <a:pt x="73335" y="146671"/>
                </a:lnTo>
                <a:cubicBezTo>
                  <a:pt x="32860" y="146671"/>
                  <a:pt x="0" y="113810"/>
                  <a:pt x="0" y="73335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77" name="Shape 75"/>
          <p:cNvSpPr/>
          <p:nvPr/>
        </p:nvSpPr>
        <p:spPr>
          <a:xfrm>
            <a:off x="6342361" y="3125919"/>
            <a:ext cx="45835" cy="146671"/>
          </a:xfrm>
          <a:custGeom>
            <a:avLst/>
            <a:gdLst/>
            <a:ahLst/>
            <a:cxnLst/>
            <a:rect l="l" t="t" r="r" b="b"/>
            <a:pathLst>
              <a:path w="45835" h="146671">
                <a:moveTo>
                  <a:pt x="22917" y="0"/>
                </a:moveTo>
                <a:lnTo>
                  <a:pt x="22917" y="0"/>
                </a:lnTo>
                <a:cubicBezTo>
                  <a:pt x="35566" y="0"/>
                  <a:pt x="45835" y="10269"/>
                  <a:pt x="45835" y="22917"/>
                </a:cubicBezTo>
                <a:lnTo>
                  <a:pt x="45835" y="123753"/>
                </a:lnTo>
                <a:cubicBezTo>
                  <a:pt x="45835" y="136410"/>
                  <a:pt x="35574" y="146671"/>
                  <a:pt x="22917" y="146671"/>
                </a:cubicBezTo>
                <a:lnTo>
                  <a:pt x="22917" y="146671"/>
                </a:lnTo>
                <a:cubicBezTo>
                  <a:pt x="10260" y="146671"/>
                  <a:pt x="0" y="136410"/>
                  <a:pt x="0" y="123753"/>
                </a:cubicBezTo>
                <a:lnTo>
                  <a:pt x="0" y="22917"/>
                </a:lnTo>
                <a:cubicBezTo>
                  <a:pt x="0" y="10269"/>
                  <a:pt x="10269" y="0"/>
                  <a:pt x="22917" y="0"/>
                </a:cubicBezTo>
                <a:close/>
              </a:path>
            </a:pathLst>
          </a:custGeom>
          <a:solidFill>
            <a:srgbClr val="4A5568"/>
          </a:solidFill>
        </p:spPr>
      </p:sp>
      <p:sp>
        <p:nvSpPr>
          <p:cNvPr id="78" name="Text 76"/>
          <p:cNvSpPr/>
          <p:nvPr/>
        </p:nvSpPr>
        <p:spPr>
          <a:xfrm>
            <a:off x="7039047" y="3089251"/>
            <a:ext cx="485847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Autres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457358" y="3089251"/>
            <a:ext cx="284174" cy="220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4A556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8%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191107" y="3616349"/>
            <a:ext cx="5628487" cy="1622544"/>
          </a:xfrm>
          <a:custGeom>
            <a:avLst/>
            <a:gdLst/>
            <a:ahLst/>
            <a:cxnLst/>
            <a:rect l="l" t="t" r="r" b="b"/>
            <a:pathLst>
              <a:path w="5628487" h="1622544">
                <a:moveTo>
                  <a:pt x="110009" y="0"/>
                </a:moveTo>
                <a:lnTo>
                  <a:pt x="5518479" y="0"/>
                </a:lnTo>
                <a:cubicBezTo>
                  <a:pt x="5579235" y="0"/>
                  <a:pt x="5628487" y="49252"/>
                  <a:pt x="5628487" y="110009"/>
                </a:cubicBezTo>
                <a:lnTo>
                  <a:pt x="5628487" y="1512536"/>
                </a:lnTo>
                <a:cubicBezTo>
                  <a:pt x="5628487" y="1573292"/>
                  <a:pt x="5579235" y="1622544"/>
                  <a:pt x="5518479" y="1622544"/>
                </a:cubicBezTo>
                <a:lnTo>
                  <a:pt x="110009" y="1622544"/>
                </a:lnTo>
                <a:cubicBezTo>
                  <a:pt x="49252" y="1622544"/>
                  <a:pt x="0" y="1573292"/>
                  <a:pt x="0" y="1512536"/>
                </a:cubicBezTo>
                <a:lnTo>
                  <a:pt x="0" y="110009"/>
                </a:lnTo>
                <a:cubicBezTo>
                  <a:pt x="0" y="49293"/>
                  <a:pt x="49293" y="0"/>
                  <a:pt x="11000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42361" y="3767603"/>
            <a:ext cx="5417648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5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Axes d'Amélioration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360695" y="4161780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25981" y="69833"/>
                </a:moveTo>
                <a:cubicBezTo>
                  <a:pt x="129114" y="66700"/>
                  <a:pt x="129114" y="61612"/>
                  <a:pt x="125981" y="58478"/>
                </a:cubicBezTo>
                <a:lnTo>
                  <a:pt x="85875" y="18373"/>
                </a:lnTo>
                <a:cubicBezTo>
                  <a:pt x="82742" y="15240"/>
                  <a:pt x="77654" y="15240"/>
                  <a:pt x="74521" y="18373"/>
                </a:cubicBezTo>
                <a:cubicBezTo>
                  <a:pt x="71387" y="21506"/>
                  <a:pt x="71387" y="26595"/>
                  <a:pt x="74521" y="29728"/>
                </a:cubicBezTo>
                <a:lnTo>
                  <a:pt x="100940" y="56147"/>
                </a:lnTo>
                <a:lnTo>
                  <a:pt x="8021" y="56147"/>
                </a:lnTo>
                <a:cubicBezTo>
                  <a:pt x="3584" y="56147"/>
                  <a:pt x="0" y="59732"/>
                  <a:pt x="0" y="64168"/>
                </a:cubicBezTo>
                <a:cubicBezTo>
                  <a:pt x="0" y="68605"/>
                  <a:pt x="3584" y="72189"/>
                  <a:pt x="8021" y="72189"/>
                </a:cubicBezTo>
                <a:lnTo>
                  <a:pt x="100940" y="72189"/>
                </a:lnTo>
                <a:lnTo>
                  <a:pt x="74521" y="98609"/>
                </a:lnTo>
                <a:cubicBezTo>
                  <a:pt x="71387" y="101742"/>
                  <a:pt x="71387" y="106830"/>
                  <a:pt x="74521" y="109964"/>
                </a:cubicBezTo>
                <a:cubicBezTo>
                  <a:pt x="77654" y="113097"/>
                  <a:pt x="82742" y="113097"/>
                  <a:pt x="85875" y="109964"/>
                </a:cubicBezTo>
                <a:lnTo>
                  <a:pt x="125981" y="69858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3" name="Text 81"/>
          <p:cNvSpPr/>
          <p:nvPr/>
        </p:nvSpPr>
        <p:spPr>
          <a:xfrm>
            <a:off x="6560299" y="4134280"/>
            <a:ext cx="5172209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Meilleure sélection couleur Wild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360695" y="4418454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25981" y="69833"/>
                </a:moveTo>
                <a:cubicBezTo>
                  <a:pt x="129114" y="66700"/>
                  <a:pt x="129114" y="61612"/>
                  <a:pt x="125981" y="58478"/>
                </a:cubicBezTo>
                <a:lnTo>
                  <a:pt x="85875" y="18373"/>
                </a:lnTo>
                <a:cubicBezTo>
                  <a:pt x="82742" y="15240"/>
                  <a:pt x="77654" y="15240"/>
                  <a:pt x="74521" y="18373"/>
                </a:cubicBezTo>
                <a:cubicBezTo>
                  <a:pt x="71387" y="21506"/>
                  <a:pt x="71387" y="26595"/>
                  <a:pt x="74521" y="29728"/>
                </a:cubicBezTo>
                <a:lnTo>
                  <a:pt x="100940" y="56147"/>
                </a:lnTo>
                <a:lnTo>
                  <a:pt x="8021" y="56147"/>
                </a:lnTo>
                <a:cubicBezTo>
                  <a:pt x="3584" y="56147"/>
                  <a:pt x="0" y="59732"/>
                  <a:pt x="0" y="64168"/>
                </a:cubicBezTo>
                <a:cubicBezTo>
                  <a:pt x="0" y="68605"/>
                  <a:pt x="3584" y="72189"/>
                  <a:pt x="8021" y="72189"/>
                </a:cubicBezTo>
                <a:lnTo>
                  <a:pt x="100940" y="72189"/>
                </a:lnTo>
                <a:lnTo>
                  <a:pt x="74521" y="98609"/>
                </a:lnTo>
                <a:cubicBezTo>
                  <a:pt x="71387" y="101742"/>
                  <a:pt x="71387" y="106830"/>
                  <a:pt x="74521" y="109964"/>
                </a:cubicBezTo>
                <a:cubicBezTo>
                  <a:pt x="77654" y="113097"/>
                  <a:pt x="82742" y="113097"/>
                  <a:pt x="85875" y="109964"/>
                </a:cubicBezTo>
                <a:lnTo>
                  <a:pt x="125981" y="69858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5" name="Text 83"/>
          <p:cNvSpPr/>
          <p:nvPr/>
        </p:nvSpPr>
        <p:spPr>
          <a:xfrm>
            <a:off x="6560299" y="4390953"/>
            <a:ext cx="5172209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Conservation stratégique +4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360695" y="4675128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25981" y="69833"/>
                </a:moveTo>
                <a:cubicBezTo>
                  <a:pt x="129114" y="66700"/>
                  <a:pt x="129114" y="61612"/>
                  <a:pt x="125981" y="58478"/>
                </a:cubicBezTo>
                <a:lnTo>
                  <a:pt x="85875" y="18373"/>
                </a:lnTo>
                <a:cubicBezTo>
                  <a:pt x="82742" y="15240"/>
                  <a:pt x="77654" y="15240"/>
                  <a:pt x="74521" y="18373"/>
                </a:cubicBezTo>
                <a:cubicBezTo>
                  <a:pt x="71387" y="21506"/>
                  <a:pt x="71387" y="26595"/>
                  <a:pt x="74521" y="29728"/>
                </a:cubicBezTo>
                <a:lnTo>
                  <a:pt x="100940" y="56147"/>
                </a:lnTo>
                <a:lnTo>
                  <a:pt x="8021" y="56147"/>
                </a:lnTo>
                <a:cubicBezTo>
                  <a:pt x="3584" y="56147"/>
                  <a:pt x="0" y="59732"/>
                  <a:pt x="0" y="64168"/>
                </a:cubicBezTo>
                <a:cubicBezTo>
                  <a:pt x="0" y="68605"/>
                  <a:pt x="3584" y="72189"/>
                  <a:pt x="8021" y="72189"/>
                </a:cubicBezTo>
                <a:lnTo>
                  <a:pt x="100940" y="72189"/>
                </a:lnTo>
                <a:lnTo>
                  <a:pt x="74521" y="98609"/>
                </a:lnTo>
                <a:cubicBezTo>
                  <a:pt x="71387" y="101742"/>
                  <a:pt x="71387" y="106830"/>
                  <a:pt x="74521" y="109964"/>
                </a:cubicBezTo>
                <a:cubicBezTo>
                  <a:pt x="77654" y="113097"/>
                  <a:pt x="82742" y="113097"/>
                  <a:pt x="85875" y="109964"/>
                </a:cubicBezTo>
                <a:lnTo>
                  <a:pt x="125981" y="69858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7" name="Text 85"/>
          <p:cNvSpPr/>
          <p:nvPr/>
        </p:nvSpPr>
        <p:spPr>
          <a:xfrm>
            <a:off x="6560299" y="4647627"/>
            <a:ext cx="5172209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Conscience taille main adverse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360695" y="4931802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25981" y="69833"/>
                </a:moveTo>
                <a:cubicBezTo>
                  <a:pt x="129114" y="66700"/>
                  <a:pt x="129114" y="61612"/>
                  <a:pt x="125981" y="58478"/>
                </a:cubicBezTo>
                <a:lnTo>
                  <a:pt x="85875" y="18373"/>
                </a:lnTo>
                <a:cubicBezTo>
                  <a:pt x="82742" y="15240"/>
                  <a:pt x="77654" y="15240"/>
                  <a:pt x="74521" y="18373"/>
                </a:cubicBezTo>
                <a:cubicBezTo>
                  <a:pt x="71387" y="21506"/>
                  <a:pt x="71387" y="26595"/>
                  <a:pt x="74521" y="29728"/>
                </a:cubicBezTo>
                <a:lnTo>
                  <a:pt x="100940" y="56147"/>
                </a:lnTo>
                <a:lnTo>
                  <a:pt x="8021" y="56147"/>
                </a:lnTo>
                <a:cubicBezTo>
                  <a:pt x="3584" y="56147"/>
                  <a:pt x="0" y="59732"/>
                  <a:pt x="0" y="64168"/>
                </a:cubicBezTo>
                <a:cubicBezTo>
                  <a:pt x="0" y="68605"/>
                  <a:pt x="3584" y="72189"/>
                  <a:pt x="8021" y="72189"/>
                </a:cubicBezTo>
                <a:lnTo>
                  <a:pt x="100940" y="72189"/>
                </a:lnTo>
                <a:lnTo>
                  <a:pt x="74521" y="98609"/>
                </a:lnTo>
                <a:cubicBezTo>
                  <a:pt x="71387" y="101742"/>
                  <a:pt x="71387" y="106830"/>
                  <a:pt x="74521" y="109964"/>
                </a:cubicBezTo>
                <a:cubicBezTo>
                  <a:pt x="77654" y="113097"/>
                  <a:pt x="82742" y="113097"/>
                  <a:pt x="85875" y="109964"/>
                </a:cubicBezTo>
                <a:lnTo>
                  <a:pt x="125981" y="69858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9" name="Text 87"/>
          <p:cNvSpPr/>
          <p:nvPr/>
        </p:nvSpPr>
        <p:spPr>
          <a:xfrm>
            <a:off x="6560299" y="4904301"/>
            <a:ext cx="5172209" cy="183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Modélisation adversaire avancée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ramerusercontent.com/dfcef7f0d05e5e1ffd83273773701955da5292d1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15125" b="1512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C0A57D">
                  <a:alpha val="1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271588"/>
            <a:ext cx="2362200" cy="542925"/>
          </a:xfrm>
          <a:custGeom>
            <a:avLst/>
            <a:gdLst/>
            <a:ahLst/>
            <a:cxnLst/>
            <a:rect l="l" t="t" r="r" b="b"/>
            <a:pathLst>
              <a:path w="2362200" h="542925">
                <a:moveTo>
                  <a:pt x="271463" y="0"/>
                </a:moveTo>
                <a:lnTo>
                  <a:pt x="2090738" y="0"/>
                </a:lnTo>
                <a:cubicBezTo>
                  <a:pt x="2240562" y="0"/>
                  <a:pt x="2362200" y="121638"/>
                  <a:pt x="2362200" y="271463"/>
                </a:cubicBezTo>
                <a:lnTo>
                  <a:pt x="2362200" y="271463"/>
                </a:lnTo>
                <a:cubicBezTo>
                  <a:pt x="2362200" y="421287"/>
                  <a:pt x="2240562" y="542925"/>
                  <a:pt x="2090738" y="542925"/>
                </a:cubicBezTo>
                <a:lnTo>
                  <a:pt x="271463" y="542925"/>
                </a:lnTo>
                <a:cubicBezTo>
                  <a:pt x="121638" y="542925"/>
                  <a:pt x="0" y="421287"/>
                  <a:pt x="0" y="271463"/>
                </a:cubicBezTo>
                <a:lnTo>
                  <a:pt x="0" y="271463"/>
                </a:lnTo>
                <a:cubicBezTo>
                  <a:pt x="0" y="121638"/>
                  <a:pt x="121638" y="0"/>
                  <a:pt x="2714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5325" y="1371600"/>
            <a:ext cx="1855673" cy="333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CHAPITRE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2407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Interfaces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Graphiques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63867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8" name="Text 5"/>
          <p:cNvSpPr/>
          <p:nvPr/>
        </p:nvSpPr>
        <p:spPr>
          <a:xfrm>
            <a:off x="381000" y="4905375"/>
            <a:ext cx="74580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Présentation des trois interfaces utilisateur modernes avec design glassmorphism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Architecture des Interfaces Graphiques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2409825"/>
          </a:xfrm>
          <a:custGeom>
            <a:avLst/>
            <a:gdLst/>
            <a:ahLst/>
            <a:cxnLst/>
            <a:rect l="l" t="t" r="r" b="b"/>
            <a:pathLst>
              <a:path w="5610225" h="24098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2295527"/>
                </a:lnTo>
                <a:cubicBezTo>
                  <a:pt x="5610225" y="2358610"/>
                  <a:pt x="5559010" y="2409825"/>
                  <a:pt x="5495927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228725"/>
            <a:ext cx="1971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1. Main Game GUI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7259" y="1228725"/>
            <a:ext cx="857250" cy="304800"/>
          </a:xfrm>
          <a:custGeom>
            <a:avLst/>
            <a:gdLst/>
            <a:ahLst/>
            <a:cxnLst/>
            <a:rect l="l" t="t" r="r" b="b"/>
            <a:pathLst>
              <a:path w="857250" h="304800">
                <a:moveTo>
                  <a:pt x="152400" y="0"/>
                </a:moveTo>
                <a:lnTo>
                  <a:pt x="704850" y="0"/>
                </a:lnTo>
                <a:cubicBezTo>
                  <a:pt x="788962" y="0"/>
                  <a:pt x="857250" y="68288"/>
                  <a:pt x="857250" y="152400"/>
                </a:cubicBezTo>
                <a:lnTo>
                  <a:pt x="857250" y="152400"/>
                </a:lnTo>
                <a:cubicBezTo>
                  <a:pt x="857250" y="236512"/>
                  <a:pt x="788962" y="304800"/>
                  <a:pt x="7048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091559" y="1314450"/>
            <a:ext cx="699554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uno_gui.py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609725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Interface Humain vs IA avec sélecteur de modèle, rendu de cartes, et animations.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1431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46509" y="2247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0133" y="651"/>
                </a:moveTo>
                <a:cubicBezTo>
                  <a:pt x="22242" y="-417"/>
                  <a:pt x="24795" y="-182"/>
                  <a:pt x="26670" y="1250"/>
                </a:cubicBezTo>
                <a:lnTo>
                  <a:pt x="110014" y="63732"/>
                </a:lnTo>
                <a:cubicBezTo>
                  <a:pt x="112175" y="65347"/>
                  <a:pt x="113035" y="68160"/>
                  <a:pt x="112202" y="70712"/>
                </a:cubicBezTo>
                <a:cubicBezTo>
                  <a:pt x="111368" y="73264"/>
                  <a:pt x="108972" y="74983"/>
                  <a:pt x="106263" y="74983"/>
                </a:cubicBezTo>
                <a:lnTo>
                  <a:pt x="66597" y="74983"/>
                </a:lnTo>
                <a:lnTo>
                  <a:pt x="89751" y="121265"/>
                </a:lnTo>
                <a:cubicBezTo>
                  <a:pt x="91808" y="125380"/>
                  <a:pt x="90141" y="130381"/>
                  <a:pt x="86026" y="132438"/>
                </a:cubicBezTo>
                <a:cubicBezTo>
                  <a:pt x="81911" y="134496"/>
                  <a:pt x="76911" y="132829"/>
                  <a:pt x="74853" y="128714"/>
                </a:cubicBezTo>
                <a:lnTo>
                  <a:pt x="51699" y="82432"/>
                </a:lnTo>
                <a:lnTo>
                  <a:pt x="27920" y="114155"/>
                </a:lnTo>
                <a:cubicBezTo>
                  <a:pt x="26305" y="116317"/>
                  <a:pt x="23493" y="117176"/>
                  <a:pt x="20940" y="116343"/>
                </a:cubicBezTo>
                <a:cubicBezTo>
                  <a:pt x="18388" y="115509"/>
                  <a:pt x="16669" y="113113"/>
                  <a:pt x="16669" y="110430"/>
                </a:cubicBezTo>
                <a:lnTo>
                  <a:pt x="16669" y="6251"/>
                </a:lnTo>
                <a:cubicBezTo>
                  <a:pt x="16669" y="3881"/>
                  <a:pt x="17997" y="1719"/>
                  <a:pt x="20133" y="651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1" name="Text 9"/>
          <p:cNvSpPr/>
          <p:nvPr/>
        </p:nvSpPr>
        <p:spPr>
          <a:xfrm>
            <a:off x="847725" y="22193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Gameplay interactif: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Click sur cartes, bouton UNO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5622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21506" y="26670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4" name="Text 12"/>
          <p:cNvSpPr/>
          <p:nvPr/>
        </p:nvSpPr>
        <p:spPr>
          <a:xfrm>
            <a:off x="847725" y="26384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Model Selector: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Dropdown choix modèle 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29813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38175" y="3086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66675"/>
                </a:moveTo>
                <a:cubicBezTo>
                  <a:pt x="133350" y="66909"/>
                  <a:pt x="133350" y="67144"/>
                  <a:pt x="133350" y="67378"/>
                </a:cubicBezTo>
                <a:cubicBezTo>
                  <a:pt x="133246" y="76885"/>
                  <a:pt x="124599" y="83344"/>
                  <a:pt x="115093" y="83344"/>
                </a:cubicBezTo>
                <a:lnTo>
                  <a:pt x="89595" y="83344"/>
                </a:lnTo>
                <a:cubicBezTo>
                  <a:pt x="82693" y="83344"/>
                  <a:pt x="77093" y="88943"/>
                  <a:pt x="77093" y="95845"/>
                </a:cubicBezTo>
                <a:cubicBezTo>
                  <a:pt x="77093" y="96731"/>
                  <a:pt x="77197" y="97590"/>
                  <a:pt x="77353" y="98424"/>
                </a:cubicBezTo>
                <a:cubicBezTo>
                  <a:pt x="77900" y="101080"/>
                  <a:pt x="79046" y="103633"/>
                  <a:pt x="80166" y="106211"/>
                </a:cubicBezTo>
                <a:cubicBezTo>
                  <a:pt x="81755" y="109805"/>
                  <a:pt x="83318" y="113374"/>
                  <a:pt x="83318" y="117150"/>
                </a:cubicBezTo>
                <a:cubicBezTo>
                  <a:pt x="83318" y="125432"/>
                  <a:pt x="77692" y="132959"/>
                  <a:pt x="69410" y="133298"/>
                </a:cubicBezTo>
                <a:cubicBezTo>
                  <a:pt x="68498" y="133324"/>
                  <a:pt x="67587" y="133350"/>
                  <a:pt x="66649" y="133350"/>
                </a:cubicBezTo>
                <a:cubicBezTo>
                  <a:pt x="29821" y="133350"/>
                  <a:pt x="-26" y="103503"/>
                  <a:pt x="-26" y="66675"/>
                </a:cubicBezTo>
                <a:cubicBezTo>
                  <a:pt x="-26" y="29847"/>
                  <a:pt x="29847" y="0"/>
                  <a:pt x="66675" y="0"/>
                </a:cubicBezTo>
                <a:cubicBezTo>
                  <a:pt x="103503" y="0"/>
                  <a:pt x="133350" y="29847"/>
                  <a:pt x="133350" y="66675"/>
                </a:cubicBezTo>
                <a:close/>
                <a:moveTo>
                  <a:pt x="33337" y="75009"/>
                </a:moveTo>
                <a:cubicBezTo>
                  <a:pt x="33337" y="70410"/>
                  <a:pt x="29603" y="66675"/>
                  <a:pt x="25003" y="66675"/>
                </a:cubicBezTo>
                <a:cubicBezTo>
                  <a:pt x="20403" y="66675"/>
                  <a:pt x="16669" y="70410"/>
                  <a:pt x="16669" y="75009"/>
                </a:cubicBezTo>
                <a:cubicBezTo>
                  <a:pt x="16669" y="79609"/>
                  <a:pt x="20403" y="83344"/>
                  <a:pt x="25003" y="83344"/>
                </a:cubicBezTo>
                <a:cubicBezTo>
                  <a:pt x="29603" y="83344"/>
                  <a:pt x="33337" y="79609"/>
                  <a:pt x="33337" y="75009"/>
                </a:cubicBezTo>
                <a:close/>
                <a:moveTo>
                  <a:pt x="33337" y="50006"/>
                </a:moveTo>
                <a:cubicBezTo>
                  <a:pt x="37937" y="50006"/>
                  <a:pt x="41672" y="46272"/>
                  <a:pt x="41672" y="41672"/>
                </a:cubicBezTo>
                <a:cubicBezTo>
                  <a:pt x="41672" y="37072"/>
                  <a:pt x="37937" y="33337"/>
                  <a:pt x="33337" y="33337"/>
                </a:cubicBezTo>
                <a:cubicBezTo>
                  <a:pt x="28738" y="33337"/>
                  <a:pt x="25003" y="37072"/>
                  <a:pt x="25003" y="41672"/>
                </a:cubicBezTo>
                <a:cubicBezTo>
                  <a:pt x="25003" y="46272"/>
                  <a:pt x="28738" y="50006"/>
                  <a:pt x="33337" y="50006"/>
                </a:cubicBezTo>
                <a:close/>
                <a:moveTo>
                  <a:pt x="75009" y="25003"/>
                </a:moveTo>
                <a:cubicBezTo>
                  <a:pt x="75009" y="20403"/>
                  <a:pt x="71275" y="16669"/>
                  <a:pt x="66675" y="16669"/>
                </a:cubicBezTo>
                <a:cubicBezTo>
                  <a:pt x="62075" y="16669"/>
                  <a:pt x="58341" y="20403"/>
                  <a:pt x="58341" y="25003"/>
                </a:cubicBezTo>
                <a:cubicBezTo>
                  <a:pt x="58341" y="29603"/>
                  <a:pt x="62075" y="33337"/>
                  <a:pt x="66675" y="33337"/>
                </a:cubicBezTo>
                <a:cubicBezTo>
                  <a:pt x="71275" y="33337"/>
                  <a:pt x="75009" y="29603"/>
                  <a:pt x="75009" y="25003"/>
                </a:cubicBezTo>
                <a:close/>
                <a:moveTo>
                  <a:pt x="100013" y="50006"/>
                </a:moveTo>
                <a:cubicBezTo>
                  <a:pt x="104612" y="50006"/>
                  <a:pt x="108347" y="46272"/>
                  <a:pt x="108347" y="41672"/>
                </a:cubicBezTo>
                <a:cubicBezTo>
                  <a:pt x="108347" y="37072"/>
                  <a:pt x="104612" y="33337"/>
                  <a:pt x="100013" y="33337"/>
                </a:cubicBezTo>
                <a:cubicBezTo>
                  <a:pt x="95413" y="33337"/>
                  <a:pt x="91678" y="37072"/>
                  <a:pt x="91678" y="41672"/>
                </a:cubicBezTo>
                <a:cubicBezTo>
                  <a:pt x="91678" y="46272"/>
                  <a:pt x="95413" y="50006"/>
                  <a:pt x="100013" y="50006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7" name="Text 15"/>
          <p:cNvSpPr/>
          <p:nvPr/>
        </p:nvSpPr>
        <p:spPr>
          <a:xfrm>
            <a:off x="847725" y="30575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Card Renderer: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Rendu 60 FPS, effet glassmorphism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3643313"/>
            <a:ext cx="5610225" cy="2181225"/>
          </a:xfrm>
          <a:custGeom>
            <a:avLst/>
            <a:gdLst/>
            <a:ahLst/>
            <a:cxnLst/>
            <a:rect l="l" t="t" r="r" b="b"/>
            <a:pathLst>
              <a:path w="5610225" h="21812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2066929"/>
                </a:lnTo>
                <a:cubicBezTo>
                  <a:pt x="5610225" y="2130053"/>
                  <a:pt x="5559053" y="2181225"/>
                  <a:pt x="5495929" y="2181225"/>
                </a:cubicBezTo>
                <a:lnTo>
                  <a:pt x="114296" y="2181225"/>
                </a:lnTo>
                <a:cubicBezTo>
                  <a:pt x="51172" y="2181225"/>
                  <a:pt x="0" y="2130053"/>
                  <a:pt x="0" y="2066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925" y="3800475"/>
            <a:ext cx="1676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2. Battle Arena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38204" y="3800475"/>
            <a:ext cx="1400175" cy="304800"/>
          </a:xfrm>
          <a:custGeom>
            <a:avLst/>
            <a:gdLst/>
            <a:ahLst/>
            <a:cxnLst/>
            <a:rect l="l" t="t" r="r" b="b"/>
            <a:pathLst>
              <a:path w="1400175" h="304800">
                <a:moveTo>
                  <a:pt x="152400" y="0"/>
                </a:moveTo>
                <a:lnTo>
                  <a:pt x="1247775" y="0"/>
                </a:lnTo>
                <a:cubicBezTo>
                  <a:pt x="1331887" y="0"/>
                  <a:pt x="1400175" y="68288"/>
                  <a:pt x="1400175" y="152400"/>
                </a:cubicBezTo>
                <a:lnTo>
                  <a:pt x="1400175" y="152400"/>
                </a:lnTo>
                <a:cubicBezTo>
                  <a:pt x="1400175" y="236512"/>
                  <a:pt x="1331887" y="304800"/>
                  <a:pt x="12477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0A57D">
              <a:alpha val="3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4552504" y="3886200"/>
            <a:ext cx="1238688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model_battle_gui.py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925" y="418147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Comparaison systématique de modèles avec batailles 2-4 joueurs.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2925" y="44862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21506" y="45910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25" name="Text 23"/>
          <p:cNvSpPr/>
          <p:nvPr/>
        </p:nvSpPr>
        <p:spPr>
          <a:xfrm>
            <a:off x="847725" y="45624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2-4 Player Battles: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Configure matches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2925" y="49053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38175" y="5010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8" name="Text 26"/>
          <p:cNvSpPr/>
          <p:nvPr/>
        </p:nvSpPr>
        <p:spPr>
          <a:xfrm>
            <a:off x="847725" y="49815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Batch Evaluation: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10 à 1000 parties auto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2925" y="53244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29841" y="54292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25133" y="0"/>
                </a:moveTo>
                <a:cubicBezTo>
                  <a:pt x="15939" y="0"/>
                  <a:pt x="8465" y="7475"/>
                  <a:pt x="8465" y="16669"/>
                </a:cubicBezTo>
                <a:lnTo>
                  <a:pt x="8465" y="116681"/>
                </a:lnTo>
                <a:cubicBezTo>
                  <a:pt x="8465" y="125875"/>
                  <a:pt x="15939" y="133350"/>
                  <a:pt x="25133" y="133350"/>
                </a:cubicBezTo>
                <a:lnTo>
                  <a:pt x="91808" y="133350"/>
                </a:lnTo>
                <a:cubicBezTo>
                  <a:pt x="101002" y="133350"/>
                  <a:pt x="108477" y="125875"/>
                  <a:pt x="108477" y="116681"/>
                </a:cubicBezTo>
                <a:lnTo>
                  <a:pt x="108477" y="91678"/>
                </a:lnTo>
                <a:lnTo>
                  <a:pt x="128818" y="91678"/>
                </a:lnTo>
                <a:lnTo>
                  <a:pt x="120744" y="99752"/>
                </a:lnTo>
                <a:cubicBezTo>
                  <a:pt x="118296" y="102200"/>
                  <a:pt x="118296" y="106159"/>
                  <a:pt x="120744" y="108581"/>
                </a:cubicBezTo>
                <a:cubicBezTo>
                  <a:pt x="123192" y="111003"/>
                  <a:pt x="127151" y="111030"/>
                  <a:pt x="129573" y="108581"/>
                </a:cubicBezTo>
                <a:lnTo>
                  <a:pt x="148326" y="89829"/>
                </a:lnTo>
                <a:cubicBezTo>
                  <a:pt x="150774" y="87381"/>
                  <a:pt x="150774" y="83422"/>
                  <a:pt x="148326" y="81000"/>
                </a:cubicBezTo>
                <a:lnTo>
                  <a:pt x="129573" y="62247"/>
                </a:lnTo>
                <a:cubicBezTo>
                  <a:pt x="127125" y="59799"/>
                  <a:pt x="123166" y="59799"/>
                  <a:pt x="120744" y="62247"/>
                </a:cubicBezTo>
                <a:cubicBezTo>
                  <a:pt x="118322" y="64696"/>
                  <a:pt x="118296" y="68654"/>
                  <a:pt x="120744" y="71077"/>
                </a:cubicBezTo>
                <a:lnTo>
                  <a:pt x="128818" y="79151"/>
                </a:lnTo>
                <a:lnTo>
                  <a:pt x="108477" y="79151"/>
                </a:lnTo>
                <a:lnTo>
                  <a:pt x="108477" y="44381"/>
                </a:lnTo>
                <a:cubicBezTo>
                  <a:pt x="108477" y="39953"/>
                  <a:pt x="106732" y="35708"/>
                  <a:pt x="103607" y="32582"/>
                </a:cubicBezTo>
                <a:lnTo>
                  <a:pt x="75843" y="4870"/>
                </a:lnTo>
                <a:cubicBezTo>
                  <a:pt x="72717" y="1745"/>
                  <a:pt x="68498" y="0"/>
                  <a:pt x="64071" y="0"/>
                </a:cubicBezTo>
                <a:lnTo>
                  <a:pt x="25133" y="0"/>
                </a:lnTo>
                <a:close/>
                <a:moveTo>
                  <a:pt x="93241" y="45839"/>
                </a:moveTo>
                <a:lnTo>
                  <a:pt x="68889" y="45839"/>
                </a:lnTo>
                <a:cubicBezTo>
                  <a:pt x="65425" y="45839"/>
                  <a:pt x="62638" y="43052"/>
                  <a:pt x="62638" y="39588"/>
                </a:cubicBezTo>
                <a:lnTo>
                  <a:pt x="62638" y="15236"/>
                </a:lnTo>
                <a:lnTo>
                  <a:pt x="93241" y="45839"/>
                </a:lnTo>
                <a:close/>
                <a:moveTo>
                  <a:pt x="58471" y="85427"/>
                </a:moveTo>
                <a:cubicBezTo>
                  <a:pt x="58471" y="81963"/>
                  <a:pt x="61258" y="79177"/>
                  <a:pt x="64722" y="79177"/>
                </a:cubicBezTo>
                <a:lnTo>
                  <a:pt x="91808" y="79177"/>
                </a:lnTo>
                <a:lnTo>
                  <a:pt x="91808" y="91678"/>
                </a:lnTo>
                <a:lnTo>
                  <a:pt x="64722" y="91678"/>
                </a:lnTo>
                <a:cubicBezTo>
                  <a:pt x="61258" y="91678"/>
                  <a:pt x="58471" y="88891"/>
                  <a:pt x="58471" y="85427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1" name="Text 29"/>
          <p:cNvSpPr/>
          <p:nvPr/>
        </p:nvSpPr>
        <p:spPr>
          <a:xfrm>
            <a:off x="847725" y="54006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CSV Export: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Résultats pour analyse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6013" y="1071563"/>
            <a:ext cx="5610225" cy="2181225"/>
          </a:xfrm>
          <a:custGeom>
            <a:avLst/>
            <a:gdLst/>
            <a:ahLst/>
            <a:cxnLst/>
            <a:rect l="l" t="t" r="r" b="b"/>
            <a:pathLst>
              <a:path w="5610225" h="21812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2066929"/>
                </a:lnTo>
                <a:cubicBezTo>
                  <a:pt x="5610225" y="2130053"/>
                  <a:pt x="5559053" y="2181225"/>
                  <a:pt x="5495929" y="2181225"/>
                </a:cubicBezTo>
                <a:lnTo>
                  <a:pt x="114296" y="2181225"/>
                </a:lnTo>
                <a:cubicBezTo>
                  <a:pt x="51172" y="2181225"/>
                  <a:pt x="0" y="2130053"/>
                  <a:pt x="0" y="2066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3175" y="1228725"/>
            <a:ext cx="20288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3. Multiplayer GUI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356205" y="1228725"/>
            <a:ext cx="1295400" cy="304800"/>
          </a:xfrm>
          <a:custGeom>
            <a:avLst/>
            <a:gdLst/>
            <a:ahLst/>
            <a:cxnLst/>
            <a:rect l="l" t="t" r="r" b="b"/>
            <a:pathLst>
              <a:path w="1295400" h="304800">
                <a:moveTo>
                  <a:pt x="152400" y="0"/>
                </a:moveTo>
                <a:lnTo>
                  <a:pt x="1143000" y="0"/>
                </a:lnTo>
                <a:cubicBezTo>
                  <a:pt x="1227112" y="0"/>
                  <a:pt x="1295400" y="68288"/>
                  <a:pt x="1295400" y="152400"/>
                </a:cubicBezTo>
                <a:lnTo>
                  <a:pt x="1295400" y="152400"/>
                </a:lnTo>
                <a:cubicBezTo>
                  <a:pt x="1295400" y="236512"/>
                  <a:pt x="1227112" y="304800"/>
                  <a:pt x="11430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10470505" y="1314450"/>
            <a:ext cx="1130808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multiplayer_gui.py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53175" y="160972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Support 3-4 joueurs avec arrangement circulaire et gestion direction.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3175" y="19145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448425" y="2019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8002" y="8360"/>
                </a:moveTo>
                <a:cubicBezTo>
                  <a:pt x="59304" y="12762"/>
                  <a:pt x="56804" y="17424"/>
                  <a:pt x="52402" y="18726"/>
                </a:cubicBezTo>
                <a:cubicBezTo>
                  <a:pt x="31749" y="24873"/>
                  <a:pt x="16695" y="44016"/>
                  <a:pt x="16695" y="66675"/>
                </a:cubicBezTo>
                <a:cubicBezTo>
                  <a:pt x="16695" y="94283"/>
                  <a:pt x="39093" y="116681"/>
                  <a:pt x="66701" y="116681"/>
                </a:cubicBezTo>
                <a:cubicBezTo>
                  <a:pt x="94309" y="116681"/>
                  <a:pt x="116707" y="94283"/>
                  <a:pt x="116707" y="66675"/>
                </a:cubicBezTo>
                <a:cubicBezTo>
                  <a:pt x="116707" y="44042"/>
                  <a:pt x="101653" y="24899"/>
                  <a:pt x="81000" y="18726"/>
                </a:cubicBezTo>
                <a:cubicBezTo>
                  <a:pt x="76598" y="17424"/>
                  <a:pt x="74072" y="12762"/>
                  <a:pt x="75400" y="8360"/>
                </a:cubicBezTo>
                <a:cubicBezTo>
                  <a:pt x="76728" y="3959"/>
                  <a:pt x="81364" y="1432"/>
                  <a:pt x="85766" y="2761"/>
                </a:cubicBezTo>
                <a:cubicBezTo>
                  <a:pt x="113269" y="10965"/>
                  <a:pt x="133350" y="36463"/>
                  <a:pt x="133350" y="66675"/>
                </a:cubicBezTo>
                <a:cubicBezTo>
                  <a:pt x="133350" y="103503"/>
                  <a:pt x="103503" y="133350"/>
                  <a:pt x="66675" y="133350"/>
                </a:cubicBezTo>
                <a:cubicBezTo>
                  <a:pt x="29847" y="133350"/>
                  <a:pt x="0" y="103503"/>
                  <a:pt x="0" y="66675"/>
                </a:cubicBezTo>
                <a:cubicBezTo>
                  <a:pt x="0" y="36463"/>
                  <a:pt x="20081" y="10965"/>
                  <a:pt x="47636" y="2761"/>
                </a:cubicBezTo>
                <a:cubicBezTo>
                  <a:pt x="52038" y="1459"/>
                  <a:pt x="56700" y="3959"/>
                  <a:pt x="58002" y="836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39" name="Text 37"/>
          <p:cNvSpPr/>
          <p:nvPr/>
        </p:nvSpPr>
        <p:spPr>
          <a:xfrm>
            <a:off x="6657975" y="19907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Layout circulaire: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Joueurs positionnés en cercle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3175" y="23336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448425" y="2438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42" y="50006"/>
                </a:moveTo>
                <a:lnTo>
                  <a:pt x="127099" y="50006"/>
                </a:lnTo>
                <a:cubicBezTo>
                  <a:pt x="130563" y="50006"/>
                  <a:pt x="133350" y="47219"/>
                  <a:pt x="133350" y="43755"/>
                </a:cubicBezTo>
                <a:lnTo>
                  <a:pt x="133350" y="6251"/>
                </a:lnTo>
                <a:cubicBezTo>
                  <a:pt x="133350" y="3724"/>
                  <a:pt x="131839" y="1432"/>
                  <a:pt x="129495" y="469"/>
                </a:cubicBezTo>
                <a:cubicBezTo>
                  <a:pt x="127151" y="-495"/>
                  <a:pt x="124469" y="52"/>
                  <a:pt x="122672" y="1823"/>
                </a:cubicBezTo>
                <a:lnTo>
                  <a:pt x="109206" y="15314"/>
                </a:lnTo>
                <a:cubicBezTo>
                  <a:pt x="97668" y="5756"/>
                  <a:pt x="82823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ubicBezTo>
                  <a:pt x="20628" y="35291"/>
                  <a:pt x="41490" y="16669"/>
                  <a:pt x="66675" y="16669"/>
                </a:cubicBezTo>
                <a:cubicBezTo>
                  <a:pt x="78239" y="16669"/>
                  <a:pt x="88865" y="20575"/>
                  <a:pt x="97330" y="27165"/>
                </a:cubicBezTo>
                <a:lnTo>
                  <a:pt x="85167" y="39328"/>
                </a:lnTo>
                <a:cubicBezTo>
                  <a:pt x="83370" y="41125"/>
                  <a:pt x="82849" y="43808"/>
                  <a:pt x="83813" y="46152"/>
                </a:cubicBezTo>
                <a:cubicBezTo>
                  <a:pt x="84776" y="48496"/>
                  <a:pt x="87068" y="50006"/>
                  <a:pt x="89595" y="50006"/>
                </a:cubicBezTo>
                <a:lnTo>
                  <a:pt x="125042" y="50006"/>
                </a:lnTo>
                <a:close/>
                <a:moveTo>
                  <a:pt x="132699" y="76181"/>
                </a:moveTo>
                <a:cubicBezTo>
                  <a:pt x="133350" y="71624"/>
                  <a:pt x="130173" y="67404"/>
                  <a:pt x="125641" y="66753"/>
                </a:cubicBezTo>
                <a:cubicBezTo>
                  <a:pt x="121109" y="66102"/>
                  <a:pt x="116864" y="69279"/>
                  <a:pt x="116212" y="73811"/>
                </a:cubicBezTo>
                <a:cubicBezTo>
                  <a:pt x="112748" y="98033"/>
                  <a:pt x="91886" y="116655"/>
                  <a:pt x="66701" y="116655"/>
                </a:cubicBezTo>
                <a:cubicBezTo>
                  <a:pt x="55137" y="116655"/>
                  <a:pt x="44511" y="112748"/>
                  <a:pt x="36046" y="106159"/>
                </a:cubicBezTo>
                <a:lnTo>
                  <a:pt x="48183" y="94022"/>
                </a:lnTo>
                <a:cubicBezTo>
                  <a:pt x="49980" y="92225"/>
                  <a:pt x="50501" y="89542"/>
                  <a:pt x="49537" y="87198"/>
                </a:cubicBezTo>
                <a:cubicBezTo>
                  <a:pt x="48574" y="84854"/>
                  <a:pt x="46282" y="83344"/>
                  <a:pt x="43755" y="83344"/>
                </a:cubicBezTo>
                <a:lnTo>
                  <a:pt x="6251" y="83344"/>
                </a:lnTo>
                <a:cubicBezTo>
                  <a:pt x="2787" y="83344"/>
                  <a:pt x="0" y="86131"/>
                  <a:pt x="0" y="89595"/>
                </a:cubicBezTo>
                <a:lnTo>
                  <a:pt x="0" y="127099"/>
                </a:lnTo>
                <a:cubicBezTo>
                  <a:pt x="0" y="129626"/>
                  <a:pt x="1511" y="131918"/>
                  <a:pt x="3855" y="132881"/>
                </a:cubicBezTo>
                <a:cubicBezTo>
                  <a:pt x="6199" y="133845"/>
                  <a:pt x="8881" y="133298"/>
                  <a:pt x="10678" y="131527"/>
                </a:cubicBezTo>
                <a:lnTo>
                  <a:pt x="24170" y="118036"/>
                </a:lnTo>
                <a:cubicBezTo>
                  <a:pt x="35682" y="127594"/>
                  <a:pt x="50527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42" name="Text 40"/>
          <p:cNvSpPr/>
          <p:nvPr/>
        </p:nvSpPr>
        <p:spPr>
          <a:xfrm>
            <a:off x="6657975" y="24098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Turn Direction: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Visualisation CW/CCW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3175" y="27527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440091" y="28575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6669" y="33337"/>
                </a:moveTo>
                <a:cubicBezTo>
                  <a:pt x="16669" y="17238"/>
                  <a:pt x="29740" y="4167"/>
                  <a:pt x="45839" y="4167"/>
                </a:cubicBezTo>
                <a:cubicBezTo>
                  <a:pt x="61939" y="4167"/>
                  <a:pt x="75009" y="17238"/>
                  <a:pt x="75009" y="33337"/>
                </a:cubicBezTo>
                <a:cubicBezTo>
                  <a:pt x="75009" y="49437"/>
                  <a:pt x="61939" y="62508"/>
                  <a:pt x="45839" y="62508"/>
                </a:cubicBezTo>
                <a:cubicBezTo>
                  <a:pt x="29740" y="62508"/>
                  <a:pt x="16669" y="49437"/>
                  <a:pt x="16669" y="33337"/>
                </a:cubicBezTo>
                <a:close/>
                <a:moveTo>
                  <a:pt x="0" y="120848"/>
                </a:moveTo>
                <a:cubicBezTo>
                  <a:pt x="0" y="95533"/>
                  <a:pt x="20523" y="75009"/>
                  <a:pt x="45839" y="75009"/>
                </a:cubicBezTo>
                <a:cubicBezTo>
                  <a:pt x="71155" y="75009"/>
                  <a:pt x="91678" y="95533"/>
                  <a:pt x="91678" y="120848"/>
                </a:cubicBezTo>
                <a:lnTo>
                  <a:pt x="91678" y="122411"/>
                </a:lnTo>
                <a:cubicBezTo>
                  <a:pt x="91678" y="128454"/>
                  <a:pt x="86782" y="133350"/>
                  <a:pt x="80739" y="133350"/>
                </a:cubicBezTo>
                <a:lnTo>
                  <a:pt x="10939" y="133350"/>
                </a:lnTo>
                <a:cubicBezTo>
                  <a:pt x="4896" y="133350"/>
                  <a:pt x="0" y="128454"/>
                  <a:pt x="0" y="122411"/>
                </a:cubicBezTo>
                <a:lnTo>
                  <a:pt x="0" y="120848"/>
                </a:lnTo>
                <a:close/>
                <a:moveTo>
                  <a:pt x="112514" y="16669"/>
                </a:moveTo>
                <a:cubicBezTo>
                  <a:pt x="126314" y="16669"/>
                  <a:pt x="137517" y="27872"/>
                  <a:pt x="137517" y="41672"/>
                </a:cubicBezTo>
                <a:cubicBezTo>
                  <a:pt x="137517" y="55471"/>
                  <a:pt x="126314" y="66675"/>
                  <a:pt x="112514" y="66675"/>
                </a:cubicBezTo>
                <a:cubicBezTo>
                  <a:pt x="98714" y="66675"/>
                  <a:pt x="87511" y="55471"/>
                  <a:pt x="87511" y="41672"/>
                </a:cubicBezTo>
                <a:cubicBezTo>
                  <a:pt x="87511" y="27872"/>
                  <a:pt x="98714" y="16669"/>
                  <a:pt x="112514" y="16669"/>
                </a:cubicBezTo>
                <a:close/>
                <a:moveTo>
                  <a:pt x="112514" y="79177"/>
                </a:moveTo>
                <a:cubicBezTo>
                  <a:pt x="133220" y="79177"/>
                  <a:pt x="150019" y="95976"/>
                  <a:pt x="150019" y="116681"/>
                </a:cubicBezTo>
                <a:lnTo>
                  <a:pt x="150019" y="122515"/>
                </a:lnTo>
                <a:cubicBezTo>
                  <a:pt x="150019" y="128506"/>
                  <a:pt x="145174" y="133350"/>
                  <a:pt x="139184" y="133350"/>
                </a:cubicBezTo>
                <a:lnTo>
                  <a:pt x="101471" y="133350"/>
                </a:lnTo>
                <a:cubicBezTo>
                  <a:pt x="103190" y="130094"/>
                  <a:pt x="104180" y="126370"/>
                  <a:pt x="104180" y="122411"/>
                </a:cubicBezTo>
                <a:lnTo>
                  <a:pt x="104180" y="120848"/>
                </a:lnTo>
                <a:cubicBezTo>
                  <a:pt x="104180" y="107435"/>
                  <a:pt x="99648" y="95090"/>
                  <a:pt x="92069" y="85245"/>
                </a:cubicBezTo>
                <a:cubicBezTo>
                  <a:pt x="97955" y="81416"/>
                  <a:pt x="104987" y="79177"/>
                  <a:pt x="112514" y="79177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45" name="Text 43"/>
          <p:cNvSpPr/>
          <p:nvPr/>
        </p:nvSpPr>
        <p:spPr>
          <a:xfrm>
            <a:off x="6657975" y="28289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Hand sizes: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Comptage cartes adverses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6013" y="3414713"/>
            <a:ext cx="5610225" cy="2257425"/>
          </a:xfrm>
          <a:custGeom>
            <a:avLst/>
            <a:gdLst/>
            <a:ahLst/>
            <a:cxnLst/>
            <a:rect l="l" t="t" r="r" b="b"/>
            <a:pathLst>
              <a:path w="5610225" h="22574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143132"/>
                </a:lnTo>
                <a:cubicBezTo>
                  <a:pt x="5610225" y="2206212"/>
                  <a:pt x="5559012" y="2257425"/>
                  <a:pt x="549593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3175" y="3571875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Design Glassmorphism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53175" y="399097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Effet de verre dépoli avec transparence et flou :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3175" y="43338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456759" y="4438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lnTo>
                  <a:pt x="100013" y="8334"/>
                </a:lnTo>
                <a:cubicBezTo>
                  <a:pt x="109206" y="8334"/>
                  <a:pt x="116681" y="15809"/>
                  <a:pt x="116681" y="25003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51" name="Text 49"/>
          <p:cNvSpPr/>
          <p:nvPr/>
        </p:nvSpPr>
        <p:spPr>
          <a:xfrm>
            <a:off x="6657975" y="44100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Backgrounds semi-transparents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avec effet flou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3175" y="47529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6456759" y="48577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116681"/>
                </a:moveTo>
                <a:cubicBezTo>
                  <a:pt x="0" y="121291"/>
                  <a:pt x="3724" y="125016"/>
                  <a:pt x="8334" y="125016"/>
                </a:cubicBezTo>
                <a:cubicBezTo>
                  <a:pt x="12944" y="125016"/>
                  <a:pt x="16669" y="121291"/>
                  <a:pt x="16669" y="116681"/>
                </a:cubicBezTo>
                <a:lnTo>
                  <a:pt x="16669" y="25003"/>
                </a:lnTo>
                <a:lnTo>
                  <a:pt x="108347" y="25003"/>
                </a:lnTo>
                <a:cubicBezTo>
                  <a:pt x="112957" y="25003"/>
                  <a:pt x="116681" y="21279"/>
                  <a:pt x="116681" y="16669"/>
                </a:cubicBezTo>
                <a:cubicBezTo>
                  <a:pt x="116681" y="12059"/>
                  <a:pt x="112957" y="8334"/>
                  <a:pt x="108347" y="8334"/>
                </a:cubicBezTo>
                <a:lnTo>
                  <a:pt x="16669" y="8334"/>
                </a:lnTo>
                <a:cubicBezTo>
                  <a:pt x="7475" y="8334"/>
                  <a:pt x="0" y="15809"/>
                  <a:pt x="0" y="25003"/>
                </a:cubicBezTo>
                <a:lnTo>
                  <a:pt x="0" y="116681"/>
                </a:lnTo>
                <a:close/>
                <a:moveTo>
                  <a:pt x="33337" y="116681"/>
                </a:moveTo>
                <a:cubicBezTo>
                  <a:pt x="33337" y="121291"/>
                  <a:pt x="37062" y="125016"/>
                  <a:pt x="41672" y="125016"/>
                </a:cubicBezTo>
                <a:cubicBezTo>
                  <a:pt x="46282" y="125016"/>
                  <a:pt x="50006" y="121291"/>
                  <a:pt x="50006" y="116681"/>
                </a:cubicBezTo>
                <a:cubicBezTo>
                  <a:pt x="50006" y="112071"/>
                  <a:pt x="46282" y="108347"/>
                  <a:pt x="41672" y="108347"/>
                </a:cubicBezTo>
                <a:cubicBezTo>
                  <a:pt x="37062" y="108347"/>
                  <a:pt x="33337" y="112071"/>
                  <a:pt x="33337" y="116681"/>
                </a:cubicBezTo>
                <a:close/>
                <a:moveTo>
                  <a:pt x="66675" y="116681"/>
                </a:moveTo>
                <a:cubicBezTo>
                  <a:pt x="66675" y="121291"/>
                  <a:pt x="70399" y="125016"/>
                  <a:pt x="75009" y="125016"/>
                </a:cubicBezTo>
                <a:cubicBezTo>
                  <a:pt x="79619" y="125016"/>
                  <a:pt x="83344" y="121291"/>
                  <a:pt x="83344" y="116681"/>
                </a:cubicBezTo>
                <a:cubicBezTo>
                  <a:pt x="83344" y="112071"/>
                  <a:pt x="79619" y="108347"/>
                  <a:pt x="75009" y="108347"/>
                </a:cubicBezTo>
                <a:cubicBezTo>
                  <a:pt x="70399" y="108347"/>
                  <a:pt x="66675" y="112071"/>
                  <a:pt x="66675" y="116681"/>
                </a:cubicBezTo>
                <a:close/>
                <a:moveTo>
                  <a:pt x="108347" y="125016"/>
                </a:moveTo>
                <a:cubicBezTo>
                  <a:pt x="112957" y="125016"/>
                  <a:pt x="116681" y="121291"/>
                  <a:pt x="116681" y="116681"/>
                </a:cubicBezTo>
                <a:cubicBezTo>
                  <a:pt x="116681" y="112071"/>
                  <a:pt x="112957" y="108347"/>
                  <a:pt x="108347" y="108347"/>
                </a:cubicBezTo>
                <a:cubicBezTo>
                  <a:pt x="103737" y="108347"/>
                  <a:pt x="100013" y="112071"/>
                  <a:pt x="100013" y="116681"/>
                </a:cubicBezTo>
                <a:cubicBezTo>
                  <a:pt x="100013" y="121291"/>
                  <a:pt x="103737" y="125016"/>
                  <a:pt x="108347" y="125016"/>
                </a:cubicBezTo>
                <a:close/>
                <a:moveTo>
                  <a:pt x="100013" y="50006"/>
                </a:moveTo>
                <a:cubicBezTo>
                  <a:pt x="100013" y="54606"/>
                  <a:pt x="103747" y="58341"/>
                  <a:pt x="108347" y="58341"/>
                </a:cubicBezTo>
                <a:cubicBezTo>
                  <a:pt x="112947" y="58341"/>
                  <a:pt x="116681" y="54606"/>
                  <a:pt x="116681" y="50006"/>
                </a:cubicBezTo>
                <a:cubicBezTo>
                  <a:pt x="116681" y="45406"/>
                  <a:pt x="112947" y="41672"/>
                  <a:pt x="108347" y="41672"/>
                </a:cubicBezTo>
                <a:cubicBezTo>
                  <a:pt x="103747" y="41672"/>
                  <a:pt x="100013" y="45406"/>
                  <a:pt x="100013" y="50006"/>
                </a:cubicBezTo>
                <a:close/>
                <a:moveTo>
                  <a:pt x="108347" y="91678"/>
                </a:moveTo>
                <a:cubicBezTo>
                  <a:pt x="112947" y="91678"/>
                  <a:pt x="116681" y="87944"/>
                  <a:pt x="116681" y="83344"/>
                </a:cubicBezTo>
                <a:cubicBezTo>
                  <a:pt x="116681" y="78744"/>
                  <a:pt x="112947" y="75009"/>
                  <a:pt x="108347" y="75009"/>
                </a:cubicBezTo>
                <a:cubicBezTo>
                  <a:pt x="103747" y="75009"/>
                  <a:pt x="100013" y="78744"/>
                  <a:pt x="100013" y="83344"/>
                </a:cubicBezTo>
                <a:cubicBezTo>
                  <a:pt x="100013" y="87944"/>
                  <a:pt x="103747" y="91678"/>
                  <a:pt x="108347" y="91678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54" name="Text 52"/>
          <p:cNvSpPr/>
          <p:nvPr/>
        </p:nvSpPr>
        <p:spPr>
          <a:xfrm>
            <a:off x="6657975" y="48291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Borders blancs transparents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et coins arrondis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3175" y="51720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6448425" y="5276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3789" y="3177"/>
                </a:moveTo>
                <a:lnTo>
                  <a:pt x="80817" y="26149"/>
                </a:lnTo>
                <a:lnTo>
                  <a:pt x="107201" y="52533"/>
                </a:lnTo>
                <a:lnTo>
                  <a:pt x="130173" y="29561"/>
                </a:lnTo>
                <a:cubicBezTo>
                  <a:pt x="132204" y="27503"/>
                  <a:pt x="133350" y="24743"/>
                  <a:pt x="133350" y="21878"/>
                </a:cubicBezTo>
                <a:cubicBezTo>
                  <a:pt x="133350" y="19013"/>
                  <a:pt x="132204" y="16252"/>
                  <a:pt x="130173" y="14194"/>
                </a:cubicBezTo>
                <a:lnTo>
                  <a:pt x="119156" y="3177"/>
                </a:lnTo>
                <a:cubicBezTo>
                  <a:pt x="117098" y="1146"/>
                  <a:pt x="114337" y="0"/>
                  <a:pt x="111472" y="0"/>
                </a:cubicBezTo>
                <a:cubicBezTo>
                  <a:pt x="108607" y="0"/>
                  <a:pt x="105847" y="1146"/>
                  <a:pt x="103789" y="3177"/>
                </a:cubicBezTo>
                <a:close/>
                <a:moveTo>
                  <a:pt x="71988" y="34978"/>
                </a:moveTo>
                <a:lnTo>
                  <a:pt x="3177" y="103789"/>
                </a:lnTo>
                <a:cubicBezTo>
                  <a:pt x="1146" y="105847"/>
                  <a:pt x="0" y="108607"/>
                  <a:pt x="0" y="111472"/>
                </a:cubicBezTo>
                <a:cubicBezTo>
                  <a:pt x="0" y="114337"/>
                  <a:pt x="1146" y="117098"/>
                  <a:pt x="3177" y="119156"/>
                </a:cubicBezTo>
                <a:lnTo>
                  <a:pt x="14194" y="130173"/>
                </a:lnTo>
                <a:cubicBezTo>
                  <a:pt x="16252" y="132204"/>
                  <a:pt x="19013" y="133350"/>
                  <a:pt x="21878" y="133350"/>
                </a:cubicBezTo>
                <a:cubicBezTo>
                  <a:pt x="24743" y="133350"/>
                  <a:pt x="27503" y="132204"/>
                  <a:pt x="29561" y="130173"/>
                </a:cubicBezTo>
                <a:lnTo>
                  <a:pt x="98372" y="61362"/>
                </a:lnTo>
                <a:lnTo>
                  <a:pt x="71988" y="34978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57" name="Text 55"/>
          <p:cNvSpPr/>
          <p:nvPr/>
        </p:nvSpPr>
        <p:spPr>
          <a:xfrm>
            <a:off x="6672263" y="5267325"/>
            <a:ext cx="1229087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et 60 FPS rendering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Système de Rendu et Expérience Utilisateur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2676525"/>
          </a:xfrm>
          <a:custGeom>
            <a:avLst/>
            <a:gdLst/>
            <a:ahLst/>
            <a:cxnLst/>
            <a:rect l="l" t="t" r="r" b="b"/>
            <a:pathLst>
              <a:path w="5610225" h="2676525">
                <a:moveTo>
                  <a:pt x="114288" y="0"/>
                </a:moveTo>
                <a:lnTo>
                  <a:pt x="5495937" y="0"/>
                </a:lnTo>
                <a:cubicBezTo>
                  <a:pt x="5559057" y="0"/>
                  <a:pt x="5610225" y="51168"/>
                  <a:pt x="5610225" y="114288"/>
                </a:cubicBezTo>
                <a:lnTo>
                  <a:pt x="5610225" y="2562237"/>
                </a:lnTo>
                <a:cubicBezTo>
                  <a:pt x="5610225" y="2625357"/>
                  <a:pt x="5559057" y="2676525"/>
                  <a:pt x="5495937" y="2676525"/>
                </a:cubicBezTo>
                <a:lnTo>
                  <a:pt x="114288" y="2676525"/>
                </a:lnTo>
                <a:cubicBezTo>
                  <a:pt x="51168" y="2676525"/>
                  <a:pt x="0" y="2625357"/>
                  <a:pt x="0" y="2562237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788" y="12668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6" name="Text 4"/>
          <p:cNvSpPr/>
          <p:nvPr/>
        </p:nvSpPr>
        <p:spPr>
          <a:xfrm>
            <a:off x="82867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Système de Rendu des Cartes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2925" y="164782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CardRenderer avec dimensions précises et couleurs UNO 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925" y="19907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619125" y="20669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Dimensions: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80×120 pixels, coins arrondis (border_radius=10)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409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19125" y="24860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Couleurs RGB: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Red(239,68,68), Green(16,185,129), Blue(59,130,246), Yellow(250,204,21)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828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19125" y="29051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Effet de surbrillance: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Glow pour cartes jouables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925" y="32480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19125" y="33242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Symboles: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Unicode pour Skip(⦸), Reverse(⟲), +2, +4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910013"/>
            <a:ext cx="5610225" cy="1647825"/>
          </a:xfrm>
          <a:custGeom>
            <a:avLst/>
            <a:gdLst/>
            <a:ahLst/>
            <a:cxnLst/>
            <a:rect l="l" t="t" r="r" b="b"/>
            <a:pathLst>
              <a:path w="5610225" h="16478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1533532"/>
                </a:lnTo>
                <a:cubicBezTo>
                  <a:pt x="5610225" y="1596612"/>
                  <a:pt x="5559012" y="1647825"/>
                  <a:pt x="54959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925" y="40671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Système de Découverte de Modèles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925" y="444817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Scan automatique des fichiers .zip dans /models 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1975" y="4781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0" name="Text 18"/>
          <p:cNvSpPr/>
          <p:nvPr/>
        </p:nvSpPr>
        <p:spPr>
          <a:xfrm>
            <a:off x="771525" y="47529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Mapping nom→description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1975" y="5010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2" name="Text 20"/>
          <p:cNvSpPr/>
          <p:nvPr/>
        </p:nvSpPr>
        <p:spPr>
          <a:xfrm>
            <a:off x="771525" y="49815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Détection d'algorithme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1975" y="5238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418" y="12502"/>
                </a:moveTo>
                <a:cubicBezTo>
                  <a:pt x="6954" y="12502"/>
                  <a:pt x="4167" y="15288"/>
                  <a:pt x="4167" y="18752"/>
                </a:cubicBezTo>
                <a:lnTo>
                  <a:pt x="4167" y="31254"/>
                </a:lnTo>
                <a:cubicBezTo>
                  <a:pt x="4167" y="34718"/>
                  <a:pt x="6954" y="37505"/>
                  <a:pt x="10418" y="37505"/>
                </a:cubicBezTo>
                <a:lnTo>
                  <a:pt x="22920" y="37505"/>
                </a:lnTo>
                <a:cubicBezTo>
                  <a:pt x="26384" y="37505"/>
                  <a:pt x="29170" y="34718"/>
                  <a:pt x="29170" y="31254"/>
                </a:cubicBezTo>
                <a:lnTo>
                  <a:pt x="29170" y="18752"/>
                </a:lnTo>
                <a:cubicBezTo>
                  <a:pt x="29170" y="15288"/>
                  <a:pt x="26384" y="12502"/>
                  <a:pt x="22920" y="12502"/>
                </a:cubicBezTo>
                <a:lnTo>
                  <a:pt x="10418" y="12502"/>
                </a:lnTo>
                <a:close/>
                <a:moveTo>
                  <a:pt x="50006" y="16669"/>
                </a:moveTo>
                <a:cubicBezTo>
                  <a:pt x="45396" y="16669"/>
                  <a:pt x="41672" y="20393"/>
                  <a:pt x="41672" y="25003"/>
                </a:cubicBezTo>
                <a:cubicBezTo>
                  <a:pt x="41672" y="29613"/>
                  <a:pt x="45396" y="33337"/>
                  <a:pt x="50006" y="33337"/>
                </a:cubicBezTo>
                <a:lnTo>
                  <a:pt x="125016" y="33337"/>
                </a:lnTo>
                <a:cubicBezTo>
                  <a:pt x="129626" y="33337"/>
                  <a:pt x="133350" y="29613"/>
                  <a:pt x="133350" y="25003"/>
                </a:cubicBezTo>
                <a:cubicBezTo>
                  <a:pt x="133350" y="20393"/>
                  <a:pt x="129626" y="16669"/>
                  <a:pt x="125016" y="16669"/>
                </a:cubicBezTo>
                <a:lnTo>
                  <a:pt x="50006" y="16669"/>
                </a:lnTo>
                <a:close/>
                <a:moveTo>
                  <a:pt x="50006" y="58341"/>
                </a:moveTo>
                <a:cubicBezTo>
                  <a:pt x="45396" y="58341"/>
                  <a:pt x="41672" y="62065"/>
                  <a:pt x="41672" y="66675"/>
                </a:cubicBezTo>
                <a:cubicBezTo>
                  <a:pt x="41672" y="71285"/>
                  <a:pt x="45396" y="75009"/>
                  <a:pt x="50006" y="75009"/>
                </a:cubicBez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50006" y="58341"/>
                </a:lnTo>
                <a:close/>
                <a:moveTo>
                  <a:pt x="50006" y="100013"/>
                </a:moveTo>
                <a:cubicBezTo>
                  <a:pt x="45396" y="100013"/>
                  <a:pt x="41672" y="103737"/>
                  <a:pt x="41672" y="108347"/>
                </a:cubicBezTo>
                <a:cubicBezTo>
                  <a:pt x="41672" y="112957"/>
                  <a:pt x="45396" y="116681"/>
                  <a:pt x="50006" y="116681"/>
                </a:cubicBez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ubicBezTo>
                  <a:pt x="133350" y="103737"/>
                  <a:pt x="129626" y="100013"/>
                  <a:pt x="125016" y="100013"/>
                </a:cubicBezTo>
                <a:lnTo>
                  <a:pt x="50006" y="100013"/>
                </a:lnTo>
                <a:close/>
                <a:moveTo>
                  <a:pt x="4167" y="60424"/>
                </a:moveTo>
                <a:lnTo>
                  <a:pt x="4167" y="72926"/>
                </a:lnTo>
                <a:cubicBezTo>
                  <a:pt x="4167" y="76390"/>
                  <a:pt x="6954" y="79177"/>
                  <a:pt x="10418" y="79177"/>
                </a:cubicBezTo>
                <a:lnTo>
                  <a:pt x="22920" y="79177"/>
                </a:lnTo>
                <a:cubicBezTo>
                  <a:pt x="26384" y="79177"/>
                  <a:pt x="29170" y="76390"/>
                  <a:pt x="29170" y="72926"/>
                </a:cubicBezTo>
                <a:lnTo>
                  <a:pt x="29170" y="60424"/>
                </a:lnTo>
                <a:cubicBezTo>
                  <a:pt x="29170" y="56960"/>
                  <a:pt x="26384" y="54173"/>
                  <a:pt x="22920" y="54173"/>
                </a:cubicBezTo>
                <a:lnTo>
                  <a:pt x="10418" y="54173"/>
                </a:lnTo>
                <a:cubicBezTo>
                  <a:pt x="6954" y="54173"/>
                  <a:pt x="4167" y="56960"/>
                  <a:pt x="4167" y="60424"/>
                </a:cubicBezTo>
                <a:close/>
                <a:moveTo>
                  <a:pt x="10418" y="95845"/>
                </a:moveTo>
                <a:cubicBezTo>
                  <a:pt x="6954" y="95845"/>
                  <a:pt x="4167" y="98632"/>
                  <a:pt x="4167" y="102096"/>
                </a:cubicBezTo>
                <a:lnTo>
                  <a:pt x="4167" y="114598"/>
                </a:lnTo>
                <a:cubicBezTo>
                  <a:pt x="4167" y="118062"/>
                  <a:pt x="6954" y="120848"/>
                  <a:pt x="10418" y="120848"/>
                </a:cubicBezTo>
                <a:lnTo>
                  <a:pt x="22920" y="120848"/>
                </a:lnTo>
                <a:cubicBezTo>
                  <a:pt x="26384" y="120848"/>
                  <a:pt x="29170" y="118062"/>
                  <a:pt x="29170" y="114598"/>
                </a:cubicBezTo>
                <a:lnTo>
                  <a:pt x="29170" y="102096"/>
                </a:lnTo>
                <a:cubicBezTo>
                  <a:pt x="29170" y="98632"/>
                  <a:pt x="26384" y="95845"/>
                  <a:pt x="22920" y="95845"/>
                </a:cubicBezTo>
                <a:lnTo>
                  <a:pt x="10418" y="95845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24" name="Text 22"/>
          <p:cNvSpPr/>
          <p:nvPr/>
        </p:nvSpPr>
        <p:spPr>
          <a:xfrm>
            <a:off x="771525" y="52101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Liste dynamique selon disponibilité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6013" y="1071563"/>
            <a:ext cx="5610225" cy="2943225"/>
          </a:xfrm>
          <a:custGeom>
            <a:avLst/>
            <a:gdLst/>
            <a:ahLst/>
            <a:cxnLst/>
            <a:rect l="l" t="t" r="r" b="b"/>
            <a:pathLst>
              <a:path w="5610225" h="2943225">
                <a:moveTo>
                  <a:pt x="114285" y="0"/>
                </a:moveTo>
                <a:lnTo>
                  <a:pt x="5495940" y="0"/>
                </a:lnTo>
                <a:cubicBezTo>
                  <a:pt x="5559058" y="0"/>
                  <a:pt x="5610225" y="51167"/>
                  <a:pt x="5610225" y="114285"/>
                </a:cubicBezTo>
                <a:lnTo>
                  <a:pt x="5610225" y="2828940"/>
                </a:lnTo>
                <a:cubicBezTo>
                  <a:pt x="5610225" y="2892058"/>
                  <a:pt x="5559058" y="2943225"/>
                  <a:pt x="5495940" y="2943225"/>
                </a:cubicBezTo>
                <a:lnTo>
                  <a:pt x="114285" y="2943225"/>
                </a:lnTo>
                <a:cubicBezTo>
                  <a:pt x="51167" y="2943225"/>
                  <a:pt x="0" y="2892058"/>
                  <a:pt x="0" y="28289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1750" y="1266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7" name="Text 25"/>
          <p:cNvSpPr/>
          <p:nvPr/>
        </p:nvSpPr>
        <p:spPr>
          <a:xfrm>
            <a:off x="663892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Layout Game Screen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3175" y="1647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456759" y="1752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30" name="Text 28"/>
          <p:cNvSpPr/>
          <p:nvPr/>
        </p:nvSpPr>
        <p:spPr>
          <a:xfrm>
            <a:off x="6657975" y="17240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Opponent Cards: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Face down, compteur visible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3175" y="2066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448425" y="2171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3" name="Text 31"/>
          <p:cNvSpPr/>
          <p:nvPr/>
        </p:nvSpPr>
        <p:spPr>
          <a:xfrm>
            <a:off x="6657975" y="21431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Turn Indicator: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Montre joueur actuel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3175" y="2581275"/>
            <a:ext cx="2571750" cy="342900"/>
          </a:xfrm>
          <a:custGeom>
            <a:avLst/>
            <a:gdLst/>
            <a:ahLst/>
            <a:cxnLst/>
            <a:rect l="l" t="t" r="r" b="b"/>
            <a:pathLst>
              <a:path w="2571750" h="342900">
                <a:moveTo>
                  <a:pt x="38100" y="0"/>
                </a:moveTo>
                <a:lnTo>
                  <a:pt x="2533650" y="0"/>
                </a:lnTo>
                <a:cubicBezTo>
                  <a:pt x="2554692" y="0"/>
                  <a:pt x="2571750" y="17058"/>
                  <a:pt x="2571750" y="38100"/>
                </a:cubicBezTo>
                <a:lnTo>
                  <a:pt x="2571750" y="304800"/>
                </a:lnTo>
                <a:cubicBezTo>
                  <a:pt x="2571750" y="325842"/>
                  <a:pt x="2554692" y="342900"/>
                  <a:pt x="25336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448425" y="2686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6" name="Text 34"/>
          <p:cNvSpPr/>
          <p:nvPr/>
        </p:nvSpPr>
        <p:spPr>
          <a:xfrm>
            <a:off x="6657975" y="2657475"/>
            <a:ext cx="2257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Deck: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Pioche avec retourne-carte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77325" y="2486025"/>
            <a:ext cx="2571750" cy="533400"/>
          </a:xfrm>
          <a:custGeom>
            <a:avLst/>
            <a:gdLst/>
            <a:ahLst/>
            <a:cxnLst/>
            <a:rect l="l" t="t" r="r" b="b"/>
            <a:pathLst>
              <a:path w="2571750" h="533400">
                <a:moveTo>
                  <a:pt x="38101" y="0"/>
                </a:moveTo>
                <a:lnTo>
                  <a:pt x="2533649" y="0"/>
                </a:lnTo>
                <a:cubicBezTo>
                  <a:pt x="2554692" y="0"/>
                  <a:pt x="2571750" y="17058"/>
                  <a:pt x="2571750" y="38101"/>
                </a:cubicBezTo>
                <a:lnTo>
                  <a:pt x="2571750" y="495299"/>
                </a:lnTo>
                <a:cubicBezTo>
                  <a:pt x="2571750" y="516342"/>
                  <a:pt x="2554692" y="533400"/>
                  <a:pt x="25336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9180909" y="2590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5603" y="1537"/>
                </a:moveTo>
                <a:lnTo>
                  <a:pt x="33337" y="8334"/>
                </a:lnTo>
                <a:lnTo>
                  <a:pt x="8334" y="8334"/>
                </a:lnTo>
                <a:cubicBezTo>
                  <a:pt x="3724" y="8334"/>
                  <a:pt x="0" y="12059"/>
                  <a:pt x="0" y="16669"/>
                </a:cubicBezTo>
                <a:cubicBezTo>
                  <a:pt x="0" y="21279"/>
                  <a:pt x="3724" y="25003"/>
                  <a:pt x="8334" y="25003"/>
                </a:cubicBezTo>
                <a:lnTo>
                  <a:pt x="108347" y="25003"/>
                </a:lnTo>
                <a:cubicBezTo>
                  <a:pt x="112957" y="25003"/>
                  <a:pt x="116681" y="21279"/>
                  <a:pt x="116681" y="16669"/>
                </a:cubicBezTo>
                <a:cubicBezTo>
                  <a:pt x="116681" y="12059"/>
                  <a:pt x="112957" y="8334"/>
                  <a:pt x="108347" y="8334"/>
                </a:cubicBezTo>
                <a:lnTo>
                  <a:pt x="83344" y="8334"/>
                </a:lnTo>
                <a:lnTo>
                  <a:pt x="81078" y="1537"/>
                </a:lnTo>
                <a:cubicBezTo>
                  <a:pt x="79932" y="-1875"/>
                  <a:pt x="76754" y="-4167"/>
                  <a:pt x="73160" y="-4167"/>
                </a:cubicBezTo>
                <a:lnTo>
                  <a:pt x="43521" y="-4167"/>
                </a:lnTo>
                <a:cubicBezTo>
                  <a:pt x="39927" y="-4167"/>
                  <a:pt x="36749" y="-1875"/>
                  <a:pt x="35603" y="1537"/>
                </a:cubicBezTo>
                <a:close/>
                <a:moveTo>
                  <a:pt x="108347" y="37505"/>
                </a:moveTo>
                <a:lnTo>
                  <a:pt x="8334" y="37505"/>
                </a:lnTo>
                <a:lnTo>
                  <a:pt x="13830" y="121656"/>
                </a:lnTo>
                <a:cubicBezTo>
                  <a:pt x="14247" y="128245"/>
                  <a:pt x="19716" y="133350"/>
                  <a:pt x="26305" y="133350"/>
                </a:cubicBezTo>
                <a:lnTo>
                  <a:pt x="90376" y="133350"/>
                </a:lnTo>
                <a:cubicBezTo>
                  <a:pt x="96965" y="133350"/>
                  <a:pt x="102435" y="128245"/>
                  <a:pt x="102851" y="121656"/>
                </a:cubicBezTo>
                <a:lnTo>
                  <a:pt x="108347" y="37505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39" name="Text 37"/>
          <p:cNvSpPr/>
          <p:nvPr/>
        </p:nvSpPr>
        <p:spPr>
          <a:xfrm>
            <a:off x="9382125" y="2562225"/>
            <a:ext cx="22574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Discard: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Pile défausse avec carte visible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3175" y="30956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456759" y="3200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10418"/>
                </a:moveTo>
                <a:cubicBezTo>
                  <a:pt x="33337" y="4662"/>
                  <a:pt x="38000" y="0"/>
                  <a:pt x="43755" y="0"/>
                </a:cubicBezTo>
                <a:cubicBezTo>
                  <a:pt x="49511" y="0"/>
                  <a:pt x="54173" y="4662"/>
                  <a:pt x="54173" y="10418"/>
                </a:cubicBezTo>
                <a:lnTo>
                  <a:pt x="54173" y="49017"/>
                </a:lnTo>
                <a:cubicBezTo>
                  <a:pt x="56387" y="47037"/>
                  <a:pt x="59304" y="45839"/>
                  <a:pt x="62508" y="45839"/>
                </a:cubicBezTo>
                <a:cubicBezTo>
                  <a:pt x="67873" y="45839"/>
                  <a:pt x="72457" y="49225"/>
                  <a:pt x="74228" y="53965"/>
                </a:cubicBezTo>
                <a:cubicBezTo>
                  <a:pt x="76520" y="51543"/>
                  <a:pt x="79750" y="50006"/>
                  <a:pt x="83344" y="50006"/>
                </a:cubicBezTo>
                <a:cubicBezTo>
                  <a:pt x="89933" y="50006"/>
                  <a:pt x="95324" y="55085"/>
                  <a:pt x="95819" y="61544"/>
                </a:cubicBezTo>
                <a:cubicBezTo>
                  <a:pt x="98033" y="59539"/>
                  <a:pt x="100976" y="58341"/>
                  <a:pt x="104180" y="58341"/>
                </a:cubicBezTo>
                <a:cubicBezTo>
                  <a:pt x="111082" y="58341"/>
                  <a:pt x="116681" y="63940"/>
                  <a:pt x="116681" y="70842"/>
                </a:cubicBezTo>
                <a:lnTo>
                  <a:pt x="116681" y="100013"/>
                </a:lnTo>
                <a:cubicBezTo>
                  <a:pt x="116681" y="118426"/>
                  <a:pt x="101758" y="133350"/>
                  <a:pt x="83344" y="133350"/>
                </a:cubicBezTo>
                <a:lnTo>
                  <a:pt x="61127" y="133350"/>
                </a:lnTo>
                <a:cubicBezTo>
                  <a:pt x="59825" y="133350"/>
                  <a:pt x="58549" y="133272"/>
                  <a:pt x="57299" y="133090"/>
                </a:cubicBezTo>
                <a:cubicBezTo>
                  <a:pt x="42896" y="131631"/>
                  <a:pt x="29639" y="124234"/>
                  <a:pt x="20836" y="112514"/>
                </a:cubicBezTo>
                <a:lnTo>
                  <a:pt x="2084" y="87511"/>
                </a:lnTo>
                <a:cubicBezTo>
                  <a:pt x="-1380" y="82901"/>
                  <a:pt x="-443" y="76390"/>
                  <a:pt x="4167" y="72926"/>
                </a:cubicBezTo>
                <a:cubicBezTo>
                  <a:pt x="8777" y="69462"/>
                  <a:pt x="15288" y="70399"/>
                  <a:pt x="18752" y="75009"/>
                </a:cubicBezTo>
                <a:lnTo>
                  <a:pt x="33337" y="94465"/>
                </a:lnTo>
                <a:lnTo>
                  <a:pt x="33337" y="10418"/>
                </a:lnTo>
                <a:close/>
                <a:moveTo>
                  <a:pt x="62508" y="79177"/>
                </a:moveTo>
                <a:cubicBezTo>
                  <a:pt x="62508" y="76885"/>
                  <a:pt x="60633" y="75009"/>
                  <a:pt x="58341" y="75009"/>
                </a:cubicBezTo>
                <a:cubicBezTo>
                  <a:pt x="56049" y="75009"/>
                  <a:pt x="54173" y="76885"/>
                  <a:pt x="54173" y="79177"/>
                </a:cubicBezTo>
                <a:lnTo>
                  <a:pt x="54173" y="104180"/>
                </a:lnTo>
                <a:cubicBezTo>
                  <a:pt x="54173" y="106472"/>
                  <a:pt x="56049" y="108347"/>
                  <a:pt x="58341" y="108347"/>
                </a:cubicBezTo>
                <a:cubicBezTo>
                  <a:pt x="60633" y="108347"/>
                  <a:pt x="62508" y="106472"/>
                  <a:pt x="62508" y="104180"/>
                </a:cubicBezTo>
                <a:lnTo>
                  <a:pt x="62508" y="79177"/>
                </a:lnTo>
                <a:close/>
                <a:moveTo>
                  <a:pt x="75009" y="75009"/>
                </a:moveTo>
                <a:cubicBezTo>
                  <a:pt x="72717" y="75009"/>
                  <a:pt x="70842" y="76885"/>
                  <a:pt x="70842" y="79177"/>
                </a:cubicBezTo>
                <a:lnTo>
                  <a:pt x="70842" y="104180"/>
                </a:lnTo>
                <a:cubicBezTo>
                  <a:pt x="70842" y="106472"/>
                  <a:pt x="72717" y="108347"/>
                  <a:pt x="75009" y="108347"/>
                </a:cubicBezTo>
                <a:cubicBezTo>
                  <a:pt x="77301" y="108347"/>
                  <a:pt x="79177" y="106472"/>
                  <a:pt x="79177" y="104180"/>
                </a:cubicBezTo>
                <a:lnTo>
                  <a:pt x="79177" y="79177"/>
                </a:lnTo>
                <a:cubicBezTo>
                  <a:pt x="79177" y="76885"/>
                  <a:pt x="77301" y="75009"/>
                  <a:pt x="75009" y="75009"/>
                </a:cubicBezTo>
                <a:close/>
                <a:moveTo>
                  <a:pt x="95845" y="79177"/>
                </a:moveTo>
                <a:cubicBezTo>
                  <a:pt x="95845" y="76885"/>
                  <a:pt x="93970" y="75009"/>
                  <a:pt x="91678" y="75009"/>
                </a:cubicBezTo>
                <a:cubicBezTo>
                  <a:pt x="89386" y="75009"/>
                  <a:pt x="87511" y="76885"/>
                  <a:pt x="87511" y="79177"/>
                </a:cubicBezTo>
                <a:lnTo>
                  <a:pt x="87511" y="104180"/>
                </a:lnTo>
                <a:cubicBezTo>
                  <a:pt x="87511" y="106472"/>
                  <a:pt x="89386" y="108347"/>
                  <a:pt x="91678" y="108347"/>
                </a:cubicBezTo>
                <a:cubicBezTo>
                  <a:pt x="93970" y="108347"/>
                  <a:pt x="95845" y="106472"/>
                  <a:pt x="95845" y="104180"/>
                </a:cubicBezTo>
                <a:lnTo>
                  <a:pt x="95845" y="79177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2" name="Text 40"/>
          <p:cNvSpPr/>
          <p:nvPr/>
        </p:nvSpPr>
        <p:spPr>
          <a:xfrm>
            <a:off x="6657975" y="31718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Your Cards: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Clickables, surbrillance jouables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3175" y="35147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448425" y="3619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0119" y="4922"/>
                </a:moveTo>
                <a:cubicBezTo>
                  <a:pt x="123114" y="6251"/>
                  <a:pt x="125016" y="9220"/>
                  <a:pt x="125016" y="12502"/>
                </a:cubicBezTo>
                <a:lnTo>
                  <a:pt x="125016" y="120848"/>
                </a:lnTo>
                <a:cubicBezTo>
                  <a:pt x="125016" y="124130"/>
                  <a:pt x="123114" y="127099"/>
                  <a:pt x="120119" y="128428"/>
                </a:cubicBezTo>
                <a:cubicBezTo>
                  <a:pt x="117124" y="129756"/>
                  <a:pt x="113660" y="129261"/>
                  <a:pt x="111186" y="127099"/>
                </a:cubicBezTo>
                <a:lnTo>
                  <a:pt x="99049" y="116499"/>
                </a:lnTo>
                <a:cubicBezTo>
                  <a:pt x="87693" y="106576"/>
                  <a:pt x="73343" y="100794"/>
                  <a:pt x="58315" y="100091"/>
                </a:cubicBezTo>
                <a:lnTo>
                  <a:pt x="58315" y="125016"/>
                </a:lnTo>
                <a:cubicBezTo>
                  <a:pt x="58315" y="129626"/>
                  <a:pt x="54590" y="133350"/>
                  <a:pt x="49980" y="133350"/>
                </a:cubicBezTo>
                <a:lnTo>
                  <a:pt x="41646" y="133350"/>
                </a:lnTo>
                <a:cubicBezTo>
                  <a:pt x="37036" y="133350"/>
                  <a:pt x="33311" y="129626"/>
                  <a:pt x="33311" y="125016"/>
                </a:cubicBezTo>
                <a:lnTo>
                  <a:pt x="33311" y="100013"/>
                </a:lnTo>
                <a:cubicBezTo>
                  <a:pt x="14924" y="100013"/>
                  <a:pt x="0" y="85089"/>
                  <a:pt x="0" y="66675"/>
                </a:cubicBezTo>
                <a:cubicBezTo>
                  <a:pt x="0" y="48261"/>
                  <a:pt x="14924" y="33337"/>
                  <a:pt x="33337" y="33337"/>
                </a:cubicBezTo>
                <a:lnTo>
                  <a:pt x="55345" y="33337"/>
                </a:lnTo>
                <a:cubicBezTo>
                  <a:pt x="71441" y="33285"/>
                  <a:pt x="86964" y="27425"/>
                  <a:pt x="99075" y="16851"/>
                </a:cubicBezTo>
                <a:lnTo>
                  <a:pt x="111212" y="6251"/>
                </a:lnTo>
                <a:cubicBezTo>
                  <a:pt x="113660" y="4089"/>
                  <a:pt x="117176" y="3594"/>
                  <a:pt x="120145" y="4922"/>
                </a:cubicBezTo>
                <a:close/>
                <a:moveTo>
                  <a:pt x="58341" y="83344"/>
                </a:moveTo>
                <a:lnTo>
                  <a:pt x="58341" y="83396"/>
                </a:lnTo>
                <a:cubicBezTo>
                  <a:pt x="76650" y="84099"/>
                  <a:pt x="94231" y="90819"/>
                  <a:pt x="108347" y="102513"/>
                </a:cubicBezTo>
                <a:lnTo>
                  <a:pt x="108347" y="30811"/>
                </a:lnTo>
                <a:cubicBezTo>
                  <a:pt x="94231" y="42505"/>
                  <a:pt x="76650" y="49225"/>
                  <a:pt x="58341" y="49928"/>
                </a:cubicBezTo>
                <a:lnTo>
                  <a:pt x="58341" y="83344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5" name="Text 43"/>
          <p:cNvSpPr/>
          <p:nvPr/>
        </p:nvSpPr>
        <p:spPr>
          <a:xfrm>
            <a:off x="6657975" y="35909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UNO Button: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Appeler UNO quand 1 carte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6013" y="4176712"/>
            <a:ext cx="5610225" cy="1571625"/>
          </a:xfrm>
          <a:custGeom>
            <a:avLst/>
            <a:gdLst/>
            <a:ahLst/>
            <a:cxnLst/>
            <a:rect l="l" t="t" r="r" b="b"/>
            <a:pathLst>
              <a:path w="5610225" h="1571625">
                <a:moveTo>
                  <a:pt x="114304" y="0"/>
                </a:moveTo>
                <a:lnTo>
                  <a:pt x="5495921" y="0"/>
                </a:lnTo>
                <a:cubicBezTo>
                  <a:pt x="5559049" y="0"/>
                  <a:pt x="5610225" y="51176"/>
                  <a:pt x="5610225" y="114304"/>
                </a:cubicBezTo>
                <a:lnTo>
                  <a:pt x="5610225" y="1457321"/>
                </a:lnTo>
                <a:cubicBezTo>
                  <a:pt x="5610225" y="1520449"/>
                  <a:pt x="5559049" y="1571625"/>
                  <a:pt x="5495921" y="1571625"/>
                </a:cubicBezTo>
                <a:lnTo>
                  <a:pt x="114304" y="1571625"/>
                </a:lnTo>
                <a:cubicBezTo>
                  <a:pt x="51176" y="1571625"/>
                  <a:pt x="0" y="1520449"/>
                  <a:pt x="0" y="14573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3175" y="43338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 Handling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3175" y="471487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6391275" y="475297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Mouse Clicks: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Clicks sur cartes, deck, boutons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3175" y="501967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6391275" y="505777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Clavier: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ESC (menu), SPACE (tirer), R (restart)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3175" y="5324475"/>
            <a:ext cx="5295900" cy="266700"/>
          </a:xfrm>
          <a:custGeom>
            <a:avLst/>
            <a:gdLst/>
            <a:ahLst/>
            <a:cxnLst/>
            <a:rect l="l" t="t" r="r" b="b"/>
            <a:pathLst>
              <a:path w="5295900" h="266700">
                <a:moveTo>
                  <a:pt x="38101" y="0"/>
                </a:moveTo>
                <a:lnTo>
                  <a:pt x="5257799" y="0"/>
                </a:lnTo>
                <a:cubicBezTo>
                  <a:pt x="5278842" y="0"/>
                  <a:pt x="5295900" y="17058"/>
                  <a:pt x="5295900" y="38101"/>
                </a:cubicBezTo>
                <a:lnTo>
                  <a:pt x="5295900" y="228599"/>
                </a:lnTo>
                <a:cubicBezTo>
                  <a:pt x="5295900" y="249642"/>
                  <a:pt x="5278842" y="266700"/>
                  <a:pt x="5257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6391275" y="5362575"/>
            <a:ext cx="528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Validation: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Actions invalides bloquées, feedback visuel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96013" y="5910263"/>
            <a:ext cx="5610225" cy="466725"/>
          </a:xfrm>
          <a:custGeom>
            <a:avLst/>
            <a:gdLst/>
            <a:ahLst/>
            <a:cxnLst/>
            <a:rect l="l" t="t" r="r" b="b"/>
            <a:pathLst>
              <a:path w="5610225" h="4667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352424"/>
                </a:lnTo>
                <a:cubicBezTo>
                  <a:pt x="5610225" y="415551"/>
                  <a:pt x="5559051" y="466725"/>
                  <a:pt x="5495924" y="466725"/>
                </a:cubicBezTo>
                <a:lnTo>
                  <a:pt x="114301" y="466725"/>
                </a:lnTo>
                <a:cubicBezTo>
                  <a:pt x="51174" y="466725"/>
                  <a:pt x="0" y="415551"/>
                  <a:pt x="0" y="3524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15075" y="6029325"/>
            <a:ext cx="544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Performance: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60 FPS constant avec Pygame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evblogs.nvidia.com/4a026ee880d7347bfdb6bcd11198e67f26816519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5279" b="5279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D8F8A">
                  <a:alpha val="1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271588"/>
            <a:ext cx="2343150" cy="542925"/>
          </a:xfrm>
          <a:custGeom>
            <a:avLst/>
            <a:gdLst/>
            <a:ahLst/>
            <a:cxnLst/>
            <a:rect l="l" t="t" r="r" b="b"/>
            <a:pathLst>
              <a:path w="2343150" h="542925">
                <a:moveTo>
                  <a:pt x="271463" y="0"/>
                </a:moveTo>
                <a:lnTo>
                  <a:pt x="2071688" y="0"/>
                </a:lnTo>
                <a:cubicBezTo>
                  <a:pt x="2221512" y="0"/>
                  <a:pt x="2343150" y="121638"/>
                  <a:pt x="2343150" y="271463"/>
                </a:cubicBezTo>
                <a:lnTo>
                  <a:pt x="2343150" y="271463"/>
                </a:lnTo>
                <a:cubicBezTo>
                  <a:pt x="2343150" y="421287"/>
                  <a:pt x="2221512" y="542925"/>
                  <a:pt x="2071688" y="542925"/>
                </a:cubicBezTo>
                <a:lnTo>
                  <a:pt x="271463" y="542925"/>
                </a:lnTo>
                <a:cubicBezTo>
                  <a:pt x="121638" y="542925"/>
                  <a:pt x="0" y="421287"/>
                  <a:pt x="0" y="271463"/>
                </a:cubicBezTo>
                <a:lnTo>
                  <a:pt x="0" y="271463"/>
                </a:lnTo>
                <a:cubicBezTo>
                  <a:pt x="0" y="121638"/>
                  <a:pt x="121638" y="0"/>
                  <a:pt x="2714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5325" y="1371600"/>
            <a:ext cx="1836014" cy="333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CHAPITRE 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2407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Fonctionnalités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Avancées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63867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" name="Text 5"/>
          <p:cNvSpPr/>
          <p:nvPr/>
        </p:nvSpPr>
        <p:spPr>
          <a:xfrm>
            <a:off x="381000" y="4905375"/>
            <a:ext cx="74580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Auto-play training, environnement multijoueur et système d'évaluation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Système d'Auto-Play Training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2676525"/>
          </a:xfrm>
          <a:custGeom>
            <a:avLst/>
            <a:gdLst/>
            <a:ahLst/>
            <a:cxnLst/>
            <a:rect l="l" t="t" r="r" b="b"/>
            <a:pathLst>
              <a:path w="5610225" h="2676525">
                <a:moveTo>
                  <a:pt x="114288" y="0"/>
                </a:moveTo>
                <a:lnTo>
                  <a:pt x="5495937" y="0"/>
                </a:lnTo>
                <a:cubicBezTo>
                  <a:pt x="5559057" y="0"/>
                  <a:pt x="5610225" y="51168"/>
                  <a:pt x="5610225" y="114288"/>
                </a:cubicBezTo>
                <a:lnTo>
                  <a:pt x="5610225" y="2562237"/>
                </a:lnTo>
                <a:cubicBezTo>
                  <a:pt x="5610225" y="2625357"/>
                  <a:pt x="5559057" y="2676525"/>
                  <a:pt x="5495937" y="2676525"/>
                </a:cubicBezTo>
                <a:lnTo>
                  <a:pt x="114288" y="2676525"/>
                </a:lnTo>
                <a:cubicBezTo>
                  <a:pt x="51168" y="2676525"/>
                  <a:pt x="0" y="2625357"/>
                  <a:pt x="0" y="2562237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266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6" name="Text 4"/>
          <p:cNvSpPr/>
          <p:nvPr/>
        </p:nvSpPr>
        <p:spPr>
          <a:xfrm>
            <a:off x="82867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Architecture Self-Play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2925" y="164782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Système créant un curriculum adaptatif d'adversaires 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925" y="19907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46509" y="2095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2846" y="-3386"/>
                </a:moveTo>
                <a:cubicBezTo>
                  <a:pt x="59877" y="-3985"/>
                  <a:pt x="56830" y="-3985"/>
                  <a:pt x="53861" y="-3386"/>
                </a:cubicBezTo>
                <a:lnTo>
                  <a:pt x="5027" y="6381"/>
                </a:lnTo>
                <a:cubicBezTo>
                  <a:pt x="2110" y="6954"/>
                  <a:pt x="0" y="9532"/>
                  <a:pt x="0" y="12502"/>
                </a:cubicBezTo>
                <a:cubicBezTo>
                  <a:pt x="0" y="15184"/>
                  <a:pt x="1693" y="17528"/>
                  <a:pt x="4167" y="18388"/>
                </a:cubicBezTo>
                <a:lnTo>
                  <a:pt x="4167" y="37505"/>
                </a:lnTo>
                <a:lnTo>
                  <a:pt x="78" y="57976"/>
                </a:lnTo>
                <a:cubicBezTo>
                  <a:pt x="26" y="58210"/>
                  <a:pt x="0" y="58471"/>
                  <a:pt x="0" y="58731"/>
                </a:cubicBezTo>
                <a:cubicBezTo>
                  <a:pt x="0" y="60815"/>
                  <a:pt x="1693" y="62534"/>
                  <a:pt x="3803" y="62534"/>
                </a:cubicBezTo>
                <a:lnTo>
                  <a:pt x="12892" y="62534"/>
                </a:lnTo>
                <a:cubicBezTo>
                  <a:pt x="14976" y="62534"/>
                  <a:pt x="16695" y="60841"/>
                  <a:pt x="16695" y="58731"/>
                </a:cubicBezTo>
                <a:cubicBezTo>
                  <a:pt x="16695" y="58471"/>
                  <a:pt x="16669" y="58236"/>
                  <a:pt x="16617" y="57976"/>
                </a:cubicBezTo>
                <a:lnTo>
                  <a:pt x="12502" y="37505"/>
                </a:lnTo>
                <a:lnTo>
                  <a:pt x="12502" y="20133"/>
                </a:lnTo>
                <a:lnTo>
                  <a:pt x="25003" y="22633"/>
                </a:lnTo>
                <a:lnTo>
                  <a:pt x="25003" y="37505"/>
                </a:lnTo>
                <a:cubicBezTo>
                  <a:pt x="25003" y="55918"/>
                  <a:pt x="39927" y="70842"/>
                  <a:pt x="58341" y="70842"/>
                </a:cubicBezTo>
                <a:cubicBezTo>
                  <a:pt x="76754" y="70842"/>
                  <a:pt x="91678" y="55918"/>
                  <a:pt x="91678" y="37505"/>
                </a:cubicBezTo>
                <a:lnTo>
                  <a:pt x="91678" y="22633"/>
                </a:lnTo>
                <a:lnTo>
                  <a:pt x="111655" y="18648"/>
                </a:lnTo>
                <a:cubicBezTo>
                  <a:pt x="114572" y="18049"/>
                  <a:pt x="116681" y="15471"/>
                  <a:pt x="116681" y="12502"/>
                </a:cubicBezTo>
                <a:cubicBezTo>
                  <a:pt x="116681" y="9532"/>
                  <a:pt x="114572" y="6954"/>
                  <a:pt x="111655" y="6381"/>
                </a:cubicBezTo>
                <a:lnTo>
                  <a:pt x="62846" y="-3386"/>
                </a:lnTo>
                <a:close/>
                <a:moveTo>
                  <a:pt x="58341" y="58341"/>
                </a:moveTo>
                <a:cubicBezTo>
                  <a:pt x="46829" y="58341"/>
                  <a:pt x="37505" y="49017"/>
                  <a:pt x="37505" y="37505"/>
                </a:cubicBezTo>
                <a:lnTo>
                  <a:pt x="79177" y="37505"/>
                </a:lnTo>
                <a:cubicBezTo>
                  <a:pt x="79177" y="49017"/>
                  <a:pt x="69852" y="58341"/>
                  <a:pt x="58341" y="58341"/>
                </a:cubicBezTo>
                <a:close/>
                <a:moveTo>
                  <a:pt x="31280" y="83370"/>
                </a:moveTo>
                <a:cubicBezTo>
                  <a:pt x="15288" y="90714"/>
                  <a:pt x="4167" y="106862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52090" y="133350"/>
                </a:lnTo>
                <a:lnTo>
                  <a:pt x="52090" y="95324"/>
                </a:lnTo>
                <a:lnTo>
                  <a:pt x="37140" y="84125"/>
                </a:lnTo>
                <a:cubicBezTo>
                  <a:pt x="35447" y="82849"/>
                  <a:pt x="33181" y="82510"/>
                  <a:pt x="31254" y="83396"/>
                </a:cubicBezTo>
                <a:close/>
                <a:moveTo>
                  <a:pt x="64591" y="133350"/>
                </a:move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106862"/>
                  <a:pt x="101393" y="90714"/>
                  <a:pt x="85401" y="83396"/>
                </a:cubicBezTo>
                <a:cubicBezTo>
                  <a:pt x="83474" y="82510"/>
                  <a:pt x="81208" y="82849"/>
                  <a:pt x="79515" y="84125"/>
                </a:cubicBezTo>
                <a:lnTo>
                  <a:pt x="64565" y="95324"/>
                </a:lnTo>
                <a:lnTo>
                  <a:pt x="64565" y="13335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10" name="Text 8"/>
          <p:cNvSpPr/>
          <p:nvPr/>
        </p:nvSpPr>
        <p:spPr>
          <a:xfrm>
            <a:off x="847725" y="20669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Current Agent: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En cours d'entraînement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409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21506" y="25146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13" name="Text 11"/>
          <p:cNvSpPr/>
          <p:nvPr/>
        </p:nvSpPr>
        <p:spPr>
          <a:xfrm>
            <a:off x="847725" y="24860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Opponent Pool: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Checkpoints historiques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925" y="2828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38175" y="2933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6" name="Text 14"/>
          <p:cNvSpPr/>
          <p:nvPr/>
        </p:nvSpPr>
        <p:spPr>
          <a:xfrm>
            <a:off x="847725" y="29051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Evaluator: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Évaluation périodique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32480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46509" y="3352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45136"/>
                </a:lnTo>
                <a:cubicBezTo>
                  <a:pt x="116681" y="40708"/>
                  <a:pt x="114936" y="36463"/>
                  <a:pt x="111811" y="33337"/>
                </a:cubicBezTo>
                <a:lnTo>
                  <a:pt x="91678" y="13205"/>
                </a:lnTo>
                <a:cubicBezTo>
                  <a:pt x="88553" y="10079"/>
                  <a:pt x="84307" y="8334"/>
                  <a:pt x="79880" y="8334"/>
                </a:cubicBezTo>
                <a:lnTo>
                  <a:pt x="16669" y="8334"/>
                </a:lnTo>
                <a:close/>
                <a:moveTo>
                  <a:pt x="25003" y="33337"/>
                </a:moveTo>
                <a:cubicBezTo>
                  <a:pt x="25003" y="28728"/>
                  <a:pt x="28728" y="25003"/>
                  <a:pt x="33337" y="25003"/>
                </a:cubicBezTo>
                <a:lnTo>
                  <a:pt x="75009" y="25003"/>
                </a:lnTo>
                <a:cubicBezTo>
                  <a:pt x="79619" y="25003"/>
                  <a:pt x="83344" y="28728"/>
                  <a:pt x="83344" y="33337"/>
                </a:cubicBezTo>
                <a:lnTo>
                  <a:pt x="83344" y="50006"/>
                </a:lnTo>
                <a:cubicBezTo>
                  <a:pt x="83344" y="54616"/>
                  <a:pt x="79619" y="58341"/>
                  <a:pt x="75009" y="58341"/>
                </a:cubicBezTo>
                <a:lnTo>
                  <a:pt x="33337" y="58341"/>
                </a:lnTo>
                <a:cubicBezTo>
                  <a:pt x="28728" y="58341"/>
                  <a:pt x="25003" y="54616"/>
                  <a:pt x="25003" y="50006"/>
                </a:cubicBezTo>
                <a:lnTo>
                  <a:pt x="25003" y="33337"/>
                </a:lnTo>
                <a:close/>
                <a:moveTo>
                  <a:pt x="58341" y="75009"/>
                </a:moveTo>
                <a:cubicBezTo>
                  <a:pt x="67540" y="75009"/>
                  <a:pt x="75009" y="82478"/>
                  <a:pt x="75009" y="91678"/>
                </a:cubicBezTo>
                <a:cubicBezTo>
                  <a:pt x="75009" y="100878"/>
                  <a:pt x="67540" y="108347"/>
                  <a:pt x="58341" y="108347"/>
                </a:cubicBezTo>
                <a:cubicBezTo>
                  <a:pt x="49141" y="108347"/>
                  <a:pt x="41672" y="100878"/>
                  <a:pt x="41672" y="91678"/>
                </a:cubicBezTo>
                <a:cubicBezTo>
                  <a:pt x="41672" y="82478"/>
                  <a:pt x="49141" y="75009"/>
                  <a:pt x="58341" y="75009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9" name="Text 17"/>
          <p:cNvSpPr/>
          <p:nvPr/>
        </p:nvSpPr>
        <p:spPr>
          <a:xfrm>
            <a:off x="847725" y="33242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Checkpoints: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Sauvegarde fréquente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3910013"/>
            <a:ext cx="5610225" cy="1685925"/>
          </a:xfrm>
          <a:custGeom>
            <a:avLst/>
            <a:gdLst/>
            <a:ahLst/>
            <a:cxnLst/>
            <a:rect l="l" t="t" r="r" b="b"/>
            <a:pathLst>
              <a:path w="5610225" h="1685925">
                <a:moveTo>
                  <a:pt x="114306" y="0"/>
                </a:moveTo>
                <a:lnTo>
                  <a:pt x="5495919" y="0"/>
                </a:lnTo>
                <a:cubicBezTo>
                  <a:pt x="5559049" y="0"/>
                  <a:pt x="5610225" y="51176"/>
                  <a:pt x="5610225" y="114306"/>
                </a:cubicBezTo>
                <a:lnTo>
                  <a:pt x="5610225" y="1571619"/>
                </a:lnTo>
                <a:cubicBezTo>
                  <a:pt x="5610225" y="1634749"/>
                  <a:pt x="5559049" y="1685925"/>
                  <a:pt x="549591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925" y="40671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Avantages du Self-Play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5306" y="44767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0" y="66675"/>
                </a:moveTo>
                <a:cubicBezTo>
                  <a:pt x="0" y="43651"/>
                  <a:pt x="18648" y="25003"/>
                  <a:pt x="41672" y="25003"/>
                </a:cubicBezTo>
                <a:cubicBezTo>
                  <a:pt x="54799" y="25003"/>
                  <a:pt x="67144" y="31176"/>
                  <a:pt x="75009" y="41672"/>
                </a:cubicBezTo>
                <a:lnTo>
                  <a:pt x="83344" y="52793"/>
                </a:lnTo>
                <a:lnTo>
                  <a:pt x="91678" y="41672"/>
                </a:lnTo>
                <a:cubicBezTo>
                  <a:pt x="99544" y="31176"/>
                  <a:pt x="111889" y="25003"/>
                  <a:pt x="125016" y="25003"/>
                </a:cubicBezTo>
                <a:cubicBezTo>
                  <a:pt x="148039" y="25003"/>
                  <a:pt x="166688" y="43651"/>
                  <a:pt x="166688" y="66675"/>
                </a:cubicBezTo>
                <a:cubicBezTo>
                  <a:pt x="166688" y="89699"/>
                  <a:pt x="148039" y="108347"/>
                  <a:pt x="125016" y="108347"/>
                </a:cubicBezTo>
                <a:cubicBezTo>
                  <a:pt x="111889" y="108347"/>
                  <a:pt x="99544" y="102174"/>
                  <a:pt x="91678" y="91678"/>
                </a:cubicBezTo>
                <a:lnTo>
                  <a:pt x="83344" y="80557"/>
                </a:lnTo>
                <a:lnTo>
                  <a:pt x="75009" y="91678"/>
                </a:lnTo>
                <a:cubicBezTo>
                  <a:pt x="67144" y="102174"/>
                  <a:pt x="54799" y="108347"/>
                  <a:pt x="41672" y="108347"/>
                </a:cubicBezTo>
                <a:cubicBezTo>
                  <a:pt x="18648" y="108347"/>
                  <a:pt x="0" y="89699"/>
                  <a:pt x="0" y="66675"/>
                </a:cubicBezTo>
                <a:close/>
                <a:moveTo>
                  <a:pt x="72926" y="66675"/>
                </a:moveTo>
                <a:lnTo>
                  <a:pt x="61674" y="51673"/>
                </a:lnTo>
                <a:cubicBezTo>
                  <a:pt x="56960" y="45370"/>
                  <a:pt x="49537" y="41672"/>
                  <a:pt x="41672" y="41672"/>
                </a:cubicBezTo>
                <a:cubicBezTo>
                  <a:pt x="27868" y="41672"/>
                  <a:pt x="16669" y="52871"/>
                  <a:pt x="16669" y="66675"/>
                </a:cubicBezTo>
                <a:cubicBezTo>
                  <a:pt x="16669" y="80479"/>
                  <a:pt x="27868" y="91678"/>
                  <a:pt x="41672" y="91678"/>
                </a:cubicBezTo>
                <a:cubicBezTo>
                  <a:pt x="49537" y="91678"/>
                  <a:pt x="56960" y="87980"/>
                  <a:pt x="61674" y="81677"/>
                </a:cubicBezTo>
                <a:lnTo>
                  <a:pt x="72926" y="66675"/>
                </a:lnTo>
                <a:close/>
                <a:moveTo>
                  <a:pt x="93762" y="66675"/>
                </a:moveTo>
                <a:lnTo>
                  <a:pt x="105013" y="81677"/>
                </a:lnTo>
                <a:cubicBezTo>
                  <a:pt x="109727" y="87980"/>
                  <a:pt x="117150" y="91678"/>
                  <a:pt x="125016" y="91678"/>
                </a:cubicBezTo>
                <a:cubicBezTo>
                  <a:pt x="138819" y="91678"/>
                  <a:pt x="150019" y="80479"/>
                  <a:pt x="150019" y="66675"/>
                </a:cubicBezTo>
                <a:cubicBezTo>
                  <a:pt x="150019" y="52871"/>
                  <a:pt x="138819" y="41672"/>
                  <a:pt x="125016" y="41672"/>
                </a:cubicBezTo>
                <a:cubicBezTo>
                  <a:pt x="117150" y="41672"/>
                  <a:pt x="109727" y="45370"/>
                  <a:pt x="105013" y="51673"/>
                </a:cubicBezTo>
                <a:lnTo>
                  <a:pt x="93762" y="66675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23" name="Text 21"/>
          <p:cNvSpPr/>
          <p:nvPr/>
        </p:nvSpPr>
        <p:spPr>
          <a:xfrm>
            <a:off x="771525" y="44481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Amélioration continue: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Pas de plateau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1975" y="4743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25" name="Text 23"/>
          <p:cNvSpPr/>
          <p:nvPr/>
        </p:nvSpPr>
        <p:spPr>
          <a:xfrm>
            <a:off x="771525" y="47148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Prévient overfitting: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Diversité adversaires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3641" y="50101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2502" y="50996"/>
                </a:moveTo>
                <a:lnTo>
                  <a:pt x="66988" y="73421"/>
                </a:lnTo>
                <a:cubicBezTo>
                  <a:pt x="69540" y="74462"/>
                  <a:pt x="72249" y="75009"/>
                  <a:pt x="75009" y="75009"/>
                </a:cubicBezTo>
                <a:cubicBezTo>
                  <a:pt x="77770" y="75009"/>
                  <a:pt x="80479" y="74462"/>
                  <a:pt x="83031" y="73421"/>
                </a:cubicBezTo>
                <a:lnTo>
                  <a:pt x="146164" y="47428"/>
                </a:lnTo>
                <a:cubicBezTo>
                  <a:pt x="148508" y="46464"/>
                  <a:pt x="150019" y="44198"/>
                  <a:pt x="150019" y="41672"/>
                </a:cubicBezTo>
                <a:cubicBezTo>
                  <a:pt x="150019" y="39146"/>
                  <a:pt x="148508" y="36880"/>
                  <a:pt x="146164" y="35916"/>
                </a:cubicBezTo>
                <a:lnTo>
                  <a:pt x="83031" y="9923"/>
                </a:lnTo>
                <a:cubicBezTo>
                  <a:pt x="80479" y="8881"/>
                  <a:pt x="77770" y="8334"/>
                  <a:pt x="75009" y="8334"/>
                </a:cubicBezTo>
                <a:cubicBezTo>
                  <a:pt x="72249" y="8334"/>
                  <a:pt x="69540" y="8881"/>
                  <a:pt x="66988" y="9923"/>
                </a:cubicBezTo>
                <a:lnTo>
                  <a:pt x="3855" y="35916"/>
                </a:lnTo>
                <a:cubicBezTo>
                  <a:pt x="1511" y="36880"/>
                  <a:pt x="0" y="39146"/>
                  <a:pt x="0" y="41672"/>
                </a:cubicBezTo>
                <a:lnTo>
                  <a:pt x="0" y="118765"/>
                </a:lnTo>
                <a:cubicBezTo>
                  <a:pt x="0" y="122229"/>
                  <a:pt x="2787" y="125016"/>
                  <a:pt x="6251" y="125016"/>
                </a:cubicBezTo>
                <a:cubicBezTo>
                  <a:pt x="9715" y="125016"/>
                  <a:pt x="12502" y="122229"/>
                  <a:pt x="12502" y="118765"/>
                </a:cubicBezTo>
                <a:lnTo>
                  <a:pt x="12502" y="50996"/>
                </a:lnTo>
                <a:close/>
                <a:moveTo>
                  <a:pt x="25003" y="69670"/>
                </a:moveTo>
                <a:lnTo>
                  <a:pt x="25003" y="100013"/>
                </a:lnTo>
                <a:cubicBezTo>
                  <a:pt x="25003" y="113816"/>
                  <a:pt x="47402" y="125016"/>
                  <a:pt x="75009" y="125016"/>
                </a:cubicBezTo>
                <a:cubicBezTo>
                  <a:pt x="102617" y="125016"/>
                  <a:pt x="125016" y="113816"/>
                  <a:pt x="125016" y="100013"/>
                </a:cubicBezTo>
                <a:lnTo>
                  <a:pt x="125016" y="69644"/>
                </a:lnTo>
                <a:lnTo>
                  <a:pt x="87797" y="84985"/>
                </a:lnTo>
                <a:cubicBezTo>
                  <a:pt x="83734" y="86651"/>
                  <a:pt x="79411" y="87511"/>
                  <a:pt x="75009" y="87511"/>
                </a:cubicBezTo>
                <a:cubicBezTo>
                  <a:pt x="70608" y="87511"/>
                  <a:pt x="66284" y="86651"/>
                  <a:pt x="62221" y="84985"/>
                </a:cubicBezTo>
                <a:lnTo>
                  <a:pt x="25003" y="69644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27" name="Text 25"/>
          <p:cNvSpPr/>
          <p:nvPr/>
        </p:nvSpPr>
        <p:spPr>
          <a:xfrm>
            <a:off x="771525" y="49815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Curriculum adaptatif: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Difficulté croissante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1975" y="5276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7583" y="0"/>
                </a:moveTo>
                <a:lnTo>
                  <a:pt x="95923" y="0"/>
                </a:lnTo>
                <a:cubicBezTo>
                  <a:pt x="102825" y="0"/>
                  <a:pt x="108451" y="5678"/>
                  <a:pt x="108191" y="12554"/>
                </a:cubicBezTo>
                <a:cubicBezTo>
                  <a:pt x="108139" y="13934"/>
                  <a:pt x="108086" y="15314"/>
                  <a:pt x="108008" y="16669"/>
                </a:cubicBezTo>
                <a:lnTo>
                  <a:pt x="120927" y="16669"/>
                </a:lnTo>
                <a:cubicBezTo>
                  <a:pt x="127724" y="16669"/>
                  <a:pt x="133715" y="22294"/>
                  <a:pt x="133194" y="29639"/>
                </a:cubicBezTo>
                <a:cubicBezTo>
                  <a:pt x="131240" y="56648"/>
                  <a:pt x="117437" y="71493"/>
                  <a:pt x="102461" y="79255"/>
                </a:cubicBezTo>
                <a:cubicBezTo>
                  <a:pt x="98346" y="81390"/>
                  <a:pt x="94152" y="82979"/>
                  <a:pt x="90168" y="84151"/>
                </a:cubicBezTo>
                <a:cubicBezTo>
                  <a:pt x="84906" y="91600"/>
                  <a:pt x="79437" y="95533"/>
                  <a:pt x="75088" y="97642"/>
                </a:cubicBezTo>
                <a:lnTo>
                  <a:pt x="75088" y="116681"/>
                </a:lnTo>
                <a:lnTo>
                  <a:pt x="91756" y="116681"/>
                </a:lnTo>
                <a:cubicBezTo>
                  <a:pt x="96366" y="116681"/>
                  <a:pt x="100091" y="120406"/>
                  <a:pt x="100091" y="125016"/>
                </a:cubicBezTo>
                <a:cubicBezTo>
                  <a:pt x="100091" y="129626"/>
                  <a:pt x="96366" y="133350"/>
                  <a:pt x="91756" y="133350"/>
                </a:cubicBezTo>
                <a:lnTo>
                  <a:pt x="41750" y="133350"/>
                </a:lnTo>
                <a:cubicBezTo>
                  <a:pt x="37140" y="133350"/>
                  <a:pt x="33416" y="129626"/>
                  <a:pt x="33416" y="125016"/>
                </a:cubicBezTo>
                <a:cubicBezTo>
                  <a:pt x="33416" y="120406"/>
                  <a:pt x="37140" y="116681"/>
                  <a:pt x="41750" y="116681"/>
                </a:cubicBezTo>
                <a:lnTo>
                  <a:pt x="58419" y="116681"/>
                </a:lnTo>
                <a:lnTo>
                  <a:pt x="58419" y="97642"/>
                </a:lnTo>
                <a:cubicBezTo>
                  <a:pt x="54252" y="95637"/>
                  <a:pt x="49069" y="91913"/>
                  <a:pt x="44016" y="85063"/>
                </a:cubicBezTo>
                <a:cubicBezTo>
                  <a:pt x="39224" y="83813"/>
                  <a:pt x="34015" y="81911"/>
                  <a:pt x="28936" y="79046"/>
                </a:cubicBezTo>
                <a:cubicBezTo>
                  <a:pt x="14846" y="71155"/>
                  <a:pt x="2136" y="56283"/>
                  <a:pt x="313" y="29587"/>
                </a:cubicBezTo>
                <a:cubicBezTo>
                  <a:pt x="-182" y="22268"/>
                  <a:pt x="5782" y="16643"/>
                  <a:pt x="12580" y="16643"/>
                </a:cubicBezTo>
                <a:lnTo>
                  <a:pt x="25498" y="16643"/>
                </a:lnTo>
                <a:cubicBezTo>
                  <a:pt x="25420" y="15288"/>
                  <a:pt x="25368" y="13934"/>
                  <a:pt x="25316" y="12528"/>
                </a:cubicBezTo>
                <a:cubicBezTo>
                  <a:pt x="25055" y="5626"/>
                  <a:pt x="30681" y="-26"/>
                  <a:pt x="37583" y="-26"/>
                </a:cubicBezTo>
                <a:close/>
                <a:moveTo>
                  <a:pt x="26436" y="29170"/>
                </a:moveTo>
                <a:lnTo>
                  <a:pt x="12788" y="29170"/>
                </a:lnTo>
                <a:cubicBezTo>
                  <a:pt x="14403" y="51230"/>
                  <a:pt x="24534" y="62273"/>
                  <a:pt x="34978" y="68134"/>
                </a:cubicBezTo>
                <a:cubicBezTo>
                  <a:pt x="31228" y="58419"/>
                  <a:pt x="28129" y="45735"/>
                  <a:pt x="26436" y="29170"/>
                </a:cubicBezTo>
                <a:close/>
                <a:moveTo>
                  <a:pt x="98971" y="66883"/>
                </a:moveTo>
                <a:cubicBezTo>
                  <a:pt x="109519" y="60685"/>
                  <a:pt x="119051" y="49668"/>
                  <a:pt x="120666" y="29170"/>
                </a:cubicBezTo>
                <a:lnTo>
                  <a:pt x="107045" y="29170"/>
                </a:lnTo>
                <a:cubicBezTo>
                  <a:pt x="105430" y="45032"/>
                  <a:pt x="102513" y="57351"/>
                  <a:pt x="98971" y="66883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9" name="Text 27"/>
          <p:cNvSpPr/>
          <p:nvPr/>
        </p:nvSpPr>
        <p:spPr>
          <a:xfrm>
            <a:off x="771525" y="52482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Performance élevée: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70%+ win rate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6013" y="1071563"/>
            <a:ext cx="5610225" cy="3019425"/>
          </a:xfrm>
          <a:custGeom>
            <a:avLst/>
            <a:gdLst/>
            <a:ahLst/>
            <a:cxnLst/>
            <a:rect l="l" t="t" r="r" b="b"/>
            <a:pathLst>
              <a:path w="5610225" h="3019425">
                <a:moveTo>
                  <a:pt x="114285" y="0"/>
                </a:moveTo>
                <a:lnTo>
                  <a:pt x="5495940" y="0"/>
                </a:lnTo>
                <a:cubicBezTo>
                  <a:pt x="5559058" y="0"/>
                  <a:pt x="5610225" y="51167"/>
                  <a:pt x="5610225" y="114285"/>
                </a:cubicBezTo>
                <a:lnTo>
                  <a:pt x="5610225" y="2905140"/>
                </a:lnTo>
                <a:cubicBezTo>
                  <a:pt x="5610225" y="2968258"/>
                  <a:pt x="5559058" y="3019425"/>
                  <a:pt x="5495940" y="3019425"/>
                </a:cubicBezTo>
                <a:lnTo>
                  <a:pt x="114285" y="3019425"/>
                </a:lnTo>
                <a:cubicBezTo>
                  <a:pt x="51167" y="3019425"/>
                  <a:pt x="0" y="2968258"/>
                  <a:pt x="0" y="2905140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3175" y="1228725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Phases d'Entraînement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72225" y="1647825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0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372225" y="16478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4" name="Text 32"/>
          <p:cNvSpPr/>
          <p:nvPr/>
        </p:nvSpPr>
        <p:spPr>
          <a:xfrm>
            <a:off x="6505575" y="1762125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1: Foundation (0-100K)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05575" y="2028825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Adversaires aléatoires, apprentissage base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2225" y="2447925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0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372225" y="24479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38" name="Text 36"/>
          <p:cNvSpPr/>
          <p:nvPr/>
        </p:nvSpPr>
        <p:spPr>
          <a:xfrm>
            <a:off x="6505575" y="2562225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2: Introduction (100K-500K)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05575" y="2828925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Mix 30% random + 70% self, checkpoints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2225" y="3248025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0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372225" y="3248025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2" name="Text 40"/>
          <p:cNvSpPr/>
          <p:nvPr/>
        </p:nvSpPr>
        <p:spPr>
          <a:xfrm>
            <a:off x="6505575" y="3362325"/>
            <a:ext cx="510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3: Pure Self-Play (500K+)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05575" y="3629025"/>
            <a:ext cx="509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Curriculum difficile, cible 70%+ WR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6013" y="4252913"/>
            <a:ext cx="5610225" cy="2600325"/>
          </a:xfrm>
          <a:custGeom>
            <a:avLst/>
            <a:gdLst/>
            <a:ahLst/>
            <a:cxnLst/>
            <a:rect l="l" t="t" r="r" b="b"/>
            <a:pathLst>
              <a:path w="5610225" h="2600325">
                <a:moveTo>
                  <a:pt x="114310" y="0"/>
                </a:moveTo>
                <a:lnTo>
                  <a:pt x="5495915" y="0"/>
                </a:lnTo>
                <a:cubicBezTo>
                  <a:pt x="5559047" y="0"/>
                  <a:pt x="5610225" y="51178"/>
                  <a:pt x="5610225" y="114310"/>
                </a:cubicBezTo>
                <a:lnTo>
                  <a:pt x="5610225" y="2486015"/>
                </a:lnTo>
                <a:cubicBezTo>
                  <a:pt x="5610225" y="2549147"/>
                  <a:pt x="5559047" y="2600325"/>
                  <a:pt x="5495915" y="2600325"/>
                </a:cubicBezTo>
                <a:lnTo>
                  <a:pt x="114310" y="2600325"/>
                </a:lnTo>
                <a:cubicBezTo>
                  <a:pt x="51178" y="2600325"/>
                  <a:pt x="0" y="2549147"/>
                  <a:pt x="0" y="2486015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3175" y="44100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Stratégie d'Échantillonnage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3175" y="4791075"/>
            <a:ext cx="5295900" cy="419100"/>
          </a:xfrm>
          <a:custGeom>
            <a:avLst/>
            <a:gdLst/>
            <a:ahLst/>
            <a:cxnLst/>
            <a:rect l="l" t="t" r="r" b="b"/>
            <a:pathLst>
              <a:path w="5295900" h="4191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81000"/>
                </a:lnTo>
                <a:cubicBezTo>
                  <a:pt x="5295900" y="402042"/>
                  <a:pt x="5278842" y="419100"/>
                  <a:pt x="52578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429375" y="4886325"/>
            <a:ext cx="121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Adversaire actuel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15241" y="4867275"/>
            <a:ext cx="447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53175" y="5286375"/>
            <a:ext cx="5295900" cy="419100"/>
          </a:xfrm>
          <a:custGeom>
            <a:avLst/>
            <a:gdLst/>
            <a:ahLst/>
            <a:cxnLst/>
            <a:rect l="l" t="t" r="r" b="b"/>
            <a:pathLst>
              <a:path w="5295900" h="4191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81000"/>
                </a:lnTo>
                <a:cubicBezTo>
                  <a:pt x="5295900" y="402042"/>
                  <a:pt x="5278842" y="419100"/>
                  <a:pt x="52578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6429375" y="5381625"/>
            <a:ext cx="140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Checkpoints récents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219855" y="5362575"/>
            <a:ext cx="438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40%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3175" y="5781675"/>
            <a:ext cx="5295900" cy="419100"/>
          </a:xfrm>
          <a:custGeom>
            <a:avLst/>
            <a:gdLst/>
            <a:ahLst/>
            <a:cxnLst/>
            <a:rect l="l" t="t" r="r" b="b"/>
            <a:pathLst>
              <a:path w="5295900" h="4191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81000"/>
                </a:lnTo>
                <a:cubicBezTo>
                  <a:pt x="5295900" y="402042"/>
                  <a:pt x="5278842" y="419100"/>
                  <a:pt x="52578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6429375" y="58769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Meilleur historique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219706" y="5857875"/>
            <a:ext cx="438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20%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3175" y="6276975"/>
            <a:ext cx="5295900" cy="419100"/>
          </a:xfrm>
          <a:custGeom>
            <a:avLst/>
            <a:gdLst/>
            <a:ahLst/>
            <a:cxnLst/>
            <a:rect l="l" t="t" r="r" b="b"/>
            <a:pathLst>
              <a:path w="5295900" h="4191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81000"/>
                </a:lnTo>
                <a:cubicBezTo>
                  <a:pt x="5295900" y="402042"/>
                  <a:pt x="5278842" y="419100"/>
                  <a:pt x="52578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6429375" y="6372225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Aléatoire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52597" y="6353175"/>
            <a:ext cx="409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556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Environnement Multijoueur et Système d'Évaluation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2257425"/>
          </a:xfrm>
          <a:custGeom>
            <a:avLst/>
            <a:gdLst/>
            <a:ahLst/>
            <a:cxnLst/>
            <a:rect l="l" t="t" r="r" b="b"/>
            <a:pathLst>
              <a:path w="5610225" h="22574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2143132"/>
                </a:lnTo>
                <a:cubicBezTo>
                  <a:pt x="5610225" y="2206212"/>
                  <a:pt x="5559012" y="2257425"/>
                  <a:pt x="549593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266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6" name="Text 4"/>
          <p:cNvSpPr/>
          <p:nvPr/>
        </p:nvSpPr>
        <p:spPr>
          <a:xfrm>
            <a:off x="82867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Environnement Multijoueur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2925" y="164782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Support 2-4 joueurs avec représentation d'état étendue (25D) 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925" y="19907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619125" y="20669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[0-16]: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Dimensions identiques 2-joueurs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409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19125" y="24860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[17-20]: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Opponent 1 hand size (bucketed)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828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19125" y="29051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[21-24]: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Opponent 2 hand size (bucketed)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490913"/>
            <a:ext cx="5610225" cy="2333625"/>
          </a:xfrm>
          <a:custGeom>
            <a:avLst/>
            <a:gdLst/>
            <a:ahLst/>
            <a:cxnLst/>
            <a:rect l="l" t="t" r="r" b="b"/>
            <a:pathLst>
              <a:path w="5610225" h="23336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2219324"/>
                </a:lnTo>
                <a:cubicBezTo>
                  <a:pt x="5610225" y="2282451"/>
                  <a:pt x="5559051" y="2333625"/>
                  <a:pt x="5495924" y="2333625"/>
                </a:cubicBezTo>
                <a:lnTo>
                  <a:pt x="114301" y="2333625"/>
                </a:lnTo>
                <a:cubicBezTo>
                  <a:pt x="51174" y="2333625"/>
                  <a:pt x="0" y="2282451"/>
                  <a:pt x="0" y="22193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925" y="36480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Hand Size Bucketing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975" y="4029075"/>
            <a:ext cx="5276850" cy="381000"/>
          </a:xfrm>
          <a:custGeom>
            <a:avLst/>
            <a:gdLst/>
            <a:ahLst/>
            <a:cxnLst/>
            <a:rect l="l" t="t" r="r" b="b"/>
            <a:pathLst>
              <a:path w="5276850" h="381000">
                <a:moveTo>
                  <a:pt x="38100" y="0"/>
                </a:moveTo>
                <a:lnTo>
                  <a:pt x="5238750" y="0"/>
                </a:lnTo>
                <a:cubicBezTo>
                  <a:pt x="5259778" y="0"/>
                  <a:pt x="5276850" y="17072"/>
                  <a:pt x="5276850" y="38100"/>
                </a:cubicBezTo>
                <a:lnTo>
                  <a:pt x="5276850" y="342900"/>
                </a:lnTo>
                <a:cubicBezTo>
                  <a:pt x="5276850" y="363928"/>
                  <a:pt x="5259778" y="381000"/>
                  <a:pt x="5238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561975" y="40290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</p:spPr>
      </p:sp>
      <p:sp>
        <p:nvSpPr>
          <p:cNvPr id="18" name="Text 16"/>
          <p:cNvSpPr/>
          <p:nvPr/>
        </p:nvSpPr>
        <p:spPr>
          <a:xfrm>
            <a:off x="657225" y="4105275"/>
            <a:ext cx="657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Bucket 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92167" y="4105275"/>
            <a:ext cx="647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 cartes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" y="4448175"/>
            <a:ext cx="5276850" cy="381000"/>
          </a:xfrm>
          <a:custGeom>
            <a:avLst/>
            <a:gdLst/>
            <a:ahLst/>
            <a:cxnLst/>
            <a:rect l="l" t="t" r="r" b="b"/>
            <a:pathLst>
              <a:path w="5276850" h="381000">
                <a:moveTo>
                  <a:pt x="38100" y="0"/>
                </a:moveTo>
                <a:lnTo>
                  <a:pt x="5238750" y="0"/>
                </a:lnTo>
                <a:cubicBezTo>
                  <a:pt x="5259778" y="0"/>
                  <a:pt x="5276850" y="17072"/>
                  <a:pt x="5276850" y="38100"/>
                </a:cubicBezTo>
                <a:lnTo>
                  <a:pt x="5276850" y="342900"/>
                </a:lnTo>
                <a:cubicBezTo>
                  <a:pt x="5276850" y="363928"/>
                  <a:pt x="5259778" y="381000"/>
                  <a:pt x="5238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561975" y="44481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22" name="Text 20"/>
          <p:cNvSpPr/>
          <p:nvPr/>
        </p:nvSpPr>
        <p:spPr>
          <a:xfrm>
            <a:off x="657225" y="4524375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Bucket 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8760" y="452437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1-3 cartes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1975" y="4867275"/>
            <a:ext cx="5276850" cy="381000"/>
          </a:xfrm>
          <a:custGeom>
            <a:avLst/>
            <a:gdLst/>
            <a:ahLst/>
            <a:cxnLst/>
            <a:rect l="l" t="t" r="r" b="b"/>
            <a:pathLst>
              <a:path w="5276850" h="381000">
                <a:moveTo>
                  <a:pt x="38100" y="0"/>
                </a:moveTo>
                <a:lnTo>
                  <a:pt x="5238750" y="0"/>
                </a:lnTo>
                <a:cubicBezTo>
                  <a:pt x="5259778" y="0"/>
                  <a:pt x="5276850" y="17072"/>
                  <a:pt x="5276850" y="38100"/>
                </a:cubicBezTo>
                <a:lnTo>
                  <a:pt x="5276850" y="342900"/>
                </a:lnTo>
                <a:cubicBezTo>
                  <a:pt x="5276850" y="363928"/>
                  <a:pt x="5259778" y="381000"/>
                  <a:pt x="5238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561975" y="48672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6" name="Text 24"/>
          <p:cNvSpPr/>
          <p:nvPr/>
        </p:nvSpPr>
        <p:spPr>
          <a:xfrm>
            <a:off x="657225" y="4943475"/>
            <a:ext cx="638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Bucket 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47208" y="4943475"/>
            <a:ext cx="790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4-6 cartes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1975" y="5286375"/>
            <a:ext cx="5276850" cy="381000"/>
          </a:xfrm>
          <a:custGeom>
            <a:avLst/>
            <a:gdLst/>
            <a:ahLst/>
            <a:cxnLst/>
            <a:rect l="l" t="t" r="r" b="b"/>
            <a:pathLst>
              <a:path w="5276850" h="381000">
                <a:moveTo>
                  <a:pt x="38100" y="0"/>
                </a:moveTo>
                <a:lnTo>
                  <a:pt x="5238750" y="0"/>
                </a:lnTo>
                <a:cubicBezTo>
                  <a:pt x="5259778" y="0"/>
                  <a:pt x="5276850" y="17072"/>
                  <a:pt x="5276850" y="38100"/>
                </a:cubicBezTo>
                <a:lnTo>
                  <a:pt x="5276850" y="342900"/>
                </a:lnTo>
                <a:cubicBezTo>
                  <a:pt x="5276850" y="363928"/>
                  <a:pt x="5259778" y="381000"/>
                  <a:pt x="5238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61975" y="528637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30" name="Text 28"/>
          <p:cNvSpPr/>
          <p:nvPr/>
        </p:nvSpPr>
        <p:spPr>
          <a:xfrm>
            <a:off x="657225" y="5362575"/>
            <a:ext cx="638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Bucket 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41565" y="5362575"/>
            <a:ext cx="695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7+ cartes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6013" y="1071563"/>
            <a:ext cx="5610225" cy="2676525"/>
          </a:xfrm>
          <a:custGeom>
            <a:avLst/>
            <a:gdLst/>
            <a:ahLst/>
            <a:cxnLst/>
            <a:rect l="l" t="t" r="r" b="b"/>
            <a:pathLst>
              <a:path w="5610225" h="2676525">
                <a:moveTo>
                  <a:pt x="114288" y="0"/>
                </a:moveTo>
                <a:lnTo>
                  <a:pt x="5495937" y="0"/>
                </a:lnTo>
                <a:cubicBezTo>
                  <a:pt x="5559057" y="0"/>
                  <a:pt x="5610225" y="51168"/>
                  <a:pt x="5610225" y="114288"/>
                </a:cubicBezTo>
                <a:lnTo>
                  <a:pt x="5610225" y="2562237"/>
                </a:lnTo>
                <a:cubicBezTo>
                  <a:pt x="5610225" y="2625357"/>
                  <a:pt x="5559057" y="2676525"/>
                  <a:pt x="5495937" y="2676525"/>
                </a:cubicBezTo>
                <a:lnTo>
                  <a:pt x="114288" y="2676525"/>
                </a:lnTo>
                <a:cubicBezTo>
                  <a:pt x="51168" y="2676525"/>
                  <a:pt x="0" y="2625357"/>
                  <a:pt x="0" y="2562237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1750" y="1266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34" name="Text 32"/>
          <p:cNvSpPr/>
          <p:nvPr/>
        </p:nvSpPr>
        <p:spPr>
          <a:xfrm>
            <a:off x="663892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Système d'Évaluation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3175" y="1647825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Évaluation complète des modèles avec significativité statistique 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3175" y="19907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448425" y="2095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49043" y="38312"/>
                </a:moveTo>
                <a:cubicBezTo>
                  <a:pt x="47063" y="39406"/>
                  <a:pt x="45839" y="41516"/>
                  <a:pt x="45839" y="43755"/>
                </a:cubicBezTo>
                <a:lnTo>
                  <a:pt x="45839" y="89595"/>
                </a:lnTo>
                <a:cubicBezTo>
                  <a:pt x="45839" y="91860"/>
                  <a:pt x="47063" y="93944"/>
                  <a:pt x="49043" y="95038"/>
                </a:cubicBezTo>
                <a:cubicBezTo>
                  <a:pt x="51022" y="96132"/>
                  <a:pt x="53418" y="96106"/>
                  <a:pt x="55372" y="94908"/>
                </a:cubicBezTo>
                <a:lnTo>
                  <a:pt x="92876" y="71988"/>
                </a:lnTo>
                <a:cubicBezTo>
                  <a:pt x="94725" y="70842"/>
                  <a:pt x="95871" y="68837"/>
                  <a:pt x="95871" y="66649"/>
                </a:cubicBezTo>
                <a:cubicBezTo>
                  <a:pt x="95871" y="64461"/>
                  <a:pt x="94725" y="62456"/>
                  <a:pt x="92876" y="61310"/>
                </a:cubicBezTo>
                <a:lnTo>
                  <a:pt x="55372" y="38390"/>
                </a:lnTo>
                <a:cubicBezTo>
                  <a:pt x="53444" y="37218"/>
                  <a:pt x="51022" y="37166"/>
                  <a:pt x="49043" y="38260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38" name="Text 36"/>
          <p:cNvSpPr/>
          <p:nvPr/>
        </p:nvSpPr>
        <p:spPr>
          <a:xfrm>
            <a:off x="6657975" y="20669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Batch Evaluation: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1000 parties par modèle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3175" y="2409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448425" y="2514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5169" y="8959"/>
                </a:moveTo>
                <a:cubicBezTo>
                  <a:pt x="108295" y="7657"/>
                  <a:pt x="111863" y="8386"/>
                  <a:pt x="114259" y="10757"/>
                </a:cubicBezTo>
                <a:lnTo>
                  <a:pt x="130928" y="27425"/>
                </a:lnTo>
                <a:cubicBezTo>
                  <a:pt x="132491" y="28988"/>
                  <a:pt x="133376" y="31098"/>
                  <a:pt x="133376" y="33311"/>
                </a:cubicBezTo>
                <a:cubicBezTo>
                  <a:pt x="133376" y="35525"/>
                  <a:pt x="132491" y="37635"/>
                  <a:pt x="130928" y="39198"/>
                </a:cubicBezTo>
                <a:lnTo>
                  <a:pt x="114259" y="55866"/>
                </a:lnTo>
                <a:cubicBezTo>
                  <a:pt x="111863" y="58262"/>
                  <a:pt x="108295" y="58966"/>
                  <a:pt x="105169" y="57663"/>
                </a:cubicBezTo>
                <a:cubicBezTo>
                  <a:pt x="102044" y="56361"/>
                  <a:pt x="100013" y="53366"/>
                  <a:pt x="100013" y="50006"/>
                </a:cubicBezTo>
                <a:lnTo>
                  <a:pt x="100013" y="41672"/>
                </a:lnTo>
                <a:lnTo>
                  <a:pt x="91678" y="41672"/>
                </a:lnTo>
                <a:cubicBezTo>
                  <a:pt x="89048" y="41672"/>
                  <a:pt x="86573" y="42896"/>
                  <a:pt x="85011" y="45006"/>
                </a:cubicBezTo>
                <a:lnTo>
                  <a:pt x="76572" y="56257"/>
                </a:lnTo>
                <a:lnTo>
                  <a:pt x="66154" y="42375"/>
                </a:lnTo>
                <a:lnTo>
                  <a:pt x="71676" y="35004"/>
                </a:lnTo>
                <a:cubicBezTo>
                  <a:pt x="76390" y="28702"/>
                  <a:pt x="83813" y="25003"/>
                  <a:pt x="91678" y="25003"/>
                </a:cubicBezTo>
                <a:lnTo>
                  <a:pt x="100013" y="25003"/>
                </a:lnTo>
                <a:lnTo>
                  <a:pt x="100013" y="16669"/>
                </a:lnTo>
                <a:cubicBezTo>
                  <a:pt x="100013" y="13309"/>
                  <a:pt x="102044" y="10262"/>
                  <a:pt x="105169" y="8959"/>
                </a:cubicBezTo>
                <a:close/>
                <a:moveTo>
                  <a:pt x="40109" y="77093"/>
                </a:moveTo>
                <a:lnTo>
                  <a:pt x="50527" y="90975"/>
                </a:lnTo>
                <a:lnTo>
                  <a:pt x="45006" y="98346"/>
                </a:lnTo>
                <a:cubicBezTo>
                  <a:pt x="40291" y="104648"/>
                  <a:pt x="32869" y="108347"/>
                  <a:pt x="25003" y="108347"/>
                </a:cubicBezTo>
                <a:lnTo>
                  <a:pt x="8334" y="108347"/>
                </a:lnTo>
                <a:cubicBezTo>
                  <a:pt x="3724" y="108347"/>
                  <a:pt x="0" y="104622"/>
                  <a:pt x="0" y="100013"/>
                </a:cubicBezTo>
                <a:cubicBezTo>
                  <a:pt x="0" y="95403"/>
                  <a:pt x="3724" y="91678"/>
                  <a:pt x="8334" y="91678"/>
                </a:cubicBezTo>
                <a:lnTo>
                  <a:pt x="25003" y="91678"/>
                </a:lnTo>
                <a:cubicBezTo>
                  <a:pt x="27634" y="91678"/>
                  <a:pt x="30108" y="90454"/>
                  <a:pt x="31671" y="88344"/>
                </a:cubicBezTo>
                <a:lnTo>
                  <a:pt x="40109" y="77093"/>
                </a:lnTo>
                <a:close/>
                <a:moveTo>
                  <a:pt x="114233" y="122567"/>
                </a:moveTo>
                <a:cubicBezTo>
                  <a:pt x="111837" y="124964"/>
                  <a:pt x="108269" y="125667"/>
                  <a:pt x="105143" y="124365"/>
                </a:cubicBezTo>
                <a:cubicBezTo>
                  <a:pt x="102018" y="123062"/>
                  <a:pt x="100013" y="120041"/>
                  <a:pt x="100013" y="116681"/>
                </a:cubicBezTo>
                <a:lnTo>
                  <a:pt x="100013" y="108347"/>
                </a:lnTo>
                <a:lnTo>
                  <a:pt x="91678" y="108347"/>
                </a:lnTo>
                <a:cubicBezTo>
                  <a:pt x="83813" y="108347"/>
                  <a:pt x="76390" y="104648"/>
                  <a:pt x="71676" y="98346"/>
                </a:cubicBezTo>
                <a:lnTo>
                  <a:pt x="31671" y="45006"/>
                </a:lnTo>
                <a:cubicBezTo>
                  <a:pt x="30108" y="42896"/>
                  <a:pt x="27634" y="41672"/>
                  <a:pt x="25003" y="41672"/>
                </a:cubicBez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25003" y="25003"/>
                </a:lnTo>
                <a:cubicBezTo>
                  <a:pt x="32869" y="25003"/>
                  <a:pt x="40291" y="28702"/>
                  <a:pt x="45006" y="35004"/>
                </a:cubicBezTo>
                <a:lnTo>
                  <a:pt x="85011" y="88344"/>
                </a:lnTo>
                <a:cubicBezTo>
                  <a:pt x="86573" y="90454"/>
                  <a:pt x="89048" y="91678"/>
                  <a:pt x="91678" y="91678"/>
                </a:cubicBezTo>
                <a:lnTo>
                  <a:pt x="100013" y="91678"/>
                </a:lnTo>
                <a:lnTo>
                  <a:pt x="100013" y="83344"/>
                </a:lnTo>
                <a:cubicBezTo>
                  <a:pt x="100013" y="79984"/>
                  <a:pt x="102044" y="76937"/>
                  <a:pt x="105169" y="75634"/>
                </a:cubicBezTo>
                <a:cubicBezTo>
                  <a:pt x="108295" y="74332"/>
                  <a:pt x="111863" y="75061"/>
                  <a:pt x="114259" y="77432"/>
                </a:cubicBezTo>
                <a:lnTo>
                  <a:pt x="130928" y="94100"/>
                </a:lnTo>
                <a:cubicBezTo>
                  <a:pt x="132491" y="95663"/>
                  <a:pt x="133376" y="97773"/>
                  <a:pt x="133376" y="99986"/>
                </a:cubicBezTo>
                <a:cubicBezTo>
                  <a:pt x="133376" y="102200"/>
                  <a:pt x="132491" y="104310"/>
                  <a:pt x="130928" y="105873"/>
                </a:cubicBezTo>
                <a:lnTo>
                  <a:pt x="114259" y="122541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1" name="Text 39"/>
          <p:cNvSpPr/>
          <p:nvPr/>
        </p:nvSpPr>
        <p:spPr>
          <a:xfrm>
            <a:off x="6657975" y="24860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Opposants multiples: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Random, self, best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3175" y="2828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440091" y="29337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25003" y="0"/>
                </a:moveTo>
                <a:cubicBezTo>
                  <a:pt x="15809" y="0"/>
                  <a:pt x="8334" y="7475"/>
                  <a:pt x="8334" y="16669"/>
                </a:cubicBezTo>
                <a:lnTo>
                  <a:pt x="8334" y="116681"/>
                </a:lnTo>
                <a:cubicBezTo>
                  <a:pt x="8334" y="125875"/>
                  <a:pt x="15809" y="133350"/>
                  <a:pt x="25003" y="133350"/>
                </a:cubicBezTo>
                <a:lnTo>
                  <a:pt x="45839" y="133350"/>
                </a:lnTo>
                <a:lnTo>
                  <a:pt x="45839" y="104180"/>
                </a:lnTo>
                <a:cubicBezTo>
                  <a:pt x="45839" y="94986"/>
                  <a:pt x="53314" y="87511"/>
                  <a:pt x="62508" y="87511"/>
                </a:cubicBezTo>
                <a:lnTo>
                  <a:pt x="108347" y="87511"/>
                </a:lnTo>
                <a:lnTo>
                  <a:pt x="108347" y="44407"/>
                </a:lnTo>
                <a:cubicBezTo>
                  <a:pt x="108347" y="39979"/>
                  <a:pt x="106602" y="35734"/>
                  <a:pt x="103476" y="32608"/>
                </a:cubicBezTo>
                <a:lnTo>
                  <a:pt x="75713" y="4870"/>
                </a:lnTo>
                <a:cubicBezTo>
                  <a:pt x="72587" y="1745"/>
                  <a:pt x="68368" y="0"/>
                  <a:pt x="63940" y="0"/>
                </a:cubicBezTo>
                <a:lnTo>
                  <a:pt x="25003" y="0"/>
                </a:lnTo>
                <a:close/>
                <a:moveTo>
                  <a:pt x="93111" y="45839"/>
                </a:moveTo>
                <a:lnTo>
                  <a:pt x="68759" y="45839"/>
                </a:lnTo>
                <a:cubicBezTo>
                  <a:pt x="65295" y="45839"/>
                  <a:pt x="62508" y="43052"/>
                  <a:pt x="62508" y="39588"/>
                </a:cubicBezTo>
                <a:lnTo>
                  <a:pt x="62508" y="15236"/>
                </a:lnTo>
                <a:lnTo>
                  <a:pt x="93111" y="45839"/>
                </a:lnTo>
                <a:close/>
                <a:moveTo>
                  <a:pt x="68759" y="98971"/>
                </a:moveTo>
                <a:cubicBezTo>
                  <a:pt x="62430" y="98971"/>
                  <a:pt x="57299" y="104102"/>
                  <a:pt x="57299" y="110430"/>
                </a:cubicBezTo>
                <a:lnTo>
                  <a:pt x="57299" y="131266"/>
                </a:lnTo>
                <a:cubicBezTo>
                  <a:pt x="57299" y="137595"/>
                  <a:pt x="62430" y="142726"/>
                  <a:pt x="68759" y="142726"/>
                </a:cubicBezTo>
                <a:lnTo>
                  <a:pt x="72926" y="142726"/>
                </a:lnTo>
                <a:cubicBezTo>
                  <a:pt x="79255" y="142726"/>
                  <a:pt x="84386" y="137595"/>
                  <a:pt x="84386" y="131266"/>
                </a:cubicBezTo>
                <a:lnTo>
                  <a:pt x="84386" y="129183"/>
                </a:lnTo>
                <a:cubicBezTo>
                  <a:pt x="84386" y="126318"/>
                  <a:pt x="82042" y="123974"/>
                  <a:pt x="79177" y="123974"/>
                </a:cubicBezTo>
                <a:cubicBezTo>
                  <a:pt x="76312" y="123974"/>
                  <a:pt x="73968" y="126318"/>
                  <a:pt x="73968" y="129183"/>
                </a:cubicBezTo>
                <a:lnTo>
                  <a:pt x="73968" y="131266"/>
                </a:lnTo>
                <a:cubicBezTo>
                  <a:pt x="73968" y="131839"/>
                  <a:pt x="73499" y="132308"/>
                  <a:pt x="72926" y="132308"/>
                </a:cubicBezTo>
                <a:lnTo>
                  <a:pt x="68759" y="132308"/>
                </a:lnTo>
                <a:cubicBezTo>
                  <a:pt x="68186" y="132308"/>
                  <a:pt x="67717" y="131839"/>
                  <a:pt x="67717" y="131266"/>
                </a:cubicBezTo>
                <a:lnTo>
                  <a:pt x="67717" y="110430"/>
                </a:lnTo>
                <a:cubicBezTo>
                  <a:pt x="67717" y="109857"/>
                  <a:pt x="68186" y="109389"/>
                  <a:pt x="68759" y="109389"/>
                </a:cubicBezTo>
                <a:lnTo>
                  <a:pt x="72926" y="109389"/>
                </a:lnTo>
                <a:cubicBezTo>
                  <a:pt x="73499" y="109389"/>
                  <a:pt x="73968" y="109857"/>
                  <a:pt x="73968" y="110430"/>
                </a:cubicBezTo>
                <a:lnTo>
                  <a:pt x="73968" y="112514"/>
                </a:lnTo>
                <a:cubicBezTo>
                  <a:pt x="73968" y="115379"/>
                  <a:pt x="76312" y="117723"/>
                  <a:pt x="79177" y="117723"/>
                </a:cubicBezTo>
                <a:cubicBezTo>
                  <a:pt x="82042" y="117723"/>
                  <a:pt x="84386" y="115379"/>
                  <a:pt x="84386" y="112514"/>
                </a:cubicBezTo>
                <a:lnTo>
                  <a:pt x="84386" y="110430"/>
                </a:lnTo>
                <a:cubicBezTo>
                  <a:pt x="84386" y="104102"/>
                  <a:pt x="79255" y="98971"/>
                  <a:pt x="72926" y="98971"/>
                </a:cubicBezTo>
                <a:lnTo>
                  <a:pt x="68759" y="98971"/>
                </a:lnTo>
                <a:close/>
                <a:moveTo>
                  <a:pt x="104180" y="98971"/>
                </a:moveTo>
                <a:cubicBezTo>
                  <a:pt x="96705" y="98971"/>
                  <a:pt x="90636" y="105039"/>
                  <a:pt x="90636" y="112514"/>
                </a:cubicBezTo>
                <a:cubicBezTo>
                  <a:pt x="90636" y="119989"/>
                  <a:pt x="96705" y="126057"/>
                  <a:pt x="104180" y="126057"/>
                </a:cubicBezTo>
                <a:cubicBezTo>
                  <a:pt x="105899" y="126057"/>
                  <a:pt x="107305" y="127464"/>
                  <a:pt x="107305" y="129183"/>
                </a:cubicBezTo>
                <a:cubicBezTo>
                  <a:pt x="107305" y="130902"/>
                  <a:pt x="105899" y="132308"/>
                  <a:pt x="104180" y="132308"/>
                </a:cubicBezTo>
                <a:lnTo>
                  <a:pt x="95845" y="132308"/>
                </a:lnTo>
                <a:cubicBezTo>
                  <a:pt x="92980" y="132308"/>
                  <a:pt x="90636" y="134652"/>
                  <a:pt x="90636" y="137517"/>
                </a:cubicBezTo>
                <a:cubicBezTo>
                  <a:pt x="90636" y="140382"/>
                  <a:pt x="92980" y="142726"/>
                  <a:pt x="95845" y="142726"/>
                </a:cubicBezTo>
                <a:lnTo>
                  <a:pt x="104180" y="142726"/>
                </a:lnTo>
                <a:cubicBezTo>
                  <a:pt x="111655" y="142726"/>
                  <a:pt x="117723" y="136658"/>
                  <a:pt x="117723" y="129183"/>
                </a:cubicBezTo>
                <a:cubicBezTo>
                  <a:pt x="117723" y="121708"/>
                  <a:pt x="111655" y="115639"/>
                  <a:pt x="104180" y="115639"/>
                </a:cubicBezTo>
                <a:cubicBezTo>
                  <a:pt x="102461" y="115639"/>
                  <a:pt x="101054" y="114233"/>
                  <a:pt x="101054" y="112514"/>
                </a:cubicBezTo>
                <a:cubicBezTo>
                  <a:pt x="101054" y="110795"/>
                  <a:pt x="102461" y="109389"/>
                  <a:pt x="104180" y="109389"/>
                </a:cubicBezTo>
                <a:lnTo>
                  <a:pt x="110430" y="109389"/>
                </a:lnTo>
                <a:cubicBezTo>
                  <a:pt x="113295" y="109389"/>
                  <a:pt x="115639" y="107045"/>
                  <a:pt x="115639" y="104180"/>
                </a:cubicBezTo>
                <a:cubicBezTo>
                  <a:pt x="115639" y="101315"/>
                  <a:pt x="113295" y="98971"/>
                  <a:pt x="110430" y="98971"/>
                </a:cubicBezTo>
                <a:lnTo>
                  <a:pt x="104180" y="98971"/>
                </a:lnTo>
                <a:close/>
                <a:moveTo>
                  <a:pt x="129183" y="98971"/>
                </a:moveTo>
                <a:cubicBezTo>
                  <a:pt x="126318" y="98971"/>
                  <a:pt x="123974" y="101315"/>
                  <a:pt x="123974" y="104180"/>
                </a:cubicBezTo>
                <a:lnTo>
                  <a:pt x="123974" y="112410"/>
                </a:lnTo>
                <a:cubicBezTo>
                  <a:pt x="123974" y="121656"/>
                  <a:pt x="126709" y="130719"/>
                  <a:pt x="131839" y="138403"/>
                </a:cubicBezTo>
                <a:lnTo>
                  <a:pt x="133168" y="140408"/>
                </a:lnTo>
                <a:cubicBezTo>
                  <a:pt x="134131" y="141867"/>
                  <a:pt x="135772" y="142726"/>
                  <a:pt x="137491" y="142726"/>
                </a:cubicBezTo>
                <a:cubicBezTo>
                  <a:pt x="139210" y="142726"/>
                  <a:pt x="140851" y="141867"/>
                  <a:pt x="141815" y="140408"/>
                </a:cubicBezTo>
                <a:lnTo>
                  <a:pt x="143143" y="138403"/>
                </a:lnTo>
                <a:cubicBezTo>
                  <a:pt x="148274" y="130693"/>
                  <a:pt x="151008" y="121656"/>
                  <a:pt x="151008" y="112410"/>
                </a:cubicBezTo>
                <a:lnTo>
                  <a:pt x="151008" y="104180"/>
                </a:lnTo>
                <a:cubicBezTo>
                  <a:pt x="151008" y="101315"/>
                  <a:pt x="148664" y="98971"/>
                  <a:pt x="145799" y="98971"/>
                </a:cubicBezTo>
                <a:cubicBezTo>
                  <a:pt x="142935" y="98971"/>
                  <a:pt x="140590" y="101315"/>
                  <a:pt x="140590" y="104180"/>
                </a:cubicBezTo>
                <a:lnTo>
                  <a:pt x="140590" y="112410"/>
                </a:lnTo>
                <a:cubicBezTo>
                  <a:pt x="140590" y="117515"/>
                  <a:pt x="139523" y="122541"/>
                  <a:pt x="137465" y="127177"/>
                </a:cubicBezTo>
                <a:cubicBezTo>
                  <a:pt x="135408" y="122541"/>
                  <a:pt x="134340" y="117515"/>
                  <a:pt x="134340" y="112410"/>
                </a:cubicBezTo>
                <a:lnTo>
                  <a:pt x="134340" y="104180"/>
                </a:lnTo>
                <a:cubicBezTo>
                  <a:pt x="134340" y="101315"/>
                  <a:pt x="131996" y="98971"/>
                  <a:pt x="129131" y="9897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4" name="Text 42"/>
          <p:cNvSpPr/>
          <p:nvPr/>
        </p:nvSpPr>
        <p:spPr>
          <a:xfrm>
            <a:off x="6657975" y="29051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Export CSV: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Résultats pour analyse externe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3175" y="32480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6448425" y="3352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7" name="Text 45"/>
          <p:cNvSpPr/>
          <p:nvPr/>
        </p:nvSpPr>
        <p:spPr>
          <a:xfrm>
            <a:off x="6657975" y="33242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Statistical Testing: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Z-score, p-value, CI 95%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6013" y="3910013"/>
            <a:ext cx="5610225" cy="2295525"/>
          </a:xfrm>
          <a:custGeom>
            <a:avLst/>
            <a:gdLst/>
            <a:ahLst/>
            <a:cxnLst/>
            <a:rect l="l" t="t" r="r" b="b"/>
            <a:pathLst>
              <a:path w="5610225" h="2295525">
                <a:moveTo>
                  <a:pt x="114294" y="0"/>
                </a:moveTo>
                <a:lnTo>
                  <a:pt x="5495931" y="0"/>
                </a:lnTo>
                <a:cubicBezTo>
                  <a:pt x="5559054" y="0"/>
                  <a:pt x="5610225" y="51171"/>
                  <a:pt x="5610225" y="114294"/>
                </a:cubicBezTo>
                <a:lnTo>
                  <a:pt x="5610225" y="2181231"/>
                </a:lnTo>
                <a:cubicBezTo>
                  <a:pt x="5610225" y="2244354"/>
                  <a:pt x="5559054" y="2295525"/>
                  <a:pt x="549593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3175" y="4067175"/>
            <a:ext cx="539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Turn Mechanics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3175" y="44481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448425" y="4552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52" name="Text 50"/>
          <p:cNvSpPr/>
          <p:nvPr/>
        </p:nvSpPr>
        <p:spPr>
          <a:xfrm>
            <a:off x="6657975" y="45243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 joueurs: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Reverse = Skip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3175" y="48672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6448425" y="4972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55" name="Text 53"/>
          <p:cNvSpPr/>
          <p:nvPr/>
        </p:nvSpPr>
        <p:spPr>
          <a:xfrm>
            <a:off x="6657975" y="49434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3-4 joueurs: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Reverse inverse direction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53175" y="52863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6440091" y="53911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6809" y="11225"/>
                </a:moveTo>
                <a:cubicBezTo>
                  <a:pt x="93788" y="8334"/>
                  <a:pt x="89334" y="7527"/>
                  <a:pt x="85505" y="9168"/>
                </a:cubicBezTo>
                <a:cubicBezTo>
                  <a:pt x="81677" y="10809"/>
                  <a:pt x="79177" y="14585"/>
                  <a:pt x="79177" y="18752"/>
                </a:cubicBezTo>
                <a:lnTo>
                  <a:pt x="79177" y="54252"/>
                </a:lnTo>
                <a:lnTo>
                  <a:pt x="34301" y="11251"/>
                </a:lnTo>
                <a:cubicBezTo>
                  <a:pt x="31280" y="8334"/>
                  <a:pt x="26826" y="7527"/>
                  <a:pt x="22998" y="9168"/>
                </a:cubicBezTo>
                <a:cubicBezTo>
                  <a:pt x="19169" y="10809"/>
                  <a:pt x="16669" y="14585"/>
                  <a:pt x="16669" y="18752"/>
                </a:cubicBezTo>
                <a:lnTo>
                  <a:pt x="16669" y="114598"/>
                </a:lnTo>
                <a:cubicBezTo>
                  <a:pt x="16669" y="118765"/>
                  <a:pt x="19169" y="122541"/>
                  <a:pt x="22998" y="124182"/>
                </a:cubicBezTo>
                <a:cubicBezTo>
                  <a:pt x="26826" y="125823"/>
                  <a:pt x="31280" y="125016"/>
                  <a:pt x="34301" y="122125"/>
                </a:cubicBezTo>
                <a:lnTo>
                  <a:pt x="79177" y="79098"/>
                </a:lnTo>
                <a:lnTo>
                  <a:pt x="79177" y="114598"/>
                </a:lnTo>
                <a:cubicBezTo>
                  <a:pt x="79177" y="118765"/>
                  <a:pt x="81677" y="122541"/>
                  <a:pt x="85505" y="124182"/>
                </a:cubicBezTo>
                <a:cubicBezTo>
                  <a:pt x="89334" y="125823"/>
                  <a:pt x="93788" y="125016"/>
                  <a:pt x="96809" y="122125"/>
                </a:cubicBezTo>
                <a:lnTo>
                  <a:pt x="146815" y="74202"/>
                </a:lnTo>
                <a:cubicBezTo>
                  <a:pt x="148873" y="72249"/>
                  <a:pt x="150019" y="69514"/>
                  <a:pt x="150019" y="66675"/>
                </a:cubicBezTo>
                <a:cubicBezTo>
                  <a:pt x="150019" y="63836"/>
                  <a:pt x="148847" y="61127"/>
                  <a:pt x="146815" y="59148"/>
                </a:cubicBezTo>
                <a:lnTo>
                  <a:pt x="96809" y="11225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58" name="Text 56"/>
          <p:cNvSpPr/>
          <p:nvPr/>
        </p:nvSpPr>
        <p:spPr>
          <a:xfrm>
            <a:off x="6657975" y="53625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Skip: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Passe joueur suivant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53175" y="570547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6456759" y="5810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61" name="Text 59"/>
          <p:cNvSpPr/>
          <p:nvPr/>
        </p:nvSpPr>
        <p:spPr>
          <a:xfrm>
            <a:off x="6657975" y="578167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Draw2/4: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Adverse pioche et perd tour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-01.daraz.com.bd/68e367e58c26c4cdef282d2a6603c4f785ea19ed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235" b="2123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D8F8A">
                  <a:alpha val="1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1443038"/>
            <a:ext cx="2362200" cy="542925"/>
          </a:xfrm>
          <a:custGeom>
            <a:avLst/>
            <a:gdLst/>
            <a:ahLst/>
            <a:cxnLst/>
            <a:rect l="l" t="t" r="r" b="b"/>
            <a:pathLst>
              <a:path w="2362200" h="542925">
                <a:moveTo>
                  <a:pt x="271463" y="0"/>
                </a:moveTo>
                <a:lnTo>
                  <a:pt x="2090738" y="0"/>
                </a:lnTo>
                <a:cubicBezTo>
                  <a:pt x="2240562" y="0"/>
                  <a:pt x="2362200" y="121638"/>
                  <a:pt x="2362200" y="271463"/>
                </a:cubicBezTo>
                <a:lnTo>
                  <a:pt x="2362200" y="271463"/>
                </a:lnTo>
                <a:cubicBezTo>
                  <a:pt x="2362200" y="421287"/>
                  <a:pt x="2240562" y="542925"/>
                  <a:pt x="2090738" y="542925"/>
                </a:cubicBezTo>
                <a:lnTo>
                  <a:pt x="271463" y="542925"/>
                </a:lnTo>
                <a:cubicBezTo>
                  <a:pt x="121638" y="542925"/>
                  <a:pt x="0" y="421287"/>
                  <a:pt x="0" y="271463"/>
                </a:cubicBezTo>
                <a:lnTo>
                  <a:pt x="0" y="271463"/>
                </a:lnTo>
                <a:cubicBezTo>
                  <a:pt x="0" y="121638"/>
                  <a:pt x="121638" y="0"/>
                  <a:pt x="2714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5325" y="1543050"/>
            <a:ext cx="1859331" cy="333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CHAPITRE 08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95525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et Perspectives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81012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8" name="Text 5"/>
          <p:cNvSpPr/>
          <p:nvPr/>
        </p:nvSpPr>
        <p:spPr>
          <a:xfrm>
            <a:off x="381000" y="5076825"/>
            <a:ext cx="74580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Synthèse des réalisations et axes de développement futurs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Réalisations et Contributions Techniques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4" name="Shape 2"/>
          <p:cNvSpPr/>
          <p:nvPr/>
        </p:nvSpPr>
        <p:spPr>
          <a:xfrm>
            <a:off x="385763" y="1071563"/>
            <a:ext cx="5610225" cy="3171825"/>
          </a:xfrm>
          <a:custGeom>
            <a:avLst/>
            <a:gdLst/>
            <a:ahLst/>
            <a:cxnLst/>
            <a:rect l="l" t="t" r="r" b="b"/>
            <a:pathLst>
              <a:path w="5610225" h="3171825">
                <a:moveTo>
                  <a:pt x="114313" y="0"/>
                </a:moveTo>
                <a:lnTo>
                  <a:pt x="5495912" y="0"/>
                </a:lnTo>
                <a:cubicBezTo>
                  <a:pt x="5559046" y="0"/>
                  <a:pt x="5610225" y="51179"/>
                  <a:pt x="5610225" y="114313"/>
                </a:cubicBezTo>
                <a:lnTo>
                  <a:pt x="5610225" y="3057512"/>
                </a:lnTo>
                <a:cubicBezTo>
                  <a:pt x="5610225" y="3120646"/>
                  <a:pt x="5559046" y="3171825"/>
                  <a:pt x="5495912" y="3171825"/>
                </a:cubicBezTo>
                <a:lnTo>
                  <a:pt x="114313" y="3171825"/>
                </a:lnTo>
                <a:cubicBezTo>
                  <a:pt x="51179" y="3171825"/>
                  <a:pt x="0" y="3120646"/>
                  <a:pt x="0" y="3057512"/>
                </a:cubicBezTo>
                <a:lnTo>
                  <a:pt x="0" y="114313"/>
                </a:lnTo>
                <a:cubicBezTo>
                  <a:pt x="0" y="51179"/>
                  <a:pt x="51179" y="0"/>
                  <a:pt x="11431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266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6" name="Text 4"/>
          <p:cNvSpPr/>
          <p:nvPr/>
        </p:nvSpPr>
        <p:spPr>
          <a:xfrm>
            <a:off x="82867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Réalisations Principales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2925" y="1647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21506" y="17526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9" name="Text 7"/>
          <p:cNvSpPr/>
          <p:nvPr/>
        </p:nvSpPr>
        <p:spPr>
          <a:xfrm>
            <a:off x="847725" y="17240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Moteur de jeu complet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avec toutes les règles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066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21506" y="21717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2" name="Text 10"/>
          <p:cNvSpPr/>
          <p:nvPr/>
        </p:nvSpPr>
        <p:spPr>
          <a:xfrm>
            <a:off x="847725" y="21431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 algorithmes RL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(QL, DQN, A2C, PPO, RPPO)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2925" y="24860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638175" y="2590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15" name="Text 13"/>
          <p:cNvSpPr/>
          <p:nvPr/>
        </p:nvSpPr>
        <p:spPr>
          <a:xfrm>
            <a:off x="847725" y="25622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Hautes performances: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60% win rate (2.4x baseline)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29051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638175" y="3009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18" name="Text 16"/>
          <p:cNvSpPr/>
          <p:nvPr/>
        </p:nvSpPr>
        <p:spPr>
          <a:xfrm>
            <a:off x="847725" y="29813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Framework Self-Play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ciblant 70%+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33242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38175" y="3429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91678"/>
                </a:lnTo>
                <a:cubicBezTo>
                  <a:pt x="0" y="100872"/>
                  <a:pt x="7475" y="108347"/>
                  <a:pt x="16669" y="108347"/>
                </a:cubicBezTo>
                <a:lnTo>
                  <a:pt x="54173" y="108347"/>
                </a:lnTo>
                <a:lnTo>
                  <a:pt x="50006" y="120848"/>
                </a:lnTo>
                <a:lnTo>
                  <a:pt x="31254" y="120848"/>
                </a:lnTo>
                <a:cubicBezTo>
                  <a:pt x="27790" y="120848"/>
                  <a:pt x="25003" y="123635"/>
                  <a:pt x="25003" y="127099"/>
                </a:cubicBezTo>
                <a:cubicBezTo>
                  <a:pt x="25003" y="130563"/>
                  <a:pt x="27790" y="133350"/>
                  <a:pt x="31254" y="133350"/>
                </a:cubicBezTo>
                <a:lnTo>
                  <a:pt x="102096" y="133350"/>
                </a:lnTo>
                <a:cubicBezTo>
                  <a:pt x="105560" y="133350"/>
                  <a:pt x="108347" y="130563"/>
                  <a:pt x="108347" y="127099"/>
                </a:cubicBezTo>
                <a:cubicBezTo>
                  <a:pt x="108347" y="123635"/>
                  <a:pt x="105560" y="120848"/>
                  <a:pt x="102096" y="120848"/>
                </a:cubicBezTo>
                <a:lnTo>
                  <a:pt x="83344" y="120848"/>
                </a:lnTo>
                <a:lnTo>
                  <a:pt x="79177" y="108347"/>
                </a:lnTo>
                <a:lnTo>
                  <a:pt x="116681" y="108347"/>
                </a:lnTo>
                <a:cubicBezTo>
                  <a:pt x="125875" y="108347"/>
                  <a:pt x="133350" y="100872"/>
                  <a:pt x="133350" y="91678"/>
                </a:cubicBezTo>
                <a:lnTo>
                  <a:pt x="133350" y="25003"/>
                </a:lnTo>
                <a:cubicBezTo>
                  <a:pt x="133350" y="15809"/>
                  <a:pt x="125875" y="8334"/>
                  <a:pt x="116681" y="8334"/>
                </a:cubicBezTo>
                <a:lnTo>
                  <a:pt x="16669" y="8334"/>
                </a:lnTo>
                <a:close/>
                <a:moveTo>
                  <a:pt x="25003" y="25003"/>
                </a:move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lnTo>
                  <a:pt x="116681" y="75009"/>
                </a:lnTo>
                <a:cubicBezTo>
                  <a:pt x="116681" y="79619"/>
                  <a:pt x="112957" y="83344"/>
                  <a:pt x="108347" y="83344"/>
                </a:cubicBezTo>
                <a:lnTo>
                  <a:pt x="25003" y="83344"/>
                </a:lnTo>
                <a:cubicBezTo>
                  <a:pt x="20393" y="83344"/>
                  <a:pt x="16669" y="79619"/>
                  <a:pt x="16669" y="75009"/>
                </a:cubicBezTo>
                <a:lnTo>
                  <a:pt x="16669" y="33337"/>
                </a:lnTo>
                <a:cubicBezTo>
                  <a:pt x="16669" y="28728"/>
                  <a:pt x="20393" y="25003"/>
                  <a:pt x="25003" y="25003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1" name="Text 19"/>
          <p:cNvSpPr/>
          <p:nvPr/>
        </p:nvSpPr>
        <p:spPr>
          <a:xfrm>
            <a:off x="847725" y="34004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 interfaces GUI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avec glassmorphism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2925" y="37433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21506" y="38481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C0A57D"/>
          </a:solidFill>
        </p:spPr>
      </p:sp>
      <p:sp>
        <p:nvSpPr>
          <p:cNvPr id="24" name="Text 22"/>
          <p:cNvSpPr/>
          <p:nvPr/>
        </p:nvSpPr>
        <p:spPr>
          <a:xfrm>
            <a:off x="847725" y="3819525"/>
            <a:ext cx="498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Support multijoueur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(2-4 joueurs)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6013" y="1071563"/>
            <a:ext cx="5610225" cy="2333625"/>
          </a:xfrm>
          <a:custGeom>
            <a:avLst/>
            <a:gdLst/>
            <a:ahLst/>
            <a:cxnLst/>
            <a:rect l="l" t="t" r="r" b="b"/>
            <a:pathLst>
              <a:path w="5610225" h="23336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2219324"/>
                </a:lnTo>
                <a:cubicBezTo>
                  <a:pt x="5610225" y="2282451"/>
                  <a:pt x="5559051" y="2333625"/>
                  <a:pt x="5495924" y="2333625"/>
                </a:cubicBezTo>
                <a:lnTo>
                  <a:pt x="114301" y="2333625"/>
                </a:lnTo>
                <a:cubicBezTo>
                  <a:pt x="51174" y="2333625"/>
                  <a:pt x="0" y="2282451"/>
                  <a:pt x="0" y="22193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1750" y="1266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27" name="Text 25"/>
          <p:cNvSpPr/>
          <p:nvPr/>
        </p:nvSpPr>
        <p:spPr>
          <a:xfrm>
            <a:off x="6638925" y="1228725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Insights Algorithmiques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3175" y="16478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429375" y="17240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 </a:t>
            </a: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Réseaux récurrents essentiels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pour POMDP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3175" y="20669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429375" y="21431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 </a:t>
            </a: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LSTM hidden 256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optimal (performance/coût)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3175" y="24860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429375" y="25622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3. </a:t>
            </a: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ent_coef=0.01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équilibre exploration/exploitation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3175" y="2905125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429375" y="2981325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4. </a:t>
            </a:r>
            <a:r>
              <a:rPr lang="en-US" sz="1050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Self-play</a:t>
            </a: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accélère apprentissage significativement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6013" y="3567113"/>
            <a:ext cx="5610225" cy="1685925"/>
          </a:xfrm>
          <a:custGeom>
            <a:avLst/>
            <a:gdLst/>
            <a:ahLst/>
            <a:cxnLst/>
            <a:rect l="l" t="t" r="r" b="b"/>
            <a:pathLst>
              <a:path w="5610225" h="1685925">
                <a:moveTo>
                  <a:pt x="114306" y="0"/>
                </a:moveTo>
                <a:lnTo>
                  <a:pt x="5495919" y="0"/>
                </a:lnTo>
                <a:cubicBezTo>
                  <a:pt x="5559049" y="0"/>
                  <a:pt x="5610225" y="51176"/>
                  <a:pt x="5610225" y="114306"/>
                </a:cubicBezTo>
                <a:lnTo>
                  <a:pt x="5610225" y="1571619"/>
                </a:lnTo>
                <a:cubicBezTo>
                  <a:pt x="5610225" y="1634749"/>
                  <a:pt x="5559049" y="1685925"/>
                  <a:pt x="549591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5081" y="37623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C0A57D"/>
          </a:solidFill>
        </p:spPr>
      </p:sp>
      <p:sp>
        <p:nvSpPr>
          <p:cNvPr id="38" name="Text 36"/>
          <p:cNvSpPr/>
          <p:nvPr/>
        </p:nvSpPr>
        <p:spPr>
          <a:xfrm>
            <a:off x="6591300" y="3724275"/>
            <a:ext cx="5153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Contributions Engineering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0559" y="41338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0" name="Text 38"/>
          <p:cNvSpPr/>
          <p:nvPr/>
        </p:nvSpPr>
        <p:spPr>
          <a:xfrm>
            <a:off x="6581775" y="41052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Environnement Gymnasium compatible 17/25D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0559" y="4400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2" name="Text 40"/>
          <p:cNvSpPr/>
          <p:nvPr/>
        </p:nvSpPr>
        <p:spPr>
          <a:xfrm>
            <a:off x="6581775" y="43719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 modulaire (algo swapping)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0559" y="4667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4" name="Text 42"/>
          <p:cNvSpPr/>
          <p:nvPr/>
        </p:nvSpPr>
        <p:spPr>
          <a:xfrm>
            <a:off x="6581775" y="46386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Système batch evaluation efficace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0559" y="4933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46" name="Text 44"/>
          <p:cNvSpPr/>
          <p:nvPr/>
        </p:nvSpPr>
        <p:spPr>
          <a:xfrm>
            <a:off x="6581775" y="4905375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GUI production-ready avec hot-swapping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5643563"/>
            <a:ext cx="11420475" cy="828675"/>
          </a:xfrm>
          <a:custGeom>
            <a:avLst/>
            <a:gdLst/>
            <a:ahLst/>
            <a:cxnLst/>
            <a:rect l="l" t="t" r="r" b="b"/>
            <a:pathLst>
              <a:path w="11420475" h="82867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714376"/>
                </a:lnTo>
                <a:cubicBezTo>
                  <a:pt x="11420475" y="777502"/>
                  <a:pt x="11369302" y="828675"/>
                  <a:pt x="11306176" y="828675"/>
                </a:cubicBezTo>
                <a:lnTo>
                  <a:pt x="114299" y="828675"/>
                </a:lnTo>
                <a:cubicBezTo>
                  <a:pt x="51173" y="828675"/>
                  <a:pt x="0" y="777502"/>
                  <a:pt x="0" y="7143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2925" y="5800725"/>
            <a:ext cx="11182350" cy="514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Impact du Projet :</a:t>
            </a:r>
            <a:r>
              <a:rPr lang="en-US" sz="1200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Premier système UNO RL complet combinant recherche académique (5 algos, POMDP, LSTM) et application pratique (GUI, multijoueur, self-play), créant un framework reproductible pour jeux de cartes.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.sinaimg.cn/3dc5b54011efb761c231f345aaa10d04311ad8df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12047" b="12047"/>
          <a:stretch>
            <a:fillRect/>
          </a:stretch>
        </p:blipFill>
        <p:spPr>
          <a:xfrm>
            <a:off x="0" y="0"/>
            <a:ext cx="12192000" cy="685736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35140"/>
          </a:xfrm>
          <a:custGeom>
            <a:avLst/>
            <a:gdLst/>
            <a:ahLst/>
            <a:cxnLst/>
            <a:rect l="l" t="t" r="r" b="b"/>
            <a:pathLst>
              <a:path w="12192000" h="7107403">
                <a:moveTo>
                  <a:pt x="0" y="0"/>
                </a:moveTo>
                <a:lnTo>
                  <a:pt x="12192000" y="0"/>
                </a:lnTo>
                <a:lnTo>
                  <a:pt x="12192000" y="7107403"/>
                </a:lnTo>
                <a:lnTo>
                  <a:pt x="0" y="71074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D8F8A">
                  <a:alpha val="2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fr-FR" dirty="0"/>
          </a:p>
        </p:txBody>
      </p:sp>
      <p:sp>
        <p:nvSpPr>
          <p:cNvPr id="4" name="Shape 1"/>
          <p:cNvSpPr/>
          <p:nvPr/>
        </p:nvSpPr>
        <p:spPr>
          <a:xfrm>
            <a:off x="5390460" y="8907"/>
            <a:ext cx="1415964" cy="524090"/>
          </a:xfrm>
          <a:custGeom>
            <a:avLst/>
            <a:gdLst/>
            <a:ahLst/>
            <a:cxnLst/>
            <a:rect l="l" t="t" r="r" b="b"/>
            <a:pathLst>
              <a:path w="1415964" h="524090">
                <a:moveTo>
                  <a:pt x="262045" y="0"/>
                </a:moveTo>
                <a:lnTo>
                  <a:pt x="1153919" y="0"/>
                </a:lnTo>
                <a:cubicBezTo>
                  <a:pt x="1298545" y="0"/>
                  <a:pt x="1415964" y="117419"/>
                  <a:pt x="1415964" y="262045"/>
                </a:cubicBezTo>
                <a:lnTo>
                  <a:pt x="1415964" y="262045"/>
                </a:lnTo>
                <a:cubicBezTo>
                  <a:pt x="1415964" y="406672"/>
                  <a:pt x="1298545" y="524090"/>
                  <a:pt x="1153919" y="524090"/>
                </a:cubicBezTo>
                <a:lnTo>
                  <a:pt x="262045" y="524090"/>
                </a:lnTo>
                <a:cubicBezTo>
                  <a:pt x="117419" y="524090"/>
                  <a:pt x="0" y="406672"/>
                  <a:pt x="0" y="262045"/>
                </a:cubicBezTo>
                <a:lnTo>
                  <a:pt x="0" y="262045"/>
                </a:lnTo>
                <a:cubicBezTo>
                  <a:pt x="0" y="117419"/>
                  <a:pt x="117419" y="0"/>
                  <a:pt x="26204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34163" y="105450"/>
            <a:ext cx="925685" cy="321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0" b="1" kern="0" spc="174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MERCI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14391" y="831821"/>
            <a:ext cx="6362643" cy="24825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15" b="1" dirty="0">
                <a:solidFill>
                  <a:srgbClr val="E2E8F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UNO Card Game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215" b="1" dirty="0">
                <a:solidFill>
                  <a:srgbClr val="3D8F8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with Reinforcement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215" b="1" dirty="0">
                <a:solidFill>
                  <a:srgbClr val="C0A57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214327" y="3535025"/>
            <a:ext cx="1765357" cy="0"/>
          </a:xfrm>
          <a:custGeom>
            <a:avLst/>
            <a:gdLst/>
            <a:ahLst/>
            <a:cxnLst/>
            <a:rect l="l" t="t" r="r" b="b"/>
            <a:pathLst>
              <a:path w="1765357">
                <a:moveTo>
                  <a:pt x="0" y="0"/>
                </a:moveTo>
                <a:lnTo>
                  <a:pt x="1765357" y="0"/>
                </a:lnTo>
                <a:lnTo>
                  <a:pt x="1765357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8" name="Text 5"/>
          <p:cNvSpPr/>
          <p:nvPr/>
        </p:nvSpPr>
        <p:spPr>
          <a:xfrm>
            <a:off x="1922671" y="3755695"/>
            <a:ext cx="8348670" cy="717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40" dirty="0">
                <a:solidFill>
                  <a:srgbClr val="E2E8F0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Présentation du projet UNO Reinforcement Learning - Une approche complète de l'apprentissage par renforcement profond appliquée au jeu de cartes UNO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15063" y="5806084"/>
            <a:ext cx="2160724" cy="4413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72188" y="4776579"/>
            <a:ext cx="2537701" cy="1627439"/>
          </a:xfrm>
          <a:custGeom>
            <a:avLst/>
            <a:gdLst/>
            <a:ahLst/>
            <a:cxnLst/>
            <a:rect l="l" t="t" r="r" b="b"/>
            <a:pathLst>
              <a:path w="2537701" h="1627439">
                <a:moveTo>
                  <a:pt x="110340" y="0"/>
                </a:moveTo>
                <a:lnTo>
                  <a:pt x="2427361" y="0"/>
                </a:lnTo>
                <a:cubicBezTo>
                  <a:pt x="2488300" y="0"/>
                  <a:pt x="2537701" y="49401"/>
                  <a:pt x="2537701" y="110340"/>
                </a:cubicBezTo>
                <a:lnTo>
                  <a:pt x="2537701" y="1517099"/>
                </a:lnTo>
                <a:cubicBezTo>
                  <a:pt x="2537701" y="1578038"/>
                  <a:pt x="2488300" y="1627439"/>
                  <a:pt x="2427361" y="1627439"/>
                </a:cubicBezTo>
                <a:lnTo>
                  <a:pt x="110340" y="1627439"/>
                </a:lnTo>
                <a:cubicBezTo>
                  <a:pt x="49401" y="1627439"/>
                  <a:pt x="0" y="1578038"/>
                  <a:pt x="0" y="1517099"/>
                </a:cubicBezTo>
                <a:lnTo>
                  <a:pt x="0" y="110340"/>
                </a:lnTo>
                <a:cubicBezTo>
                  <a:pt x="0" y="49401"/>
                  <a:pt x="49401" y="0"/>
                  <a:pt x="11034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52908" y="5048738"/>
            <a:ext cx="331005" cy="331005"/>
          </a:xfrm>
          <a:custGeom>
            <a:avLst/>
            <a:gdLst/>
            <a:ahLst/>
            <a:cxnLst/>
            <a:rect l="l" t="t" r="r" b="b"/>
            <a:pathLst>
              <a:path w="331005" h="331005">
                <a:moveTo>
                  <a:pt x="93289" y="0"/>
                </a:moveTo>
                <a:lnTo>
                  <a:pt x="238103" y="0"/>
                </a:lnTo>
                <a:cubicBezTo>
                  <a:pt x="255236" y="0"/>
                  <a:pt x="269200" y="14094"/>
                  <a:pt x="268553" y="31161"/>
                </a:cubicBezTo>
                <a:cubicBezTo>
                  <a:pt x="268424" y="34587"/>
                  <a:pt x="268295" y="38014"/>
                  <a:pt x="268101" y="41376"/>
                </a:cubicBezTo>
                <a:lnTo>
                  <a:pt x="300167" y="41376"/>
                </a:lnTo>
                <a:cubicBezTo>
                  <a:pt x="317040" y="41376"/>
                  <a:pt x="331910" y="55340"/>
                  <a:pt x="330617" y="73571"/>
                </a:cubicBezTo>
                <a:cubicBezTo>
                  <a:pt x="325768" y="140612"/>
                  <a:pt x="291504" y="177462"/>
                  <a:pt x="254330" y="196728"/>
                </a:cubicBezTo>
                <a:cubicBezTo>
                  <a:pt x="244116" y="202029"/>
                  <a:pt x="233707" y="205973"/>
                  <a:pt x="223816" y="208882"/>
                </a:cubicBezTo>
                <a:cubicBezTo>
                  <a:pt x="210757" y="227372"/>
                  <a:pt x="197180" y="237134"/>
                  <a:pt x="186384" y="242370"/>
                </a:cubicBezTo>
                <a:lnTo>
                  <a:pt x="186384" y="289629"/>
                </a:lnTo>
                <a:lnTo>
                  <a:pt x="227760" y="289629"/>
                </a:lnTo>
                <a:cubicBezTo>
                  <a:pt x="239202" y="289629"/>
                  <a:pt x="248447" y="298874"/>
                  <a:pt x="248447" y="310317"/>
                </a:cubicBezTo>
                <a:cubicBezTo>
                  <a:pt x="248447" y="321760"/>
                  <a:pt x="239202" y="331005"/>
                  <a:pt x="227760" y="331005"/>
                </a:cubicBezTo>
                <a:lnTo>
                  <a:pt x="103633" y="331005"/>
                </a:lnTo>
                <a:cubicBezTo>
                  <a:pt x="92190" y="331005"/>
                  <a:pt x="82945" y="321760"/>
                  <a:pt x="82945" y="310317"/>
                </a:cubicBezTo>
                <a:cubicBezTo>
                  <a:pt x="82945" y="298874"/>
                  <a:pt x="92190" y="289629"/>
                  <a:pt x="103633" y="289629"/>
                </a:cubicBezTo>
                <a:lnTo>
                  <a:pt x="145008" y="289629"/>
                </a:lnTo>
                <a:lnTo>
                  <a:pt x="145008" y="242370"/>
                </a:lnTo>
                <a:cubicBezTo>
                  <a:pt x="134665" y="237392"/>
                  <a:pt x="121799" y="228147"/>
                  <a:pt x="109257" y="211145"/>
                </a:cubicBezTo>
                <a:cubicBezTo>
                  <a:pt x="97362" y="208042"/>
                  <a:pt x="84432" y="203322"/>
                  <a:pt x="71825" y="196211"/>
                </a:cubicBezTo>
                <a:cubicBezTo>
                  <a:pt x="36850" y="176622"/>
                  <a:pt x="5301" y="139707"/>
                  <a:pt x="776" y="73442"/>
                </a:cubicBezTo>
                <a:cubicBezTo>
                  <a:pt x="-453" y="55275"/>
                  <a:pt x="14352" y="41311"/>
                  <a:pt x="31226" y="41311"/>
                </a:cubicBezTo>
                <a:lnTo>
                  <a:pt x="63292" y="41311"/>
                </a:lnTo>
                <a:cubicBezTo>
                  <a:pt x="63098" y="37949"/>
                  <a:pt x="62968" y="34587"/>
                  <a:pt x="62839" y="31096"/>
                </a:cubicBezTo>
                <a:cubicBezTo>
                  <a:pt x="62193" y="13964"/>
                  <a:pt x="76157" y="-65"/>
                  <a:pt x="93289" y="-65"/>
                </a:cubicBezTo>
                <a:close/>
                <a:moveTo>
                  <a:pt x="65619" y="72407"/>
                </a:moveTo>
                <a:lnTo>
                  <a:pt x="31743" y="72407"/>
                </a:lnTo>
                <a:cubicBezTo>
                  <a:pt x="35751" y="127165"/>
                  <a:pt x="60900" y="154577"/>
                  <a:pt x="86824" y="169123"/>
                </a:cubicBezTo>
                <a:cubicBezTo>
                  <a:pt x="77515" y="145008"/>
                  <a:pt x="69821" y="113524"/>
                  <a:pt x="65619" y="72407"/>
                </a:cubicBezTo>
                <a:close/>
                <a:moveTo>
                  <a:pt x="245667" y="166019"/>
                </a:moveTo>
                <a:cubicBezTo>
                  <a:pt x="271850" y="150633"/>
                  <a:pt x="295512" y="123286"/>
                  <a:pt x="299520" y="72407"/>
                </a:cubicBezTo>
                <a:lnTo>
                  <a:pt x="265709" y="72407"/>
                </a:lnTo>
                <a:cubicBezTo>
                  <a:pt x="261700" y="111779"/>
                  <a:pt x="254460" y="142358"/>
                  <a:pt x="245667" y="166019"/>
                </a:cubicBezTo>
                <a:close/>
              </a:path>
            </a:pathLst>
          </a:custGeom>
          <a:solidFill>
            <a:srgbClr val="3D8F8A"/>
          </a:solidFill>
        </p:spPr>
      </p:sp>
      <p:sp>
        <p:nvSpPr>
          <p:cNvPr id="19" name="Text 16"/>
          <p:cNvSpPr/>
          <p:nvPr/>
        </p:nvSpPr>
        <p:spPr>
          <a:xfrm>
            <a:off x="5065202" y="5456834"/>
            <a:ext cx="2169919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dirty="0">
                <a:solidFill>
                  <a:srgbClr val="E2E8F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04561" y="5839328"/>
            <a:ext cx="2160724" cy="4413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60% Win Rate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60" dirty="0">
                <a:solidFill>
                  <a:srgbClr val="E2E8F0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RecurrentPPO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076212" y="6616772"/>
            <a:ext cx="882679" cy="9195"/>
          </a:xfrm>
          <a:custGeom>
            <a:avLst/>
            <a:gdLst/>
            <a:ahLst/>
            <a:cxnLst/>
            <a:rect l="l" t="t" r="r" b="b"/>
            <a:pathLst>
              <a:path w="882679" h="9195">
                <a:moveTo>
                  <a:pt x="0" y="0"/>
                </a:moveTo>
                <a:lnTo>
                  <a:pt x="882679" y="0"/>
                </a:lnTo>
                <a:lnTo>
                  <a:pt x="882679" y="9195"/>
                </a:lnTo>
                <a:lnTo>
                  <a:pt x="0" y="9195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  <p:sp>
        <p:nvSpPr>
          <p:cNvPr id="22" name="Text 19"/>
          <p:cNvSpPr/>
          <p:nvPr/>
        </p:nvSpPr>
        <p:spPr>
          <a:xfrm>
            <a:off x="5060031" y="6492645"/>
            <a:ext cx="2077973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0" b="1" dirty="0">
                <a:solidFill>
                  <a:srgbClr val="C0A57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235121" y="6616772"/>
            <a:ext cx="882679" cy="9195"/>
          </a:xfrm>
          <a:custGeom>
            <a:avLst/>
            <a:gdLst/>
            <a:ahLst/>
            <a:cxnLst/>
            <a:rect l="l" t="t" r="r" b="b"/>
            <a:pathLst>
              <a:path w="882679" h="9195">
                <a:moveTo>
                  <a:pt x="0" y="0"/>
                </a:moveTo>
                <a:lnTo>
                  <a:pt x="882679" y="0"/>
                </a:lnTo>
                <a:lnTo>
                  <a:pt x="882679" y="9195"/>
                </a:lnTo>
                <a:lnTo>
                  <a:pt x="0" y="9195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</p:spPr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4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5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6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7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8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9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0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1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2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3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4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5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6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7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8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19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0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1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2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3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4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5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6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7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8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29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0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1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2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3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4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5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6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7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8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39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40.xml><?xml version="1.0" encoding="utf-8"?>
<p:tagLst xmlns:p="http://schemas.openxmlformats.org/presentationml/2006/main">
  <p:tag name="KSO_WM_DIAGRAM_VIRTUALLY_FRAME" val="{&quot;height&quot;:338.25000000000006,&quot;left&quot;:30.375039370078742,&quot;top&quot;:117.37503937007872,&quot;width&quot;:899.25}"/>
</p:tagLst>
</file>

<file path=ppt/tags/tag41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42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43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44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45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46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47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48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49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0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1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2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3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4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5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6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7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8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59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0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1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2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3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4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5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6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7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8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69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0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1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2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3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4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5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6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7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8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79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80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81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ags/tag82.xml><?xml version="1.0" encoding="utf-8"?>
<p:tagLst xmlns:p="http://schemas.openxmlformats.org/presentationml/2006/main">
  <p:tag name="KSO_WM_DIAGRAM_VIRTUALLY_FRAME" val="{&quot;height&quot;:381.85078740157485,&quot;left&quot;:29.014960629921262,&quot;top&quot;:83.46267716535434,&quot;width&quot;:902.1268503937008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17189</Words>
  <Application>WPS Presentation</Application>
  <PresentationFormat>Grand écran</PresentationFormat>
  <Paragraphs>1221</Paragraphs>
  <Slides>29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SimSun</vt:lpstr>
      <vt:lpstr>Wingdings</vt:lpstr>
      <vt:lpstr>Quattrocento Sans</vt:lpstr>
      <vt:lpstr>Quattrocento Sans</vt:lpstr>
      <vt:lpstr>Quattrocento Sans</vt:lpstr>
      <vt:lpstr>Liter</vt:lpstr>
      <vt:lpstr>Liter</vt:lpstr>
      <vt:lpstr>Liter</vt:lpstr>
      <vt:lpstr>MiSans</vt:lpstr>
      <vt:lpstr>MiSans</vt:lpstr>
      <vt:lpstr>Calibri</vt:lpstr>
      <vt:lpstr>Microsoft YaHei</vt:lpstr>
      <vt:lpstr>Arial Unicode MS</vt:lpstr>
      <vt:lpstr>Microsoft YaHei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UNO Card Game with Reinforcement Learning</dc:title>
  <dc:creator>Kimi</dc:creator>
  <dc:subject>UNO Card Game with Reinforcement Learning</dc:subject>
  <cp:lastModifiedBy>pro gamer . YT</cp:lastModifiedBy>
  <cp:revision>5</cp:revision>
  <dcterms:created xsi:type="dcterms:W3CDTF">2026-01-11T17:29:00Z</dcterms:created>
  <dcterms:modified xsi:type="dcterms:W3CDTF">2026-01-11T18:19:52Z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{"Label":"UNO Card Game with Reinforcement Learning","ContentProducer":"001191110108MACG2KBH8F10000","ProduceID":"19bae0fa-fb02-818a-8000-0000057a8019","ReservedCode1":"","ContentPropagator":"001191110108MACG2KBH8F20000","PropagateID":"19bae0fa-fb02-818a-8000-0000057a8019","ReservedCode2":""}</vt:lpwstr>
  </property>
  <property fmtid="{D5CDD505-2E9C-101B-9397-08002B2CF9AE}" pid="3" name="ICV">
    <vt:lpwstr>AEE9AE8CDE044C2FA0BBE86DDA73ECB5_13</vt:lpwstr>
  </property>
  <property fmtid="{D5CDD505-2E9C-101B-9397-08002B2CF9AE}" pid="4" name="KSOProductBuildVer">
    <vt:lpwstr>2057-12.2.0.23197</vt:lpwstr>
  </property>
</Properties>
</file>